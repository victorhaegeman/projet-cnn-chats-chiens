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built a convolutional neural network that tells cats from dogs, trained it on 2,000 images, and then tested two ways of fixing the problem it ran into. I'll go through the data, the architecture, the training, the results, and the two improvements.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thousand images, perfectly balanced, so a coin flip scores fifty percent — that's my baseline. Everything is resized to 150 by 150 in colour. I split the training folder 80/20, which gives 1,600 images to train on and 400 for the final test, and I keep the validation folder to watch each epoch. Note the bottom row: these are real photos, free poses, sometimes two animals or a human in the frame. This is much harder than MNIST.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convolution at all? Flatten one image and you get 67,500 numbers. A single dense layer of a thousand neurons is already 67 million parameters, and you've thrown away which pixel was next to which. A CNN fixes that with local connectivity and weight sharing. The table is the four blocks I use: convolution learns the filters, ReLU adds the non-linearity, pooling shrinks the map and has no weights at all, and the dense head makes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blocks, as the brief asks: convolution, ReLU, pooling, four times, then a dense head. Filters go up, resolution goes down. I recomputed the parameters by hand with the course formula and I get 1,043,905 — exactly what Keras reports. And here's the interesting part: 77 percent of those parameters are in one single dense layer. The four convolutional blocks together are only 240,000. That's the weight-sharing argument, in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epochs, batches of a hundred — that's 16 batches per epoch, 240 weight updates total. And the curves tell the story. Training accuracy climbs to 0.875. Validation flattens at 0.70. But look at the loss on the right: validation loss bottoms out at epoch 13 and then climbs back up while training loss keeps falling. That divergence is the textbook signature of overfitting. It's not underfitting — if it were, both curves would be low and together. Three causes: too few images, a million parameters, and no regularisation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400 held-out images: 72.8 percent accuracy. Clearly better than chance, so it learned something real. But look at precision versus recall. When it says dog, it's right 84 percent of the time — but it only finds 62 percent of the actual dogs. Read the confusion matrix: 83 dogs misfiled as cats, against only 26 cats misfiled as dogs. The model is conservative about dogs: at the slightest doubt it answers cat. If I'd only reported accuracy, I'd have missed that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fix: augmentation. On the left, the same photo eight times — flipped, rotated, zoomed. A mirrored dog is still a dog, so the label survives. Crucially, Keras runs these layers during fit and switches them off during predict, so the test set is untouched — which is what the brief demands. The numbers: the gap collapses from 0.179 to 0.009, the curves are practically on top of each other. Accuracy goes to 0.750, and recall on dogs jumps from 0.62 to 0.86 — the conservative bias is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fix, tested separately as the brief requires: dropout plus batch normalization. Dropout kills half the dense units at every step so the network can't lean on any one of them. Batch norm normalises each convolution output over the batch. This is the best of the three: 78 percent accuracy, F1 of 0.81. And one bug worth telling you about: with Keras's default batch-norm momentum of 0.99 and only 240 weight updates in the whole run, the running statistics never converge — my validation accuracy was pinned at exactly 0.500 while training looked perfectly healthy. Dropping the momentum to 0.9 fixed it completely.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everything side by side. Model C wins on score, model B wins on the gap. That's the point I'd make: the two techniques attack the same problem from different sides — augmentation changes the data, dropout and batch norm change the network — so they're complementary, not competing. As a bonus I set up transfer learning with a frozen MobileNetV2: about 1,300 trainable parameters instead of a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I take away. The limiting factor was the data, not the architecture — neither fix added a single filter and both improved generalisation. Regularisation doesn't make a model smarter, it removes its option to memorise. And you have to read the curves, not just the final number: one hyperparameter froze my validation at exactly 0.500 while training looked perfectly fine.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B2A26"/>
        </a:solidFill>
      </p:bgPr>
    </p:bg>
    <p:spTree>
      <p:nvGrpSpPr>
        <p:cNvPr id="1" name=""/>
        <p:cNvGrpSpPr/>
        <p:nvPr/>
      </p:nvGrpSpPr>
      <p:grpSpPr>
        <a:xfrm>
          <a:off x="0" y="0"/>
          <a:ext cx="0" cy="0"/>
          <a:chOff x="0" y="0"/>
          <a:chExt cx="0" cy="0"/>
        </a:xfrm>
      </p:grpSpPr>
      <p:sp>
        <p:nvSpPr>
          <p:cNvPr id="2" name="Shape 0"/>
          <p:cNvSpPr/>
          <p:nvPr/>
        </p:nvSpPr>
        <p:spPr>
          <a:xfrm>
            <a:off x="9692640" y="-1188720"/>
            <a:ext cx="4023360" cy="4023360"/>
          </a:xfrm>
          <a:prstGeom prst="ellipse">
            <a:avLst/>
          </a:prstGeom>
          <a:solidFill>
            <a:srgbClr val="B85042">
              <a:alpha val="45000"/>
            </a:srgbClr>
          </a:solidFill>
          <a:ln/>
        </p:spPr>
      </p:sp>
      <p:sp>
        <p:nvSpPr>
          <p:cNvPr id="3" name="Shape 1"/>
          <p:cNvSpPr/>
          <p:nvPr/>
        </p:nvSpPr>
        <p:spPr>
          <a:xfrm>
            <a:off x="-1005840" y="4754880"/>
            <a:ext cx="3108960" cy="3108960"/>
          </a:xfrm>
          <a:prstGeom prst="ellipse">
            <a:avLst/>
          </a:prstGeom>
          <a:solidFill>
            <a:srgbClr val="A7BEAE">
              <a:alpha val="30000"/>
            </a:srgbClr>
          </a:solidFill>
          <a:ln/>
        </p:spPr>
      </p:sp>
      <p:sp>
        <p:nvSpPr>
          <p:cNvPr id="4" name="Text 2"/>
          <p:cNvSpPr txBox="1"/>
          <p:nvPr/>
        </p:nvSpPr>
        <p:spPr>
          <a:xfrm>
            <a:off x="914400" y="1920240"/>
            <a:ext cx="9144000" cy="365760"/>
          </a:xfrm>
          <a:prstGeom prst="rect">
            <a:avLst/>
          </a:prstGeom>
          <a:noFill/>
          <a:ln/>
        </p:spPr>
        <p:txBody>
          <a:bodyPr wrap="square" lIns="0" tIns="0" rIns="0" bIns="0" rtlCol="0" anchor="ctr"/>
          <a:lstStyle/>
          <a:p>
            <a:pPr indent="0" marL="0">
              <a:buNone/>
            </a:pPr>
            <a:r>
              <a:rPr lang="en-US" sz="1400" b="1" spc="300" kern="0" dirty="0">
                <a:solidFill>
                  <a:srgbClr val="A7BEAE"/>
                </a:solidFill>
                <a:latin typeface="Calibri" pitchFamily="34" charset="0"/>
                <a:ea typeface="Calibri" pitchFamily="34" charset="-122"/>
                <a:cs typeface="Calibri" pitchFamily="34" charset="-120"/>
              </a:rPr>
              <a:t>ST2AIM PROJECT  ·  DEEP LEARNING</a:t>
            </a:r>
            <a:endParaRPr lang="en-US" sz="1400" dirty="0"/>
          </a:p>
        </p:txBody>
      </p:sp>
      <p:sp>
        <p:nvSpPr>
          <p:cNvPr id="5" name="Text 3"/>
          <p:cNvSpPr txBox="1"/>
          <p:nvPr/>
        </p:nvSpPr>
        <p:spPr>
          <a:xfrm>
            <a:off x="914400" y="2377440"/>
            <a:ext cx="9601200" cy="1005840"/>
          </a:xfrm>
          <a:prstGeom prst="rect">
            <a:avLst/>
          </a:prstGeom>
          <a:noFill/>
          <a:ln/>
        </p:spPr>
        <p:txBody>
          <a:bodyPr wrap="square" lIns="0" tIns="0" rIns="0" bIns="0" rtlCol="0" anchor="ctr"/>
          <a:lstStyle/>
          <a:p>
            <a:pPr indent="0" marL="0">
              <a:buNone/>
            </a:pPr>
            <a:r>
              <a:rPr lang="en-US" sz="4600" b="1" dirty="0">
                <a:solidFill>
                  <a:srgbClr val="FFFFFF"/>
                </a:solidFill>
                <a:latin typeface="Century Schoolbook" pitchFamily="34" charset="0"/>
                <a:ea typeface="Century Schoolbook" pitchFamily="34" charset="-122"/>
                <a:cs typeface="Century Schoolbook" pitchFamily="34" charset="-120"/>
              </a:rPr>
              <a:t>Teaching Computers to See</a:t>
            </a:r>
            <a:endParaRPr lang="en-US" sz="4600" dirty="0"/>
          </a:p>
        </p:txBody>
      </p:sp>
      <p:sp>
        <p:nvSpPr>
          <p:cNvPr id="6" name="Text 4"/>
          <p:cNvSpPr txBox="1"/>
          <p:nvPr/>
        </p:nvSpPr>
        <p:spPr>
          <a:xfrm>
            <a:off x="914400" y="3474720"/>
            <a:ext cx="9601200" cy="457200"/>
          </a:xfrm>
          <a:prstGeom prst="rect">
            <a:avLst/>
          </a:prstGeom>
          <a:noFill/>
          <a:ln/>
        </p:spPr>
        <p:txBody>
          <a:bodyPr wrap="square" lIns="0" tIns="0" rIns="0" bIns="0" rtlCol="0" anchor="ctr"/>
          <a:lstStyle/>
          <a:p>
            <a:pPr indent="0" marL="0">
              <a:buNone/>
            </a:pPr>
            <a:r>
              <a:rPr lang="en-US" sz="1900" i="1" dirty="0">
                <a:solidFill>
                  <a:srgbClr val="E7E8D1"/>
                </a:solidFill>
                <a:latin typeface="Calibri" pitchFamily="34" charset="0"/>
                <a:ea typeface="Calibri" pitchFamily="34" charset="-122"/>
                <a:cs typeface="Calibri" pitchFamily="34" charset="-120"/>
              </a:rPr>
              <a:t>Cats vs. dogs image classification with a CNN</a:t>
            </a:r>
            <a:endParaRPr lang="en-US" sz="1900" dirty="0"/>
          </a:p>
        </p:txBody>
      </p:sp>
      <p:sp>
        <p:nvSpPr>
          <p:cNvPr id="7" name="Shape 5"/>
          <p:cNvSpPr/>
          <p:nvPr/>
        </p:nvSpPr>
        <p:spPr>
          <a:xfrm>
            <a:off x="914400" y="4206240"/>
            <a:ext cx="1280160" cy="32004"/>
          </a:xfrm>
          <a:prstGeom prst="rect">
            <a:avLst/>
          </a:prstGeom>
          <a:solidFill>
            <a:srgbClr val="B85042"/>
          </a:solidFill>
          <a:ln w="12700">
            <a:solidFill>
              <a:srgbClr val="B85042"/>
            </a:solidFill>
            <a:prstDash val="solid"/>
          </a:ln>
        </p:spPr>
      </p:sp>
      <p:sp>
        <p:nvSpPr>
          <p:cNvPr id="8" name="Text 6"/>
          <p:cNvSpPr txBox="1"/>
          <p:nvPr/>
        </p:nvSpPr>
        <p:spPr>
          <a:xfrm>
            <a:off x="914400" y="4526280"/>
            <a:ext cx="10058400" cy="365760"/>
          </a:xfrm>
          <a:prstGeom prst="rect">
            <a:avLst/>
          </a:prstGeom>
          <a:noFill/>
          <a:ln/>
        </p:spPr>
        <p:txBody>
          <a:bodyPr wrap="square" lIns="0" tIns="0" rIns="0" bIns="0" rtlCol="0" anchor="ctr"/>
          <a:lstStyle/>
          <a:p>
            <a:pPr indent="0" marL="0">
              <a:buNone/>
            </a:pPr>
            <a:r>
              <a:rPr lang="en-US" sz="1500" dirty="0">
                <a:solidFill>
                  <a:srgbClr val="A7BEAE"/>
                </a:solidFill>
                <a:latin typeface="Calibri" pitchFamily="34" charset="0"/>
                <a:ea typeface="Calibri" pitchFamily="34" charset="-122"/>
                <a:cs typeface="Calibri" pitchFamily="34" charset="-120"/>
              </a:rPr>
              <a:t>3,000 images   ·   1,043,905 parameters   ·   4 convolutional blocks   ·   4 models compared</a:t>
            </a:r>
            <a:endParaRPr lang="en-US" sz="1500" dirty="0"/>
          </a:p>
        </p:txBody>
      </p:sp>
      <p:sp>
        <p:nvSpPr>
          <p:cNvPr id="9" name="Text 7"/>
          <p:cNvSpPr txBox="1"/>
          <p:nvPr/>
        </p:nvSpPr>
        <p:spPr>
          <a:xfrm>
            <a:off x="914400" y="5257800"/>
            <a:ext cx="9144000" cy="3657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Victor Haegeman  —  EFREI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ellipse">
            <a:avLst/>
          </a:prstGeom>
          <a:solidFill>
            <a:srgbClr val="B85042"/>
          </a:solidFill>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entury Schoolbook" pitchFamily="34" charset="0"/>
                <a:ea typeface="Century Schoolbook" pitchFamily="34" charset="-122"/>
                <a:cs typeface="Century Schoolbook" pitchFamily="34" charset="-120"/>
              </a:rPr>
              <a:t>1</a:t>
            </a:r>
            <a:endParaRPr lang="en-US" sz="2000" dirty="0"/>
          </a:p>
        </p:txBody>
      </p:sp>
      <p:sp>
        <p:nvSpPr>
          <p:cNvPr id="4" name="Text 2"/>
          <p:cNvSpPr txBox="1"/>
          <p:nvPr/>
        </p:nvSpPr>
        <p:spPr>
          <a:xfrm>
            <a:off x="1298448" y="384048"/>
            <a:ext cx="10241280" cy="640080"/>
          </a:xfrm>
          <a:prstGeom prst="rect">
            <a:avLst/>
          </a:prstGeom>
          <a:noFill/>
          <a:ln/>
        </p:spPr>
        <p:txBody>
          <a:bodyPr wrap="square" lIns="0" tIns="0" rIns="0" bIns="0" rtlCol="0" anchor="ctr"/>
          <a:lstStyle/>
          <a:p>
            <a:pPr indent="0" marL="0">
              <a:buNone/>
            </a:pPr>
            <a:r>
              <a:rPr lang="en-US" sz="3000" b="1" dirty="0">
                <a:solidFill>
                  <a:srgbClr val="2E2A27"/>
                </a:solidFill>
                <a:latin typeface="Century Schoolbook" pitchFamily="34" charset="0"/>
                <a:ea typeface="Century Schoolbook" pitchFamily="34" charset="-122"/>
                <a:cs typeface="Century Schoolbook" pitchFamily="34" charset="-120"/>
              </a:rPr>
              <a:t>The data</a:t>
            </a:r>
            <a:endParaRPr lang="en-US" sz="3000" dirty="0"/>
          </a:p>
        </p:txBody>
      </p:sp>
      <p:sp>
        <p:nvSpPr>
          <p:cNvPr id="5" name="Shape 3"/>
          <p:cNvSpPr/>
          <p:nvPr/>
        </p:nvSpPr>
        <p:spPr>
          <a:xfrm>
            <a:off x="548640" y="1234440"/>
            <a:ext cx="3547872" cy="1691640"/>
          </a:xfrm>
          <a:prstGeom prst="roundRect">
            <a:avLst>
              <a:gd name="adj" fmla="val 4865"/>
            </a:avLst>
          </a:prstGeom>
          <a:solidFill>
            <a:srgbClr val="E7E8D1"/>
          </a:solidFill>
          <a:ln w="12700">
            <a:solidFill>
              <a:srgbClr val="E7E8D1"/>
            </a:solidFill>
            <a:prstDash val="solid"/>
          </a:ln>
        </p:spPr>
      </p:sp>
      <p:sp>
        <p:nvSpPr>
          <p:cNvPr id="6" name="Text 4"/>
          <p:cNvSpPr txBox="1"/>
          <p:nvPr/>
        </p:nvSpPr>
        <p:spPr>
          <a:xfrm>
            <a:off x="822960" y="1399032"/>
            <a:ext cx="2999232" cy="274320"/>
          </a:xfrm>
          <a:prstGeom prst="rect">
            <a:avLst/>
          </a:prstGeom>
          <a:noFill/>
          <a:ln/>
        </p:spPr>
        <p:txBody>
          <a:bodyPr wrap="square" lIns="0" tIns="0" rIns="0" bIns="0" rtlCol="0" anchor="ctr"/>
          <a:lstStyle/>
          <a:p>
            <a:pPr indent="0" marL="0">
              <a:buNone/>
            </a:pPr>
            <a:r>
              <a:rPr lang="en-US" sz="1300" dirty="0">
                <a:solidFill>
                  <a:srgbClr val="6E6560"/>
                </a:solidFill>
                <a:latin typeface="Calibri" pitchFamily="34" charset="0"/>
                <a:ea typeface="Calibri" pitchFamily="34" charset="-122"/>
                <a:cs typeface="Calibri" pitchFamily="34" charset="-120"/>
              </a:rPr>
              <a:t>IMAGES</a:t>
            </a:r>
            <a:endParaRPr lang="en-US" sz="1300" dirty="0"/>
          </a:p>
        </p:txBody>
      </p:sp>
      <p:sp>
        <p:nvSpPr>
          <p:cNvPr id="7" name="Text 5"/>
          <p:cNvSpPr txBox="1"/>
          <p:nvPr/>
        </p:nvSpPr>
        <p:spPr>
          <a:xfrm>
            <a:off x="822960" y="1691640"/>
            <a:ext cx="2999232" cy="731520"/>
          </a:xfrm>
          <a:prstGeom prst="rect">
            <a:avLst/>
          </a:prstGeom>
          <a:noFill/>
          <a:ln/>
        </p:spPr>
        <p:txBody>
          <a:bodyPr wrap="square" lIns="0" tIns="0" rIns="0" bIns="0" rtlCol="0" anchor="ctr"/>
          <a:lstStyle/>
          <a:p>
            <a:pPr indent="0" marL="0">
              <a:buNone/>
            </a:pPr>
            <a:r>
              <a:rPr lang="en-US" sz="4000" b="1" dirty="0">
                <a:solidFill>
                  <a:srgbClr val="B85042"/>
                </a:solidFill>
                <a:latin typeface="Century Schoolbook" pitchFamily="34" charset="0"/>
                <a:ea typeface="Century Schoolbook" pitchFamily="34" charset="-122"/>
                <a:cs typeface="Century Schoolbook" pitchFamily="34" charset="-120"/>
              </a:rPr>
              <a:t>3,000</a:t>
            </a:r>
            <a:endParaRPr lang="en-US" sz="4000" dirty="0"/>
          </a:p>
        </p:txBody>
      </p:sp>
      <p:sp>
        <p:nvSpPr>
          <p:cNvPr id="8" name="Text 6"/>
          <p:cNvSpPr txBox="1"/>
          <p:nvPr/>
        </p:nvSpPr>
        <p:spPr>
          <a:xfrm>
            <a:off x="822960" y="2423160"/>
            <a:ext cx="2999232" cy="457200"/>
          </a:xfrm>
          <a:prstGeom prst="rect">
            <a:avLst/>
          </a:prstGeom>
          <a:noFill/>
          <a:ln/>
        </p:spPr>
        <p:txBody>
          <a:bodyPr wrap="square" lIns="0" tIns="0" rIns="0" bIns="0" rtlCol="0" anchor="ctr"/>
          <a:lstStyle/>
          <a:p>
            <a:pPr indent="0" marL="0">
              <a:buNone/>
            </a:pPr>
            <a:r>
              <a:rPr lang="en-US" sz="1250" dirty="0">
                <a:solidFill>
                  <a:srgbClr val="6E6560"/>
                </a:solidFill>
                <a:latin typeface="Calibri" pitchFamily="34" charset="0"/>
                <a:ea typeface="Calibri" pitchFamily="34" charset="-122"/>
                <a:cs typeface="Calibri" pitchFamily="34" charset="-120"/>
              </a:rPr>
              <a:t>1,500 cats · 1,500 dogs</a:t>
            </a:r>
            <a:endParaRPr lang="en-US" sz="1250" dirty="0"/>
          </a:p>
        </p:txBody>
      </p:sp>
      <p:sp>
        <p:nvSpPr>
          <p:cNvPr id="9" name="Shape 7"/>
          <p:cNvSpPr/>
          <p:nvPr/>
        </p:nvSpPr>
        <p:spPr>
          <a:xfrm>
            <a:off x="4325112" y="1234440"/>
            <a:ext cx="3547872" cy="1691640"/>
          </a:xfrm>
          <a:prstGeom prst="roundRect">
            <a:avLst>
              <a:gd name="adj" fmla="val 4865"/>
            </a:avLst>
          </a:prstGeom>
          <a:solidFill>
            <a:srgbClr val="E7E8D1"/>
          </a:solidFill>
          <a:ln w="12700">
            <a:solidFill>
              <a:srgbClr val="E7E8D1"/>
            </a:solidFill>
            <a:prstDash val="solid"/>
          </a:ln>
        </p:spPr>
      </p:sp>
      <p:sp>
        <p:nvSpPr>
          <p:cNvPr id="10" name="Text 8"/>
          <p:cNvSpPr txBox="1"/>
          <p:nvPr/>
        </p:nvSpPr>
        <p:spPr>
          <a:xfrm>
            <a:off x="4599432" y="1399032"/>
            <a:ext cx="2999232" cy="274320"/>
          </a:xfrm>
          <a:prstGeom prst="rect">
            <a:avLst/>
          </a:prstGeom>
          <a:noFill/>
          <a:ln/>
        </p:spPr>
        <p:txBody>
          <a:bodyPr wrap="square" lIns="0" tIns="0" rIns="0" bIns="0" rtlCol="0" anchor="ctr"/>
          <a:lstStyle/>
          <a:p>
            <a:pPr indent="0" marL="0">
              <a:buNone/>
            </a:pPr>
            <a:r>
              <a:rPr lang="en-US" sz="1300" dirty="0">
                <a:solidFill>
                  <a:srgbClr val="6E6560"/>
                </a:solidFill>
                <a:latin typeface="Calibri" pitchFamily="34" charset="0"/>
                <a:ea typeface="Calibri" pitchFamily="34" charset="-122"/>
                <a:cs typeface="Calibri" pitchFamily="34" charset="-120"/>
              </a:rPr>
              <a:t>CLASS BALANCE</a:t>
            </a:r>
            <a:endParaRPr lang="en-US" sz="1300" dirty="0"/>
          </a:p>
        </p:txBody>
      </p:sp>
      <p:sp>
        <p:nvSpPr>
          <p:cNvPr id="11" name="Text 9"/>
          <p:cNvSpPr txBox="1"/>
          <p:nvPr/>
        </p:nvSpPr>
        <p:spPr>
          <a:xfrm>
            <a:off x="4599432" y="1691640"/>
            <a:ext cx="2999232" cy="731520"/>
          </a:xfrm>
          <a:prstGeom prst="rect">
            <a:avLst/>
          </a:prstGeom>
          <a:noFill/>
          <a:ln/>
        </p:spPr>
        <p:txBody>
          <a:bodyPr wrap="square" lIns="0" tIns="0" rIns="0" bIns="0" rtlCol="0" anchor="ctr"/>
          <a:lstStyle/>
          <a:p>
            <a:pPr indent="0" marL="0">
              <a:buNone/>
            </a:pPr>
            <a:r>
              <a:rPr lang="en-US" sz="4000" b="1" dirty="0">
                <a:solidFill>
                  <a:srgbClr val="B85042"/>
                </a:solidFill>
                <a:latin typeface="Century Schoolbook" pitchFamily="34" charset="0"/>
                <a:ea typeface="Century Schoolbook" pitchFamily="34" charset="-122"/>
                <a:cs typeface="Century Schoolbook" pitchFamily="34" charset="-120"/>
              </a:rPr>
              <a:t>50 / 50</a:t>
            </a:r>
            <a:endParaRPr lang="en-US" sz="4000" dirty="0"/>
          </a:p>
        </p:txBody>
      </p:sp>
      <p:sp>
        <p:nvSpPr>
          <p:cNvPr id="12" name="Text 10"/>
          <p:cNvSpPr txBox="1"/>
          <p:nvPr/>
        </p:nvSpPr>
        <p:spPr>
          <a:xfrm>
            <a:off x="4599432" y="2423160"/>
            <a:ext cx="2999232" cy="457200"/>
          </a:xfrm>
          <a:prstGeom prst="rect">
            <a:avLst/>
          </a:prstGeom>
          <a:noFill/>
          <a:ln/>
        </p:spPr>
        <p:txBody>
          <a:bodyPr wrap="square" lIns="0" tIns="0" rIns="0" bIns="0" rtlCol="0" anchor="ctr"/>
          <a:lstStyle/>
          <a:p>
            <a:pPr indent="0" marL="0">
              <a:buNone/>
            </a:pPr>
            <a:r>
              <a:rPr lang="en-US" sz="1250" dirty="0">
                <a:solidFill>
                  <a:srgbClr val="6E6560"/>
                </a:solidFill>
                <a:latin typeface="Calibri" pitchFamily="34" charset="0"/>
                <a:ea typeface="Calibri" pitchFamily="34" charset="-122"/>
                <a:cs typeface="Calibri" pitchFamily="34" charset="-120"/>
              </a:rPr>
              <a:t>random baseline = 0.500</a:t>
            </a:r>
            <a:endParaRPr lang="en-US" sz="1250" dirty="0"/>
          </a:p>
        </p:txBody>
      </p:sp>
      <p:sp>
        <p:nvSpPr>
          <p:cNvPr id="13" name="Shape 11"/>
          <p:cNvSpPr/>
          <p:nvPr/>
        </p:nvSpPr>
        <p:spPr>
          <a:xfrm>
            <a:off x="8110728" y="1234440"/>
            <a:ext cx="3547872" cy="1691640"/>
          </a:xfrm>
          <a:prstGeom prst="roundRect">
            <a:avLst>
              <a:gd name="adj" fmla="val 4865"/>
            </a:avLst>
          </a:prstGeom>
          <a:solidFill>
            <a:srgbClr val="E7E8D1"/>
          </a:solidFill>
          <a:ln w="12700">
            <a:solidFill>
              <a:srgbClr val="E7E8D1"/>
            </a:solidFill>
            <a:prstDash val="solid"/>
          </a:ln>
        </p:spPr>
      </p:sp>
      <p:sp>
        <p:nvSpPr>
          <p:cNvPr id="14" name="Text 12"/>
          <p:cNvSpPr txBox="1"/>
          <p:nvPr/>
        </p:nvSpPr>
        <p:spPr>
          <a:xfrm>
            <a:off x="8385048" y="1399032"/>
            <a:ext cx="2999232" cy="274320"/>
          </a:xfrm>
          <a:prstGeom prst="rect">
            <a:avLst/>
          </a:prstGeom>
          <a:noFill/>
          <a:ln/>
        </p:spPr>
        <p:txBody>
          <a:bodyPr wrap="square" lIns="0" tIns="0" rIns="0" bIns="0" rtlCol="0" anchor="ctr"/>
          <a:lstStyle/>
          <a:p>
            <a:pPr indent="0" marL="0">
              <a:buNone/>
            </a:pPr>
            <a:r>
              <a:rPr lang="en-US" sz="1300" dirty="0">
                <a:solidFill>
                  <a:srgbClr val="6E6560"/>
                </a:solidFill>
                <a:latin typeface="Calibri" pitchFamily="34" charset="0"/>
                <a:ea typeface="Calibri" pitchFamily="34" charset="-122"/>
                <a:cs typeface="Calibri" pitchFamily="34" charset="-120"/>
              </a:rPr>
              <a:t>INPUT TENSOR</a:t>
            </a:r>
            <a:endParaRPr lang="en-US" sz="1300" dirty="0"/>
          </a:p>
        </p:txBody>
      </p:sp>
      <p:sp>
        <p:nvSpPr>
          <p:cNvPr id="15" name="Text 13"/>
          <p:cNvSpPr txBox="1"/>
          <p:nvPr/>
        </p:nvSpPr>
        <p:spPr>
          <a:xfrm>
            <a:off x="8385048" y="1691640"/>
            <a:ext cx="2999232" cy="731520"/>
          </a:xfrm>
          <a:prstGeom prst="rect">
            <a:avLst/>
          </a:prstGeom>
          <a:noFill/>
          <a:ln/>
        </p:spPr>
        <p:txBody>
          <a:bodyPr wrap="square" lIns="0" tIns="0" rIns="0" bIns="0" rtlCol="0" anchor="ctr"/>
          <a:lstStyle/>
          <a:p>
            <a:pPr indent="0" marL="0">
              <a:buNone/>
            </a:pPr>
            <a:r>
              <a:rPr lang="en-US" sz="2700" b="1" dirty="0">
                <a:solidFill>
                  <a:srgbClr val="B85042"/>
                </a:solidFill>
                <a:latin typeface="Century Schoolbook" pitchFamily="34" charset="0"/>
                <a:ea typeface="Century Schoolbook" pitchFamily="34" charset="-122"/>
                <a:cs typeface="Century Schoolbook" pitchFamily="34" charset="-120"/>
              </a:rPr>
              <a:t>150 × 150 × 3</a:t>
            </a:r>
            <a:endParaRPr lang="en-US" sz="2700" dirty="0"/>
          </a:p>
        </p:txBody>
      </p:sp>
      <p:sp>
        <p:nvSpPr>
          <p:cNvPr id="16" name="Text 14"/>
          <p:cNvSpPr txBox="1"/>
          <p:nvPr/>
        </p:nvSpPr>
        <p:spPr>
          <a:xfrm>
            <a:off x="8385048" y="2423160"/>
            <a:ext cx="2999232" cy="457200"/>
          </a:xfrm>
          <a:prstGeom prst="rect">
            <a:avLst/>
          </a:prstGeom>
          <a:noFill/>
          <a:ln/>
        </p:spPr>
        <p:txBody>
          <a:bodyPr wrap="square" lIns="0" tIns="0" rIns="0" bIns="0" rtlCol="0" anchor="ctr"/>
          <a:lstStyle/>
          <a:p>
            <a:pPr indent="0" marL="0">
              <a:buNone/>
            </a:pPr>
            <a:r>
              <a:rPr lang="en-US" sz="1250" dirty="0">
                <a:solidFill>
                  <a:srgbClr val="6E6560"/>
                </a:solidFill>
                <a:latin typeface="Calibri" pitchFamily="34" charset="0"/>
                <a:ea typeface="Calibri" pitchFamily="34" charset="-122"/>
                <a:cs typeface="Calibri" pitchFamily="34" charset="-120"/>
              </a:rPr>
              <a:t>resized, rescaled to [0,1]</a:t>
            </a:r>
            <a:endParaRPr lang="en-US" sz="12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3154680"/>
          <a:ext cx="11109960" cy="914400"/>
        </p:xfrm>
        <a:graphic>
          <a:graphicData uri="http://schemas.openxmlformats.org/drawingml/2006/table">
            <a:tbl>
              <a:tblPr/>
              <a:tblGrid>
                <a:gridCol w="1737360"/>
                <a:gridCol w="2286000"/>
                <a:gridCol w="1371600"/>
                <a:gridCol w="1874520"/>
                <a:gridCol w="3840480"/>
              </a:tblGrid>
              <a:tr h="38404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Set</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3B2A2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Source</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3B2A2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Images</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3B2A2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Batches / epoch</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3B2A2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Purpose</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3B2A26"/>
                    </a:solidFill>
                  </a:tcPr>
                </a:tc>
              </a:tr>
              <a:tr h="384048">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Training</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train/ — 80%</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1,600</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16</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fit the weights</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r>
              <a:tr h="384048">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Validation</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validation/</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monitor each epoch</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r>
              <a:tr h="384048">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Test</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train/ — 20%</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400</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final score, used once</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r>
            </a:tbl>
          </a:graphicData>
        </a:graphic>
      </p:graphicFrame>
      <p:pic>
        <p:nvPicPr>
          <p:cNvPr id="18" name="Image 0" descr="/home/claude/projet/v2/figures/samples_strip.png">    </p:cNvPr>
          <p:cNvPicPr>
            <a:picLocks noChangeAspect="1"/>
          </p:cNvPicPr>
          <p:nvPr/>
        </p:nvPicPr>
        <p:blipFill>
          <a:blip r:embed="rId1"/>
          <a:stretch>
            <a:fillRect/>
          </a:stretch>
        </p:blipFill>
        <p:spPr>
          <a:xfrm>
            <a:off x="548640" y="4709160"/>
            <a:ext cx="6903720" cy="987552"/>
          </a:xfrm>
          <a:prstGeom prst="rect">
            <a:avLst/>
          </a:prstGeom>
        </p:spPr>
      </p:pic>
      <p:sp>
        <p:nvSpPr>
          <p:cNvPr id="19" name="Shape 15"/>
          <p:cNvSpPr/>
          <p:nvPr/>
        </p:nvSpPr>
        <p:spPr>
          <a:xfrm>
            <a:off x="7726680" y="4709160"/>
            <a:ext cx="3931920" cy="1325880"/>
          </a:xfrm>
          <a:prstGeom prst="roundRect">
            <a:avLst>
              <a:gd name="adj" fmla="val 6207"/>
            </a:avLst>
          </a:prstGeom>
          <a:solidFill>
            <a:srgbClr val="A7BEAE"/>
          </a:solidFill>
          <a:ln w="12700">
            <a:solidFill>
              <a:srgbClr val="A7BEAE"/>
            </a:solidFill>
            <a:prstDash val="solid"/>
          </a:ln>
        </p:spPr>
      </p:sp>
      <p:sp>
        <p:nvSpPr>
          <p:cNvPr id="20" name="Text 16"/>
          <p:cNvSpPr txBox="1"/>
          <p:nvPr/>
        </p:nvSpPr>
        <p:spPr>
          <a:xfrm>
            <a:off x="8046720" y="4864608"/>
            <a:ext cx="3291840" cy="274320"/>
          </a:xfrm>
          <a:prstGeom prst="rect">
            <a:avLst/>
          </a:prstGeom>
          <a:noFill/>
          <a:ln/>
        </p:spPr>
        <p:txBody>
          <a:bodyPr wrap="square" lIns="0" tIns="0" rIns="0" bIns="0" rtlCol="0" anchor="ctr"/>
          <a:lstStyle/>
          <a:p>
            <a:pPr indent="0" marL="0">
              <a:buNone/>
            </a:pPr>
            <a:r>
              <a:rPr lang="en-US" sz="1600" b="1" dirty="0">
                <a:solidFill>
                  <a:srgbClr val="3B2A26"/>
                </a:solidFill>
                <a:latin typeface="Century Schoolbook" pitchFamily="34" charset="0"/>
                <a:ea typeface="Century Schoolbook" pitchFamily="34" charset="-122"/>
                <a:cs typeface="Century Schoolbook" pitchFamily="34" charset="-120"/>
              </a:rPr>
              <a:t>Why this is hard</a:t>
            </a:r>
            <a:endParaRPr lang="en-US" sz="1600" dirty="0"/>
          </a:p>
        </p:txBody>
      </p:sp>
      <p:sp>
        <p:nvSpPr>
          <p:cNvPr id="21" name="Text 17"/>
          <p:cNvSpPr txBox="1"/>
          <p:nvPr/>
        </p:nvSpPr>
        <p:spPr>
          <a:xfrm>
            <a:off x="8046720" y="5193792"/>
            <a:ext cx="3291840" cy="731520"/>
          </a:xfrm>
          <a:prstGeom prst="rect">
            <a:avLst/>
          </a:prstGeom>
          <a:noFill/>
          <a:ln/>
        </p:spPr>
        <p:txBody>
          <a:bodyPr wrap="square" lIns="0" tIns="0" rIns="0" bIns="0" rtlCol="0" anchor="ctr"/>
          <a:lstStyle/>
          <a:p>
            <a:pPr indent="0" marL="0">
              <a:buNone/>
            </a:pPr>
            <a:r>
              <a:rPr lang="en-US" sz="1250" dirty="0">
                <a:solidFill>
                  <a:srgbClr val="2E2A27"/>
                </a:solidFill>
                <a:latin typeface="Calibri" pitchFamily="34" charset="0"/>
                <a:ea typeface="Calibri" pitchFamily="34" charset="-122"/>
                <a:cs typeface="Calibri" pitchFamily="34" charset="-120"/>
              </a:rPr>
              <a:t>Free poses, occlusions, humans in frame, variable lighting. Nothing is centred or normalised, unlike MNIST.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ellipse">
            <a:avLst/>
          </a:prstGeom>
          <a:solidFill>
            <a:srgbClr val="B85042"/>
          </a:solidFill>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entury Schoolbook" pitchFamily="34" charset="0"/>
                <a:ea typeface="Century Schoolbook" pitchFamily="34" charset="-122"/>
                <a:cs typeface="Century Schoolbook" pitchFamily="34" charset="-120"/>
              </a:rPr>
              <a:t>2</a:t>
            </a:r>
            <a:endParaRPr lang="en-US" sz="2000" dirty="0"/>
          </a:p>
        </p:txBody>
      </p:sp>
      <p:sp>
        <p:nvSpPr>
          <p:cNvPr id="4" name="Text 2"/>
          <p:cNvSpPr txBox="1"/>
          <p:nvPr/>
        </p:nvSpPr>
        <p:spPr>
          <a:xfrm>
            <a:off x="1298448" y="384048"/>
            <a:ext cx="10241280" cy="640080"/>
          </a:xfrm>
          <a:prstGeom prst="rect">
            <a:avLst/>
          </a:prstGeom>
          <a:noFill/>
          <a:ln/>
        </p:spPr>
        <p:txBody>
          <a:bodyPr wrap="square" lIns="0" tIns="0" rIns="0" bIns="0" rtlCol="0" anchor="ctr"/>
          <a:lstStyle/>
          <a:p>
            <a:pPr indent="0" marL="0">
              <a:buNone/>
            </a:pPr>
            <a:r>
              <a:rPr lang="en-US" sz="3000" b="1" dirty="0">
                <a:solidFill>
                  <a:srgbClr val="2E2A27"/>
                </a:solidFill>
                <a:latin typeface="Century Schoolbook" pitchFamily="34" charset="0"/>
                <a:ea typeface="Century Schoolbook" pitchFamily="34" charset="-122"/>
                <a:cs typeface="Century Schoolbook" pitchFamily="34" charset="-120"/>
              </a:rPr>
              <a:t>Why a CNN, not a dense network</a:t>
            </a:r>
            <a:endParaRPr lang="en-US" sz="3000" dirty="0"/>
          </a:p>
        </p:txBody>
      </p:sp>
      <p:sp>
        <p:nvSpPr>
          <p:cNvPr id="5" name="Shape 3"/>
          <p:cNvSpPr/>
          <p:nvPr/>
        </p:nvSpPr>
        <p:spPr>
          <a:xfrm>
            <a:off x="548640" y="1234440"/>
            <a:ext cx="5394960" cy="2103120"/>
          </a:xfrm>
          <a:prstGeom prst="roundRect">
            <a:avLst>
              <a:gd name="adj" fmla="val 3913"/>
            </a:avLst>
          </a:prstGeom>
          <a:solidFill>
            <a:srgbClr val="3B2A26"/>
          </a:solidFill>
          <a:ln w="12700">
            <a:solidFill>
              <a:srgbClr val="3B2A26"/>
            </a:solidFill>
            <a:prstDash val="solid"/>
          </a:ln>
        </p:spPr>
      </p:sp>
      <p:sp>
        <p:nvSpPr>
          <p:cNvPr id="6" name="Text 4"/>
          <p:cNvSpPr txBox="1"/>
          <p:nvPr/>
        </p:nvSpPr>
        <p:spPr>
          <a:xfrm>
            <a:off x="868680" y="1444752"/>
            <a:ext cx="4754880" cy="274320"/>
          </a:xfrm>
          <a:prstGeom prst="rect">
            <a:avLst/>
          </a:prstGeom>
          <a:noFill/>
          <a:ln/>
        </p:spPr>
        <p:txBody>
          <a:bodyPr wrap="square" lIns="0" tIns="0" rIns="0" bIns="0" rtlCol="0" anchor="ctr"/>
          <a:lstStyle/>
          <a:p>
            <a:pPr indent="0" marL="0">
              <a:buNone/>
            </a:pPr>
            <a:r>
              <a:rPr lang="en-US" sz="1400" dirty="0">
                <a:solidFill>
                  <a:srgbClr val="E7E8D1"/>
                </a:solidFill>
                <a:latin typeface="Calibri" pitchFamily="34" charset="0"/>
                <a:ea typeface="Calibri" pitchFamily="34" charset="-122"/>
                <a:cs typeface="Calibri" pitchFamily="34" charset="-120"/>
              </a:rPr>
              <a:t>One 150 × 150 colour image</a:t>
            </a:r>
            <a:endParaRPr lang="en-US" sz="1400" dirty="0"/>
          </a:p>
        </p:txBody>
      </p:sp>
      <p:sp>
        <p:nvSpPr>
          <p:cNvPr id="7" name="Text 5"/>
          <p:cNvSpPr txBox="1"/>
          <p:nvPr/>
        </p:nvSpPr>
        <p:spPr>
          <a:xfrm>
            <a:off x="868680" y="1737360"/>
            <a:ext cx="4754880" cy="640080"/>
          </a:xfrm>
          <a:prstGeom prst="rect">
            <a:avLst/>
          </a:prstGeom>
          <a:noFill/>
          <a:ln/>
        </p:spPr>
        <p:txBody>
          <a:bodyPr wrap="square" lIns="0" tIns="0" rIns="0" bIns="0" rtlCol="0" anchor="ctr"/>
          <a:lstStyle/>
          <a:p>
            <a:pPr indent="0" marL="0">
              <a:buNone/>
            </a:pPr>
            <a:r>
              <a:rPr lang="en-US" sz="4600" b="1" dirty="0">
                <a:solidFill>
                  <a:srgbClr val="FFFFFF"/>
                </a:solidFill>
                <a:latin typeface="Century Schoolbook" pitchFamily="34" charset="0"/>
                <a:ea typeface="Century Schoolbook" pitchFamily="34" charset="-122"/>
                <a:cs typeface="Century Schoolbook" pitchFamily="34" charset="-120"/>
              </a:rPr>
              <a:t>67,500</a:t>
            </a:r>
            <a:endParaRPr lang="en-US" sz="4600" dirty="0"/>
          </a:p>
        </p:txBody>
      </p:sp>
      <p:sp>
        <p:nvSpPr>
          <p:cNvPr id="8" name="Text 6"/>
          <p:cNvSpPr txBox="1"/>
          <p:nvPr/>
        </p:nvSpPr>
        <p:spPr>
          <a:xfrm>
            <a:off x="868680" y="2423160"/>
            <a:ext cx="4754880" cy="640080"/>
          </a:xfrm>
          <a:prstGeom prst="rect">
            <a:avLst/>
          </a:prstGeom>
          <a:noFill/>
          <a:ln/>
        </p:spPr>
        <p:txBody>
          <a:bodyPr wrap="square" lIns="0" tIns="0" rIns="0" bIns="0" rtlCol="0" anchor="ctr"/>
          <a:lstStyle/>
          <a:p>
            <a:pPr indent="0" marL="0">
              <a:buNone/>
            </a:pPr>
            <a:r>
              <a:rPr lang="en-US" sz="1400" b="1" dirty="0">
                <a:solidFill>
                  <a:srgbClr val="A7BEAE"/>
                </a:solidFill>
                <a:latin typeface="Calibri" pitchFamily="34" charset="0"/>
                <a:ea typeface="Calibri" pitchFamily="34" charset="-122"/>
                <a:cs typeface="Calibri" pitchFamily="34" charset="-120"/>
              </a:rPr>
              <a:t>input values  →  one dense layer of 1,000 neurons = 67.5 M parameters</a:t>
            </a:r>
            <a:endParaRPr lang="en-US" sz="1400" dirty="0"/>
          </a:p>
        </p:txBody>
      </p:sp>
      <p:sp>
        <p:nvSpPr>
          <p:cNvPr id="9" name="Shape 7"/>
          <p:cNvSpPr/>
          <p:nvPr/>
        </p:nvSpPr>
        <p:spPr>
          <a:xfrm>
            <a:off x="6309360" y="1234440"/>
            <a:ext cx="5349240" cy="960120"/>
          </a:xfrm>
          <a:prstGeom prst="roundRect">
            <a:avLst>
              <a:gd name="adj" fmla="val 8571"/>
            </a:avLst>
          </a:prstGeom>
          <a:solidFill>
            <a:srgbClr val="E7E8D1"/>
          </a:solidFill>
          <a:ln w="12700">
            <a:solidFill>
              <a:srgbClr val="E7E8D1"/>
            </a:solidFill>
            <a:prstDash val="solid"/>
          </a:ln>
        </p:spPr>
      </p:sp>
      <p:sp>
        <p:nvSpPr>
          <p:cNvPr id="10" name="Text 8"/>
          <p:cNvSpPr txBox="1"/>
          <p:nvPr/>
        </p:nvSpPr>
        <p:spPr>
          <a:xfrm>
            <a:off x="6629400" y="1371600"/>
            <a:ext cx="4709160" cy="274320"/>
          </a:xfrm>
          <a:prstGeom prst="rect">
            <a:avLst/>
          </a:prstGeom>
          <a:noFill/>
          <a:ln/>
        </p:spPr>
        <p:txBody>
          <a:bodyPr wrap="square" lIns="0" tIns="0" rIns="0" bIns="0" rtlCol="0" anchor="ctr"/>
          <a:lstStyle/>
          <a:p>
            <a:pPr indent="0" marL="0">
              <a:buNone/>
            </a:pPr>
            <a:r>
              <a:rPr lang="en-US" sz="1600" b="1" dirty="0">
                <a:solidFill>
                  <a:srgbClr val="B85042"/>
                </a:solidFill>
                <a:latin typeface="Calibri" pitchFamily="34" charset="0"/>
                <a:ea typeface="Calibri" pitchFamily="34" charset="-122"/>
                <a:cs typeface="Calibri" pitchFamily="34" charset="-120"/>
              </a:rPr>
              <a:t>Local connectivity</a:t>
            </a:r>
            <a:endParaRPr lang="en-US" sz="1600" dirty="0"/>
          </a:p>
        </p:txBody>
      </p:sp>
      <p:sp>
        <p:nvSpPr>
          <p:cNvPr id="11" name="Text 9"/>
          <p:cNvSpPr txBox="1"/>
          <p:nvPr/>
        </p:nvSpPr>
        <p:spPr>
          <a:xfrm>
            <a:off x="6629400" y="1691640"/>
            <a:ext cx="4709160" cy="411480"/>
          </a:xfrm>
          <a:prstGeom prst="rect">
            <a:avLst/>
          </a:prstGeom>
          <a:noFill/>
          <a:ln/>
        </p:spPr>
        <p:txBody>
          <a:bodyPr wrap="square" lIns="0" tIns="0" rIns="0" bIns="0" rtlCol="0" anchor="ctr"/>
          <a:lstStyle/>
          <a:p>
            <a:pPr indent="0" marL="0">
              <a:buNone/>
            </a:pPr>
            <a:r>
              <a:rPr lang="en-US" sz="1350" dirty="0">
                <a:solidFill>
                  <a:srgbClr val="2E2A27"/>
                </a:solidFill>
                <a:latin typeface="Calibri" pitchFamily="34" charset="0"/>
                <a:ea typeface="Calibri" pitchFamily="34" charset="-122"/>
                <a:cs typeface="Calibri" pitchFamily="34" charset="-120"/>
              </a:rPr>
              <a:t>each neuron sees a 3 × 3 window, not the whole image</a:t>
            </a:r>
            <a:endParaRPr lang="en-US" sz="1350" dirty="0"/>
          </a:p>
        </p:txBody>
      </p:sp>
      <p:sp>
        <p:nvSpPr>
          <p:cNvPr id="12" name="Shape 10"/>
          <p:cNvSpPr/>
          <p:nvPr/>
        </p:nvSpPr>
        <p:spPr>
          <a:xfrm>
            <a:off x="6309360" y="2331720"/>
            <a:ext cx="5349240" cy="960120"/>
          </a:xfrm>
          <a:prstGeom prst="roundRect">
            <a:avLst>
              <a:gd name="adj" fmla="val 8571"/>
            </a:avLst>
          </a:prstGeom>
          <a:solidFill>
            <a:srgbClr val="E7E8D1"/>
          </a:solidFill>
          <a:ln w="12700">
            <a:solidFill>
              <a:srgbClr val="E7E8D1"/>
            </a:solidFill>
            <a:prstDash val="solid"/>
          </a:ln>
        </p:spPr>
      </p:sp>
      <p:sp>
        <p:nvSpPr>
          <p:cNvPr id="13" name="Text 11"/>
          <p:cNvSpPr txBox="1"/>
          <p:nvPr/>
        </p:nvSpPr>
        <p:spPr>
          <a:xfrm>
            <a:off x="6629400" y="2468880"/>
            <a:ext cx="4709160" cy="274320"/>
          </a:xfrm>
          <a:prstGeom prst="rect">
            <a:avLst/>
          </a:prstGeom>
          <a:noFill/>
          <a:ln/>
        </p:spPr>
        <p:txBody>
          <a:bodyPr wrap="square" lIns="0" tIns="0" rIns="0" bIns="0" rtlCol="0" anchor="ctr"/>
          <a:lstStyle/>
          <a:p>
            <a:pPr indent="0" marL="0">
              <a:buNone/>
            </a:pPr>
            <a:r>
              <a:rPr lang="en-US" sz="1600" b="1" dirty="0">
                <a:solidFill>
                  <a:srgbClr val="B85042"/>
                </a:solidFill>
                <a:latin typeface="Calibri" pitchFamily="34" charset="0"/>
                <a:ea typeface="Calibri" pitchFamily="34" charset="-122"/>
                <a:cs typeface="Calibri" pitchFamily="34" charset="-120"/>
              </a:rPr>
              <a:t>Weight sharing</a:t>
            </a:r>
            <a:endParaRPr lang="en-US" sz="1600" dirty="0"/>
          </a:p>
        </p:txBody>
      </p:sp>
      <p:sp>
        <p:nvSpPr>
          <p:cNvPr id="14" name="Text 12"/>
          <p:cNvSpPr txBox="1"/>
          <p:nvPr/>
        </p:nvSpPr>
        <p:spPr>
          <a:xfrm>
            <a:off x="6629400" y="2788920"/>
            <a:ext cx="4709160" cy="411480"/>
          </a:xfrm>
          <a:prstGeom prst="rect">
            <a:avLst/>
          </a:prstGeom>
          <a:noFill/>
          <a:ln/>
        </p:spPr>
        <p:txBody>
          <a:bodyPr wrap="square" lIns="0" tIns="0" rIns="0" bIns="0" rtlCol="0" anchor="ctr"/>
          <a:lstStyle/>
          <a:p>
            <a:pPr indent="0" marL="0">
              <a:buNone/>
            </a:pPr>
            <a:r>
              <a:rPr lang="en-US" sz="1350" dirty="0">
                <a:solidFill>
                  <a:srgbClr val="2E2A27"/>
                </a:solidFill>
                <a:latin typeface="Calibri" pitchFamily="34" charset="0"/>
                <a:ea typeface="Calibri" pitchFamily="34" charset="-122"/>
                <a:cs typeface="Calibri" pitchFamily="34" charset="-120"/>
              </a:rPr>
              <a:t>the same kernel slides everywhere → parameter count independent of image size</a:t>
            </a:r>
            <a:endParaRPr lang="en-US" sz="1350" dirty="0"/>
          </a:p>
        </p:txBody>
      </p:sp>
      <p:sp>
        <p:nvSpPr>
          <p:cNvPr id="15" name="Shape 13"/>
          <p:cNvSpPr/>
          <p:nvPr/>
        </p:nvSpPr>
        <p:spPr>
          <a:xfrm>
            <a:off x="548640" y="3611880"/>
            <a:ext cx="11109960" cy="2468880"/>
          </a:xfrm>
          <a:prstGeom prst="roundRect">
            <a:avLst>
              <a:gd name="adj" fmla="val 3333"/>
            </a:avLst>
          </a:prstGeom>
          <a:solidFill>
            <a:srgbClr val="E7E8D1"/>
          </a:solidFill>
          <a:ln w="12700">
            <a:solidFill>
              <a:srgbClr val="E7E8D1"/>
            </a:solidFill>
            <a:prstDash val="solid"/>
          </a:ln>
        </p:spPr>
      </p:sp>
      <p:sp>
        <p:nvSpPr>
          <p:cNvPr id="16" name="Text 14"/>
          <p:cNvSpPr txBox="1"/>
          <p:nvPr/>
        </p:nvSpPr>
        <p:spPr>
          <a:xfrm>
            <a:off x="914400" y="3794760"/>
            <a:ext cx="10424160" cy="320040"/>
          </a:xfrm>
          <a:prstGeom prst="rect">
            <a:avLst/>
          </a:prstGeom>
          <a:noFill/>
          <a:ln/>
        </p:spPr>
        <p:txBody>
          <a:bodyPr wrap="square" lIns="0" tIns="0" rIns="0" bIns="0" rtlCol="0" anchor="ctr"/>
          <a:lstStyle/>
          <a:p>
            <a:pPr indent="0" marL="0">
              <a:buNone/>
            </a:pPr>
            <a:r>
              <a:rPr lang="en-US" sz="1800" b="1" dirty="0">
                <a:solidFill>
                  <a:srgbClr val="B85042"/>
                </a:solidFill>
                <a:latin typeface="Century Schoolbook" pitchFamily="34" charset="0"/>
                <a:ea typeface="Century Schoolbook" pitchFamily="34" charset="-122"/>
                <a:cs typeface="Century Schoolbook" pitchFamily="34" charset="-120"/>
              </a:rPr>
              <a:t>The four building blocks</a:t>
            </a:r>
            <a:endParaRPr lang="en-US" sz="1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14400" y="4206240"/>
          <a:ext cx="10378440" cy="914400"/>
        </p:xfrm>
        <a:graphic>
          <a:graphicData uri="http://schemas.openxmlformats.org/drawingml/2006/table">
            <a:tbl>
              <a:tblPr/>
              <a:tblGrid>
                <a:gridCol w="1828800"/>
                <a:gridCol w="5989320"/>
                <a:gridCol w="2560320"/>
              </a:tblGrid>
              <a:tr h="301752">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Layer</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What it does</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Learnable weights</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01752">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Conv2D</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M kernels slide over the input, one feature map each</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M × (K × K × C_in + 1)</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01752">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ReLU</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max(0, z) — the non-linearity; without it the stack collapses to one linear map</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01752">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MaxPooling2D</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keeps the max of each 2 × 2 window → halves height and width</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01752">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Flatten + Dense</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flattens the volume and classifies</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n_in × n_out + n_out</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ellipse">
            <a:avLst/>
          </a:prstGeom>
          <a:solidFill>
            <a:srgbClr val="B85042"/>
          </a:solidFill>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entury Schoolbook" pitchFamily="34" charset="0"/>
                <a:ea typeface="Century Schoolbook" pitchFamily="34" charset="-122"/>
                <a:cs typeface="Century Schoolbook" pitchFamily="34" charset="-120"/>
              </a:rPr>
              <a:t>3</a:t>
            </a:r>
            <a:endParaRPr lang="en-US" sz="2000" dirty="0"/>
          </a:p>
        </p:txBody>
      </p:sp>
      <p:sp>
        <p:nvSpPr>
          <p:cNvPr id="4" name="Text 2"/>
          <p:cNvSpPr txBox="1"/>
          <p:nvPr/>
        </p:nvSpPr>
        <p:spPr>
          <a:xfrm>
            <a:off x="1298448" y="384048"/>
            <a:ext cx="10241280" cy="640080"/>
          </a:xfrm>
          <a:prstGeom prst="rect">
            <a:avLst/>
          </a:prstGeom>
          <a:noFill/>
          <a:ln/>
        </p:spPr>
        <p:txBody>
          <a:bodyPr wrap="square" lIns="0" tIns="0" rIns="0" bIns="0" rtlCol="0" anchor="ctr"/>
          <a:lstStyle/>
          <a:p>
            <a:pPr indent="0" marL="0">
              <a:buNone/>
            </a:pPr>
            <a:r>
              <a:rPr lang="en-US" sz="3000" b="1" dirty="0">
                <a:solidFill>
                  <a:srgbClr val="2E2A27"/>
                </a:solidFill>
                <a:latin typeface="Century Schoolbook" pitchFamily="34" charset="0"/>
                <a:ea typeface="Century Schoolbook" pitchFamily="34" charset="-122"/>
                <a:cs typeface="Century Schoolbook" pitchFamily="34" charset="-120"/>
              </a:rPr>
              <a:t>Architecture and parameter count</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6035040" cy="914400"/>
        </p:xfrm>
        <a:graphic>
          <a:graphicData uri="http://schemas.openxmlformats.org/drawingml/2006/table">
            <a:tbl>
              <a:tblPr/>
              <a:tblGrid>
                <a:gridCol w="3200400"/>
                <a:gridCol w="1554480"/>
                <a:gridCol w="1280160"/>
              </a:tblGrid>
              <a:tr h="26517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Layer</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B2A2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Output</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B2A2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Params</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B2A26"/>
                    </a:solidFill>
                  </a:tcPr>
                </a:tc>
              </a:tr>
              <a:tr h="265176">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Rescaling 1/255</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150 × 150 × 3</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r>
              <a:tr h="265176">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Conv2D 32 @ 3×3 + ReLU</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148 × 148 × 32</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b="1" dirty="0">
                          <a:solidFill>
                            <a:srgbClr val="B85042"/>
                          </a:solidFill>
                          <a:latin typeface="Calibri" pitchFamily="34" charset="0"/>
                          <a:ea typeface="Calibri" pitchFamily="34" charset="-122"/>
                          <a:cs typeface="Calibri" pitchFamily="34" charset="-120"/>
                        </a:rPr>
                        <a:t>896</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MaxPooling 2×2</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74 × 74 × 32</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r>
              <a:tr h="265176">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Conv2D 64 @ 3×3 + ReLU</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72 × 72 × 64</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b="1" dirty="0">
                          <a:solidFill>
                            <a:srgbClr val="B85042"/>
                          </a:solidFill>
                          <a:latin typeface="Calibri" pitchFamily="34" charset="0"/>
                          <a:ea typeface="Calibri" pitchFamily="34" charset="-122"/>
                          <a:cs typeface="Calibri" pitchFamily="34" charset="-120"/>
                        </a:rPr>
                        <a:t>18,496</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MaxPooling 2×2</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36 × 36 × 64</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r>
              <a:tr h="265176">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Conv2D 128 @ 3×3 + ReLU</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34 × 34 × 128</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b="1" dirty="0">
                          <a:solidFill>
                            <a:srgbClr val="B85042"/>
                          </a:solidFill>
                          <a:latin typeface="Calibri" pitchFamily="34" charset="0"/>
                          <a:ea typeface="Calibri" pitchFamily="34" charset="-122"/>
                          <a:cs typeface="Calibri" pitchFamily="34" charset="-120"/>
                        </a:rPr>
                        <a:t>73,856</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MaxPooling 2×2</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17 × 17 × 128</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r>
              <a:tr h="265176">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Conv2D 128 @ 3×3 + ReLU</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15 × 15 × 128</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b="1" dirty="0">
                          <a:solidFill>
                            <a:srgbClr val="B85042"/>
                          </a:solidFill>
                          <a:latin typeface="Calibri" pitchFamily="34" charset="0"/>
                          <a:ea typeface="Calibri" pitchFamily="34" charset="-122"/>
                          <a:cs typeface="Calibri" pitchFamily="34" charset="-120"/>
                        </a:rPr>
                        <a:t>147,584</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MaxPooling 2×2</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7 × 7 × 128</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r>
              <a:tr h="265176">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Flatten</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6,272</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65176">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Dense 128 + ReLU</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128</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c>
                  <a:txBody>
                    <a:bodyPr/>
                    <a:lstStyle/>
                    <a:p>
                      <a:pPr indent="0" marL="0">
                        <a:buNone/>
                      </a:pPr>
                      <a:r>
                        <a:rPr lang="en-US" sz="1150" b="1" dirty="0">
                          <a:solidFill>
                            <a:srgbClr val="B85042"/>
                          </a:solidFill>
                          <a:latin typeface="Calibri" pitchFamily="34" charset="0"/>
                          <a:ea typeface="Calibri" pitchFamily="34" charset="-122"/>
                          <a:cs typeface="Calibri" pitchFamily="34" charset="-120"/>
                        </a:rPr>
                        <a:t>802,944</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r>
              <a:tr h="265176">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Dense 1 + sigmoid</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dirty="0">
                          <a:solidFill>
                            <a:srgbClr val="2E2A27"/>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50" b="1" dirty="0">
                          <a:solidFill>
                            <a:srgbClr val="B85042"/>
                          </a:solidFill>
                          <a:latin typeface="Calibri" pitchFamily="34" charset="0"/>
                          <a:ea typeface="Calibri" pitchFamily="34" charset="-122"/>
                          <a:cs typeface="Calibri" pitchFamily="34" charset="-120"/>
                        </a:rPr>
                        <a:t>129</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6" name="Shape 3"/>
          <p:cNvSpPr/>
          <p:nvPr/>
        </p:nvSpPr>
        <p:spPr>
          <a:xfrm>
            <a:off x="6903720" y="1234440"/>
            <a:ext cx="4754880" cy="1371600"/>
          </a:xfrm>
          <a:prstGeom prst="roundRect">
            <a:avLst>
              <a:gd name="adj" fmla="val 6000"/>
            </a:avLst>
          </a:prstGeom>
          <a:solidFill>
            <a:srgbClr val="E7E8D1"/>
          </a:solidFill>
          <a:ln w="12700">
            <a:solidFill>
              <a:srgbClr val="E7E8D1"/>
            </a:solidFill>
            <a:prstDash val="solid"/>
          </a:ln>
        </p:spPr>
      </p:sp>
      <p:sp>
        <p:nvSpPr>
          <p:cNvPr id="7" name="Text 4"/>
          <p:cNvSpPr txBox="1"/>
          <p:nvPr/>
        </p:nvSpPr>
        <p:spPr>
          <a:xfrm>
            <a:off x="7178040" y="1417320"/>
            <a:ext cx="4206240" cy="292608"/>
          </a:xfrm>
          <a:prstGeom prst="rect">
            <a:avLst/>
          </a:prstGeom>
          <a:noFill/>
          <a:ln/>
        </p:spPr>
        <p:txBody>
          <a:bodyPr wrap="square" lIns="0" tIns="0" rIns="0" bIns="0" rtlCol="0" anchor="ctr"/>
          <a:lstStyle/>
          <a:p>
            <a:pPr indent="0" marL="0">
              <a:buNone/>
            </a:pPr>
            <a:r>
              <a:rPr lang="en-US" sz="1500" b="1" dirty="0">
                <a:solidFill>
                  <a:srgbClr val="B85042"/>
                </a:solidFill>
                <a:latin typeface="Courier New" pitchFamily="34" charset="0"/>
                <a:ea typeface="Courier New" pitchFamily="34" charset="-122"/>
                <a:cs typeface="Courier New" pitchFamily="34" charset="-120"/>
              </a:rPr>
              <a:t>params = M × (K × K × C_in + 1)</a:t>
            </a:r>
            <a:endParaRPr lang="en-US" sz="1500" dirty="0"/>
          </a:p>
        </p:txBody>
      </p:sp>
      <p:sp>
        <p:nvSpPr>
          <p:cNvPr id="8" name="Text 5"/>
          <p:cNvSpPr txBox="1"/>
          <p:nvPr/>
        </p:nvSpPr>
        <p:spPr>
          <a:xfrm>
            <a:off x="7178040" y="1783080"/>
            <a:ext cx="4206240" cy="274320"/>
          </a:xfrm>
          <a:prstGeom prst="rect">
            <a:avLst/>
          </a:prstGeom>
          <a:noFill/>
          <a:ln/>
        </p:spPr>
        <p:txBody>
          <a:bodyPr wrap="square" lIns="0" tIns="0" rIns="0" bIns="0" rtlCol="0" anchor="ctr"/>
          <a:lstStyle/>
          <a:p>
            <a:pPr indent="0" marL="0">
              <a:buNone/>
            </a:pPr>
            <a:r>
              <a:rPr lang="en-US" sz="1350" dirty="0">
                <a:solidFill>
                  <a:srgbClr val="2E2A27"/>
                </a:solidFill>
                <a:latin typeface="Calibri" pitchFamily="34" charset="0"/>
                <a:ea typeface="Calibri" pitchFamily="34" charset="-122"/>
                <a:cs typeface="Calibri" pitchFamily="34" charset="-120"/>
              </a:rPr>
              <a:t>block 2:  64 × (3 × 3 × 32 + 1) = 18,496</a:t>
            </a:r>
            <a:endParaRPr lang="en-US" sz="1350" dirty="0"/>
          </a:p>
        </p:txBody>
      </p:sp>
      <p:sp>
        <p:nvSpPr>
          <p:cNvPr id="9" name="Text 6"/>
          <p:cNvSpPr txBox="1"/>
          <p:nvPr/>
        </p:nvSpPr>
        <p:spPr>
          <a:xfrm>
            <a:off x="7178040" y="2103120"/>
            <a:ext cx="4206240" cy="365760"/>
          </a:xfrm>
          <a:prstGeom prst="rect">
            <a:avLst/>
          </a:prstGeom>
          <a:noFill/>
          <a:ln/>
        </p:spPr>
        <p:txBody>
          <a:bodyPr wrap="square" lIns="0" tIns="0" rIns="0" bIns="0" rtlCol="0" anchor="ctr"/>
          <a:lstStyle/>
          <a:p>
            <a:pPr indent="0" marL="0">
              <a:buNone/>
            </a:pPr>
            <a:r>
              <a:rPr lang="en-US" sz="1250" dirty="0">
                <a:solidFill>
                  <a:srgbClr val="6E6560"/>
                </a:solidFill>
                <a:latin typeface="Calibri" pitchFamily="34" charset="0"/>
                <a:ea typeface="Calibri" pitchFamily="34" charset="-122"/>
                <a:cs typeface="Calibri" pitchFamily="34" charset="-120"/>
              </a:rPr>
              <a:t>M = filters, K = kernel size, +1 = one bias per filter</a:t>
            </a:r>
            <a:endParaRPr lang="en-US" sz="1250" dirty="0"/>
          </a:p>
        </p:txBody>
      </p:sp>
      <p:sp>
        <p:nvSpPr>
          <p:cNvPr id="10" name="Shape 7"/>
          <p:cNvSpPr/>
          <p:nvPr/>
        </p:nvSpPr>
        <p:spPr>
          <a:xfrm>
            <a:off x="6903720" y="2834640"/>
            <a:ext cx="4754880" cy="1554480"/>
          </a:xfrm>
          <a:prstGeom prst="roundRect">
            <a:avLst>
              <a:gd name="adj" fmla="val 5294"/>
            </a:avLst>
          </a:prstGeom>
          <a:solidFill>
            <a:srgbClr val="3B2A26"/>
          </a:solidFill>
          <a:ln w="12700">
            <a:solidFill>
              <a:srgbClr val="3B2A26"/>
            </a:solidFill>
            <a:prstDash val="solid"/>
          </a:ln>
        </p:spPr>
      </p:sp>
      <p:sp>
        <p:nvSpPr>
          <p:cNvPr id="11" name="Text 8"/>
          <p:cNvSpPr txBox="1"/>
          <p:nvPr/>
        </p:nvSpPr>
        <p:spPr>
          <a:xfrm>
            <a:off x="7178040" y="2999232"/>
            <a:ext cx="4206240" cy="274320"/>
          </a:xfrm>
          <a:prstGeom prst="rect">
            <a:avLst/>
          </a:prstGeom>
          <a:noFill/>
          <a:ln/>
        </p:spPr>
        <p:txBody>
          <a:bodyPr wrap="square" lIns="0" tIns="0" rIns="0" bIns="0" rtlCol="0" anchor="ctr"/>
          <a:lstStyle/>
          <a:p>
            <a:pPr indent="0" marL="0">
              <a:buNone/>
            </a:pPr>
            <a:r>
              <a:rPr lang="en-US" sz="1300" dirty="0">
                <a:solidFill>
                  <a:srgbClr val="E7E8D1"/>
                </a:solidFill>
                <a:latin typeface="Calibri" pitchFamily="34" charset="0"/>
                <a:ea typeface="Calibri" pitchFamily="34" charset="-122"/>
                <a:cs typeface="Calibri" pitchFamily="34" charset="-120"/>
              </a:rPr>
              <a:t>TOTAL PARAMETERS</a:t>
            </a:r>
            <a:endParaRPr lang="en-US" sz="1300" dirty="0"/>
          </a:p>
        </p:txBody>
      </p:sp>
      <p:sp>
        <p:nvSpPr>
          <p:cNvPr id="12" name="Text 9"/>
          <p:cNvSpPr txBox="1"/>
          <p:nvPr/>
        </p:nvSpPr>
        <p:spPr>
          <a:xfrm>
            <a:off x="7178040" y="3291840"/>
            <a:ext cx="4206240" cy="731520"/>
          </a:xfrm>
          <a:prstGeom prst="rect">
            <a:avLst/>
          </a:prstGeom>
          <a:noFill/>
          <a:ln/>
        </p:spPr>
        <p:txBody>
          <a:bodyPr wrap="square" lIns="0" tIns="0" rIns="0" bIns="0" rtlCol="0" anchor="ctr"/>
          <a:lstStyle/>
          <a:p>
            <a:pPr indent="0" marL="0">
              <a:buNone/>
            </a:pPr>
            <a:r>
              <a:rPr lang="en-US" sz="4000" b="1" dirty="0">
                <a:solidFill>
                  <a:srgbClr val="FFFFFF"/>
                </a:solidFill>
                <a:latin typeface="Century Schoolbook" pitchFamily="34" charset="0"/>
                <a:ea typeface="Century Schoolbook" pitchFamily="34" charset="-122"/>
                <a:cs typeface="Century Schoolbook" pitchFamily="34" charset="-120"/>
              </a:rPr>
              <a:t>1,043,905</a:t>
            </a:r>
            <a:endParaRPr lang="en-US" sz="4000" dirty="0"/>
          </a:p>
        </p:txBody>
      </p:sp>
      <p:sp>
        <p:nvSpPr>
          <p:cNvPr id="13" name="Text 10"/>
          <p:cNvSpPr txBox="1"/>
          <p:nvPr/>
        </p:nvSpPr>
        <p:spPr>
          <a:xfrm>
            <a:off x="7178040" y="4023360"/>
            <a:ext cx="4206240" cy="457200"/>
          </a:xfrm>
          <a:prstGeom prst="rect">
            <a:avLst/>
          </a:prstGeom>
          <a:noFill/>
          <a:ln/>
        </p:spPr>
        <p:txBody>
          <a:bodyPr wrap="square" lIns="0" tIns="0" rIns="0" bIns="0" rtlCol="0" anchor="ctr"/>
          <a:lstStyle/>
          <a:p>
            <a:pPr indent="0" marL="0">
              <a:buNone/>
            </a:pPr>
            <a:r>
              <a:rPr lang="en-US" sz="1250" dirty="0">
                <a:solidFill>
                  <a:srgbClr val="A7BEAE"/>
                </a:solidFill>
                <a:latin typeface="Calibri" pitchFamily="34" charset="0"/>
                <a:ea typeface="Calibri" pitchFamily="34" charset="-122"/>
                <a:cs typeface="Calibri" pitchFamily="34" charset="-120"/>
              </a:rPr>
              <a:t>computed by hand, matches model.summary() exactly</a:t>
            </a:r>
            <a:endParaRPr lang="en-US" sz="1250" dirty="0"/>
          </a:p>
        </p:txBody>
      </p:sp>
      <p:sp>
        <p:nvSpPr>
          <p:cNvPr id="14" name="Shape 11"/>
          <p:cNvSpPr/>
          <p:nvPr/>
        </p:nvSpPr>
        <p:spPr>
          <a:xfrm>
            <a:off x="6903720" y="4617720"/>
            <a:ext cx="4754880" cy="1463040"/>
          </a:xfrm>
          <a:prstGeom prst="roundRect">
            <a:avLst>
              <a:gd name="adj" fmla="val 5625"/>
            </a:avLst>
          </a:prstGeom>
          <a:solidFill>
            <a:srgbClr val="A7BEAE"/>
          </a:solidFill>
          <a:ln w="12700">
            <a:solidFill>
              <a:srgbClr val="A7BEAE"/>
            </a:solidFill>
            <a:prstDash val="solid"/>
          </a:ln>
        </p:spPr>
      </p:sp>
      <p:sp>
        <p:nvSpPr>
          <p:cNvPr id="15" name="Text 12"/>
          <p:cNvSpPr txBox="1"/>
          <p:nvPr/>
        </p:nvSpPr>
        <p:spPr>
          <a:xfrm>
            <a:off x="7178040" y="4800600"/>
            <a:ext cx="4206240" cy="274320"/>
          </a:xfrm>
          <a:prstGeom prst="rect">
            <a:avLst/>
          </a:prstGeom>
          <a:noFill/>
          <a:ln/>
        </p:spPr>
        <p:txBody>
          <a:bodyPr wrap="square" lIns="0" tIns="0" rIns="0" bIns="0" rtlCol="0" anchor="ctr"/>
          <a:lstStyle/>
          <a:p>
            <a:pPr indent="0" marL="0">
              <a:buNone/>
            </a:pPr>
            <a:r>
              <a:rPr lang="en-US" sz="1600" b="1" dirty="0">
                <a:solidFill>
                  <a:srgbClr val="3B2A26"/>
                </a:solidFill>
                <a:latin typeface="Century Schoolbook" pitchFamily="34" charset="0"/>
                <a:ea typeface="Century Schoolbook" pitchFamily="34" charset="-122"/>
                <a:cs typeface="Century Schoolbook" pitchFamily="34" charset="-120"/>
              </a:rPr>
              <a:t>77% sit in one dense layer</a:t>
            </a:r>
            <a:endParaRPr lang="en-US" sz="1600" dirty="0"/>
          </a:p>
        </p:txBody>
      </p:sp>
      <p:sp>
        <p:nvSpPr>
          <p:cNvPr id="16" name="Text 13"/>
          <p:cNvSpPr txBox="1"/>
          <p:nvPr/>
        </p:nvSpPr>
        <p:spPr>
          <a:xfrm>
            <a:off x="7178040" y="5138928"/>
            <a:ext cx="4206240" cy="822960"/>
          </a:xfrm>
          <a:prstGeom prst="rect">
            <a:avLst/>
          </a:prstGeom>
          <a:noFill/>
          <a:ln/>
        </p:spPr>
        <p:txBody>
          <a:bodyPr wrap="square" lIns="0" tIns="0" rIns="0" bIns="0" rtlCol="0" anchor="ctr"/>
          <a:lstStyle/>
          <a:p>
            <a:pPr indent="0" marL="0">
              <a:buNone/>
            </a:pPr>
            <a:r>
              <a:rPr lang="en-US" sz="1300" dirty="0">
                <a:solidFill>
                  <a:srgbClr val="2E2A27"/>
                </a:solidFill>
                <a:latin typeface="Calibri" pitchFamily="34" charset="0"/>
                <a:ea typeface="Calibri" pitchFamily="34" charset="-122"/>
                <a:cs typeface="Calibri" pitchFamily="34" charset="-120"/>
              </a:rPr>
              <a:t>Dense(128) alone: 802,944 params.</a:t>
            </a:r>
            <a:endParaRPr lang="en-US" sz="1300" dirty="0"/>
          </a:p>
          <a:p>
            <a:pPr indent="0" marL="0">
              <a:buNone/>
            </a:pPr>
            <a:r>
              <a:rPr lang="en-US" sz="1300" dirty="0">
                <a:solidFill>
                  <a:srgbClr val="2E2A27"/>
                </a:solidFill>
                <a:latin typeface="Calibri" pitchFamily="34" charset="0"/>
                <a:ea typeface="Calibri" pitchFamily="34" charset="-122"/>
                <a:cs typeface="Calibri" pitchFamily="34" charset="-120"/>
              </a:rPr>
              <a:t>All four conv blocks together: 240,832.</a:t>
            </a:r>
            <a:endParaRPr lang="en-US" sz="1300" dirty="0"/>
          </a:p>
          <a:p>
            <a:pPr indent="0" marL="0">
              <a:buNone/>
            </a:pPr>
            <a:r>
              <a:rPr lang="en-US" sz="1300" dirty="0">
                <a:solidFill>
                  <a:srgbClr val="2E2A27"/>
                </a:solidFill>
                <a:latin typeface="Calibri" pitchFamily="34" charset="0"/>
                <a:ea typeface="Calibri" pitchFamily="34" charset="-122"/>
                <a:cs typeface="Calibri" pitchFamily="34" charset="-120"/>
              </a:rPr>
              <a:t>Weight sharing is what makes convolution cheap.</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ellipse">
            <a:avLst/>
          </a:prstGeom>
          <a:solidFill>
            <a:srgbClr val="B85042"/>
          </a:solidFill>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entury Schoolbook" pitchFamily="34" charset="0"/>
                <a:ea typeface="Century Schoolbook" pitchFamily="34" charset="-122"/>
                <a:cs typeface="Century Schoolbook" pitchFamily="34" charset="-120"/>
              </a:rPr>
              <a:t>4</a:t>
            </a:r>
            <a:endParaRPr lang="en-US" sz="2000" dirty="0"/>
          </a:p>
        </p:txBody>
      </p:sp>
      <p:sp>
        <p:nvSpPr>
          <p:cNvPr id="4" name="Text 2"/>
          <p:cNvSpPr txBox="1"/>
          <p:nvPr/>
        </p:nvSpPr>
        <p:spPr>
          <a:xfrm>
            <a:off x="1298448" y="384048"/>
            <a:ext cx="10241280" cy="640080"/>
          </a:xfrm>
          <a:prstGeom prst="rect">
            <a:avLst/>
          </a:prstGeom>
          <a:noFill/>
          <a:ln/>
        </p:spPr>
        <p:txBody>
          <a:bodyPr wrap="square" lIns="0" tIns="0" rIns="0" bIns="0" rtlCol="0" anchor="ctr"/>
          <a:lstStyle/>
          <a:p>
            <a:pPr indent="0" marL="0">
              <a:buNone/>
            </a:pPr>
            <a:r>
              <a:rPr lang="en-US" sz="3000" b="1" dirty="0">
                <a:solidFill>
                  <a:srgbClr val="2E2A27"/>
                </a:solidFill>
                <a:latin typeface="Century Schoolbook" pitchFamily="34" charset="0"/>
                <a:ea typeface="Century Schoolbook" pitchFamily="34" charset="-122"/>
                <a:cs typeface="Century Schoolbook" pitchFamily="34" charset="-120"/>
              </a:rPr>
              <a:t>Training: the model memorises</a:t>
            </a:r>
            <a:endParaRPr lang="en-US" sz="3000" dirty="0"/>
          </a:p>
        </p:txBody>
      </p:sp>
      <p:pic>
        <p:nvPicPr>
          <p:cNvPr id="5" name="Image 0" descr="/home/claude/projet/v2/figures/curves_A.png">    </p:cNvPr>
          <p:cNvPicPr>
            <a:picLocks noChangeAspect="1"/>
          </p:cNvPicPr>
          <p:nvPr/>
        </p:nvPicPr>
        <p:blipFill>
          <a:blip r:embed="rId1"/>
          <a:stretch>
            <a:fillRect/>
          </a:stretch>
        </p:blipFill>
        <p:spPr>
          <a:xfrm>
            <a:off x="548640" y="1188720"/>
            <a:ext cx="7772400" cy="2587752"/>
          </a:xfrm>
          <a:prstGeom prst="rect">
            <a:avLst/>
          </a:prstGeom>
        </p:spPr>
      </p:pic>
      <p:sp>
        <p:nvSpPr>
          <p:cNvPr id="6" name="Shape 3"/>
          <p:cNvSpPr/>
          <p:nvPr/>
        </p:nvSpPr>
        <p:spPr>
          <a:xfrm>
            <a:off x="8595360" y="1188720"/>
            <a:ext cx="3063240" cy="2587752"/>
          </a:xfrm>
          <a:prstGeom prst="roundRect">
            <a:avLst>
              <a:gd name="adj" fmla="val 3180"/>
            </a:avLst>
          </a:prstGeom>
          <a:solidFill>
            <a:srgbClr val="3B2A26"/>
          </a:solidFill>
          <a:ln w="12700">
            <a:solidFill>
              <a:srgbClr val="3B2A26"/>
            </a:solidFill>
            <a:prstDash val="solid"/>
          </a:ln>
        </p:spPr>
      </p:sp>
      <p:sp>
        <p:nvSpPr>
          <p:cNvPr id="7" name="Text 4"/>
          <p:cNvSpPr txBox="1"/>
          <p:nvPr/>
        </p:nvSpPr>
        <p:spPr>
          <a:xfrm>
            <a:off x="8869680" y="1371600"/>
            <a:ext cx="2560320" cy="274320"/>
          </a:xfrm>
          <a:prstGeom prst="rect">
            <a:avLst/>
          </a:prstGeom>
          <a:noFill/>
          <a:ln/>
        </p:spPr>
        <p:txBody>
          <a:bodyPr wrap="square" lIns="0" tIns="0" rIns="0" bIns="0" rtlCol="0" anchor="ctr"/>
          <a:lstStyle/>
          <a:p>
            <a:pPr indent="0" marL="0">
              <a:buNone/>
            </a:pPr>
            <a:r>
              <a:rPr lang="en-US" sz="1200" dirty="0">
                <a:solidFill>
                  <a:srgbClr val="E7E8D1"/>
                </a:solidFill>
                <a:latin typeface="Calibri" pitchFamily="34" charset="0"/>
                <a:ea typeface="Calibri" pitchFamily="34" charset="-122"/>
                <a:cs typeface="Calibri" pitchFamily="34" charset="-120"/>
              </a:rPr>
              <a:t>AFTER 15 EPOCHS</a:t>
            </a:r>
            <a:endParaRPr lang="en-US" sz="1200" dirty="0"/>
          </a:p>
        </p:txBody>
      </p:sp>
      <p:sp>
        <p:nvSpPr>
          <p:cNvPr id="8" name="Text 5"/>
          <p:cNvSpPr txBox="1"/>
          <p:nvPr/>
        </p:nvSpPr>
        <p:spPr>
          <a:xfrm>
            <a:off x="8869680" y="1645920"/>
            <a:ext cx="2560320" cy="502920"/>
          </a:xfrm>
          <a:prstGeom prst="rect">
            <a:avLst/>
          </a:prstGeom>
          <a:noFill/>
          <a:ln/>
        </p:spPr>
        <p:txBody>
          <a:bodyPr wrap="square" lIns="0" tIns="0" rIns="0" bIns="0" rtlCol="0" anchor="ctr"/>
          <a:lstStyle/>
          <a:p>
            <a:pPr indent="0" marL="0">
              <a:buNone/>
            </a:pPr>
            <a:r>
              <a:rPr lang="en-US" sz="3200" b="1" dirty="0">
                <a:solidFill>
                  <a:srgbClr val="FFFFFF"/>
                </a:solidFill>
                <a:latin typeface="Century Schoolbook" pitchFamily="34" charset="0"/>
                <a:ea typeface="Century Schoolbook" pitchFamily="34" charset="-122"/>
                <a:cs typeface="Century Schoolbook" pitchFamily="34" charset="-120"/>
              </a:rPr>
              <a:t>0.875</a:t>
            </a:r>
            <a:endParaRPr lang="en-US" sz="3200" dirty="0"/>
          </a:p>
        </p:txBody>
      </p:sp>
      <p:sp>
        <p:nvSpPr>
          <p:cNvPr id="9" name="Text 6"/>
          <p:cNvSpPr txBox="1"/>
          <p:nvPr/>
        </p:nvSpPr>
        <p:spPr>
          <a:xfrm>
            <a:off x="8869680" y="2121408"/>
            <a:ext cx="2560320" cy="228600"/>
          </a:xfrm>
          <a:prstGeom prst="rect">
            <a:avLst/>
          </a:prstGeom>
          <a:noFill/>
          <a:ln/>
        </p:spPr>
        <p:txBody>
          <a:bodyPr wrap="square" lIns="0" tIns="0" rIns="0" bIns="0" rtlCol="0" anchor="ctr"/>
          <a:lstStyle/>
          <a:p>
            <a:pPr indent="0" marL="0">
              <a:buNone/>
            </a:pPr>
            <a:r>
              <a:rPr lang="en-US" sz="1200" dirty="0">
                <a:solidFill>
                  <a:srgbClr val="E7E8D1"/>
                </a:solidFill>
                <a:latin typeface="Calibri" pitchFamily="34" charset="0"/>
                <a:ea typeface="Calibri" pitchFamily="34" charset="-122"/>
                <a:cs typeface="Calibri" pitchFamily="34" charset="-120"/>
              </a:rPr>
              <a:t>training accuracy</a:t>
            </a:r>
            <a:endParaRPr lang="en-US" sz="1200" dirty="0"/>
          </a:p>
        </p:txBody>
      </p:sp>
      <p:sp>
        <p:nvSpPr>
          <p:cNvPr id="10" name="Text 7"/>
          <p:cNvSpPr txBox="1"/>
          <p:nvPr/>
        </p:nvSpPr>
        <p:spPr>
          <a:xfrm>
            <a:off x="8869680" y="2395728"/>
            <a:ext cx="2560320" cy="502920"/>
          </a:xfrm>
          <a:prstGeom prst="rect">
            <a:avLst/>
          </a:prstGeom>
          <a:noFill/>
          <a:ln/>
        </p:spPr>
        <p:txBody>
          <a:bodyPr wrap="square" lIns="0" tIns="0" rIns="0" bIns="0" rtlCol="0" anchor="ctr"/>
          <a:lstStyle/>
          <a:p>
            <a:pPr indent="0" marL="0">
              <a:buNone/>
            </a:pPr>
            <a:r>
              <a:rPr lang="en-US" sz="3200" b="1" dirty="0">
                <a:solidFill>
                  <a:srgbClr val="A7BEAE"/>
                </a:solidFill>
                <a:latin typeface="Century Schoolbook" pitchFamily="34" charset="0"/>
                <a:ea typeface="Century Schoolbook" pitchFamily="34" charset="-122"/>
                <a:cs typeface="Century Schoolbook" pitchFamily="34" charset="-120"/>
              </a:rPr>
              <a:t>0.696</a:t>
            </a:r>
            <a:endParaRPr lang="en-US" sz="3200" dirty="0"/>
          </a:p>
        </p:txBody>
      </p:sp>
      <p:sp>
        <p:nvSpPr>
          <p:cNvPr id="11" name="Text 8"/>
          <p:cNvSpPr txBox="1"/>
          <p:nvPr/>
        </p:nvSpPr>
        <p:spPr>
          <a:xfrm>
            <a:off x="8869680" y="2871216"/>
            <a:ext cx="2560320" cy="228600"/>
          </a:xfrm>
          <a:prstGeom prst="rect">
            <a:avLst/>
          </a:prstGeom>
          <a:noFill/>
          <a:ln/>
        </p:spPr>
        <p:txBody>
          <a:bodyPr wrap="square" lIns="0" tIns="0" rIns="0" bIns="0" rtlCol="0" anchor="ctr"/>
          <a:lstStyle/>
          <a:p>
            <a:pPr indent="0" marL="0">
              <a:buNone/>
            </a:pPr>
            <a:r>
              <a:rPr lang="en-US" sz="1200" dirty="0">
                <a:solidFill>
                  <a:srgbClr val="E7E8D1"/>
                </a:solidFill>
                <a:latin typeface="Calibri" pitchFamily="34" charset="0"/>
                <a:ea typeface="Calibri" pitchFamily="34" charset="-122"/>
                <a:cs typeface="Calibri" pitchFamily="34" charset="-120"/>
              </a:rPr>
              <a:t>validation accuracy</a:t>
            </a:r>
            <a:endParaRPr lang="en-US" sz="1200" dirty="0"/>
          </a:p>
        </p:txBody>
      </p:sp>
      <p:sp>
        <p:nvSpPr>
          <p:cNvPr id="12" name="Text 9"/>
          <p:cNvSpPr txBox="1"/>
          <p:nvPr/>
        </p:nvSpPr>
        <p:spPr>
          <a:xfrm>
            <a:off x="8869680" y="3200400"/>
            <a:ext cx="2560320" cy="320040"/>
          </a:xfrm>
          <a:prstGeom prst="rect">
            <a:avLst/>
          </a:prstGeom>
          <a:noFill/>
          <a:ln/>
        </p:spPr>
        <p:txBody>
          <a:bodyPr wrap="square" lIns="0" tIns="0" rIns="0" bIns="0" rtlCol="0" anchor="ctr"/>
          <a:lstStyle/>
          <a:p>
            <a:pPr indent="0" marL="0">
              <a:buNone/>
            </a:pPr>
            <a:r>
              <a:rPr lang="en-US" sz="1700" b="1" dirty="0">
                <a:solidFill>
                  <a:srgbClr val="B85042"/>
                </a:solidFill>
                <a:latin typeface="Calibri" pitchFamily="34" charset="0"/>
                <a:ea typeface="Calibri" pitchFamily="34" charset="-122"/>
                <a:cs typeface="Calibri" pitchFamily="34" charset="-120"/>
              </a:rPr>
              <a:t>gap  0.179</a:t>
            </a:r>
            <a:endParaRPr lang="en-US" sz="1700" dirty="0"/>
          </a:p>
        </p:txBody>
      </p:sp>
      <p:sp>
        <p:nvSpPr>
          <p:cNvPr id="13" name="Shape 10"/>
          <p:cNvSpPr/>
          <p:nvPr/>
        </p:nvSpPr>
        <p:spPr>
          <a:xfrm>
            <a:off x="548640" y="4023360"/>
            <a:ext cx="6675120" cy="2057400"/>
          </a:xfrm>
          <a:prstGeom prst="roundRect">
            <a:avLst>
              <a:gd name="adj" fmla="val 4000"/>
            </a:avLst>
          </a:prstGeom>
          <a:solidFill>
            <a:srgbClr val="E7E8D1"/>
          </a:solidFill>
          <a:ln w="12700">
            <a:solidFill>
              <a:srgbClr val="E7E8D1"/>
            </a:solidFill>
            <a:prstDash val="solid"/>
          </a:ln>
        </p:spPr>
      </p:sp>
      <p:sp>
        <p:nvSpPr>
          <p:cNvPr id="14" name="Text 11"/>
          <p:cNvSpPr txBox="1"/>
          <p:nvPr/>
        </p:nvSpPr>
        <p:spPr>
          <a:xfrm>
            <a:off x="868680" y="4206240"/>
            <a:ext cx="6035040" cy="274320"/>
          </a:xfrm>
          <a:prstGeom prst="rect">
            <a:avLst/>
          </a:prstGeom>
          <a:noFill/>
          <a:ln/>
        </p:spPr>
        <p:txBody>
          <a:bodyPr wrap="square" lIns="0" tIns="0" rIns="0" bIns="0" rtlCol="0" anchor="ctr"/>
          <a:lstStyle/>
          <a:p>
            <a:pPr indent="0" marL="0">
              <a:buNone/>
            </a:pPr>
            <a:r>
              <a:rPr lang="en-US" sz="1700" b="1" dirty="0">
                <a:solidFill>
                  <a:srgbClr val="B85042"/>
                </a:solidFill>
                <a:latin typeface="Century Schoolbook" pitchFamily="34" charset="0"/>
                <a:ea typeface="Century Schoolbook" pitchFamily="34" charset="-122"/>
                <a:cs typeface="Century Schoolbook" pitchFamily="34" charset="-120"/>
              </a:rPr>
              <a:t>The evidence</a:t>
            </a:r>
            <a:endParaRPr lang="en-US" sz="1700" dirty="0"/>
          </a:p>
        </p:txBody>
      </p:sp>
      <p:sp>
        <p:nvSpPr>
          <p:cNvPr id="15" name="Text 12"/>
          <p:cNvSpPr txBox="1"/>
          <p:nvPr/>
        </p:nvSpPr>
        <p:spPr>
          <a:xfrm>
            <a:off x="868680" y="4572000"/>
            <a:ext cx="4572000" cy="320040"/>
          </a:xfrm>
          <a:prstGeom prst="rect">
            <a:avLst/>
          </a:prstGeom>
          <a:noFill/>
          <a:ln/>
        </p:spPr>
        <p:txBody>
          <a:bodyPr wrap="square" lIns="0" tIns="0" rIns="0" bIns="0" rtlCol="0" anchor="ctr"/>
          <a:lstStyle/>
          <a:p>
            <a:pPr indent="0" marL="0">
              <a:buNone/>
            </a:pPr>
            <a:r>
              <a:rPr lang="en-US" sz="1400" dirty="0">
                <a:solidFill>
                  <a:srgbClr val="2E2A27"/>
                </a:solidFill>
                <a:latin typeface="Calibri" pitchFamily="34" charset="0"/>
                <a:ea typeface="Calibri" pitchFamily="34" charset="-122"/>
                <a:cs typeface="Calibri" pitchFamily="34" charset="-120"/>
              </a:rPr>
              <a:t>Validation loss bottoms out at epoch 13</a:t>
            </a:r>
            <a:endParaRPr lang="en-US" sz="1400" dirty="0"/>
          </a:p>
        </p:txBody>
      </p:sp>
      <p:sp>
        <p:nvSpPr>
          <p:cNvPr id="16" name="Text 13"/>
          <p:cNvSpPr txBox="1"/>
          <p:nvPr/>
        </p:nvSpPr>
        <p:spPr>
          <a:xfrm>
            <a:off x="5486400" y="4572000"/>
            <a:ext cx="1417320" cy="320040"/>
          </a:xfrm>
          <a:prstGeom prst="rect">
            <a:avLst/>
          </a:prstGeom>
          <a:noFill/>
          <a:ln/>
        </p:spPr>
        <p:txBody>
          <a:bodyPr wrap="square" lIns="0" tIns="0" rIns="0" bIns="0" rtlCol="0" anchor="ctr"/>
          <a:lstStyle/>
          <a:p>
            <a:pPr algn="r" indent="0" marL="0">
              <a:buNone/>
            </a:pPr>
            <a:r>
              <a:rPr lang="en-US" sz="1400" b="1" dirty="0">
                <a:solidFill>
                  <a:srgbClr val="B85042"/>
                </a:solidFill>
                <a:latin typeface="Calibri" pitchFamily="34" charset="0"/>
                <a:ea typeface="Calibri" pitchFamily="34" charset="-122"/>
                <a:cs typeface="Calibri" pitchFamily="34" charset="-120"/>
              </a:rPr>
              <a:t>0.585</a:t>
            </a:r>
            <a:endParaRPr lang="en-US" sz="1400" dirty="0"/>
          </a:p>
        </p:txBody>
      </p:sp>
      <p:sp>
        <p:nvSpPr>
          <p:cNvPr id="17" name="Text 14"/>
          <p:cNvSpPr txBox="1"/>
          <p:nvPr/>
        </p:nvSpPr>
        <p:spPr>
          <a:xfrm>
            <a:off x="868680" y="5029200"/>
            <a:ext cx="4572000" cy="320040"/>
          </a:xfrm>
          <a:prstGeom prst="rect">
            <a:avLst/>
          </a:prstGeom>
          <a:noFill/>
          <a:ln/>
        </p:spPr>
        <p:txBody>
          <a:bodyPr wrap="square" lIns="0" tIns="0" rIns="0" bIns="0" rtlCol="0" anchor="ctr"/>
          <a:lstStyle/>
          <a:p>
            <a:pPr indent="0" marL="0">
              <a:buNone/>
            </a:pPr>
            <a:r>
              <a:rPr lang="en-US" sz="1400" dirty="0">
                <a:solidFill>
                  <a:srgbClr val="2E2A27"/>
                </a:solidFill>
                <a:latin typeface="Calibri" pitchFamily="34" charset="0"/>
                <a:ea typeface="Calibri" pitchFamily="34" charset="-122"/>
                <a:cs typeface="Calibri" pitchFamily="34" charset="-120"/>
              </a:rPr>
              <a:t>…then climbs back to</a:t>
            </a:r>
            <a:endParaRPr lang="en-US" sz="1400" dirty="0"/>
          </a:p>
        </p:txBody>
      </p:sp>
      <p:sp>
        <p:nvSpPr>
          <p:cNvPr id="18" name="Text 15"/>
          <p:cNvSpPr txBox="1"/>
          <p:nvPr/>
        </p:nvSpPr>
        <p:spPr>
          <a:xfrm>
            <a:off x="5486400" y="5029200"/>
            <a:ext cx="1417320" cy="320040"/>
          </a:xfrm>
          <a:prstGeom prst="rect">
            <a:avLst/>
          </a:prstGeom>
          <a:noFill/>
          <a:ln/>
        </p:spPr>
        <p:txBody>
          <a:bodyPr wrap="square" lIns="0" tIns="0" rIns="0" bIns="0" rtlCol="0" anchor="ctr"/>
          <a:lstStyle/>
          <a:p>
            <a:pPr algn="r" indent="0" marL="0">
              <a:buNone/>
            </a:pPr>
            <a:r>
              <a:rPr lang="en-US" sz="1400" b="1" dirty="0">
                <a:solidFill>
                  <a:srgbClr val="B85042"/>
                </a:solidFill>
                <a:latin typeface="Calibri" pitchFamily="34" charset="0"/>
                <a:ea typeface="Calibri" pitchFamily="34" charset="-122"/>
                <a:cs typeface="Calibri" pitchFamily="34" charset="-120"/>
              </a:rPr>
              <a:t>0.743</a:t>
            </a:r>
            <a:endParaRPr lang="en-US" sz="1400" dirty="0"/>
          </a:p>
        </p:txBody>
      </p:sp>
      <p:sp>
        <p:nvSpPr>
          <p:cNvPr id="19" name="Text 16"/>
          <p:cNvSpPr txBox="1"/>
          <p:nvPr/>
        </p:nvSpPr>
        <p:spPr>
          <a:xfrm>
            <a:off x="868680" y="5486400"/>
            <a:ext cx="4572000" cy="320040"/>
          </a:xfrm>
          <a:prstGeom prst="rect">
            <a:avLst/>
          </a:prstGeom>
          <a:noFill/>
          <a:ln/>
        </p:spPr>
        <p:txBody>
          <a:bodyPr wrap="square" lIns="0" tIns="0" rIns="0" bIns="0" rtlCol="0" anchor="ctr"/>
          <a:lstStyle/>
          <a:p>
            <a:pPr indent="0" marL="0">
              <a:buNone/>
            </a:pPr>
            <a:r>
              <a:rPr lang="en-US" sz="1400" dirty="0">
                <a:solidFill>
                  <a:srgbClr val="2E2A27"/>
                </a:solidFill>
                <a:latin typeface="Calibri" pitchFamily="34" charset="0"/>
                <a:ea typeface="Calibri" pitchFamily="34" charset="-122"/>
                <a:cs typeface="Calibri" pitchFamily="34" charset="-120"/>
              </a:rPr>
              <a:t>Training loss over the same window</a:t>
            </a:r>
            <a:endParaRPr lang="en-US" sz="1400" dirty="0"/>
          </a:p>
        </p:txBody>
      </p:sp>
      <p:sp>
        <p:nvSpPr>
          <p:cNvPr id="20" name="Text 17"/>
          <p:cNvSpPr txBox="1"/>
          <p:nvPr/>
        </p:nvSpPr>
        <p:spPr>
          <a:xfrm>
            <a:off x="5486400" y="5486400"/>
            <a:ext cx="1417320" cy="320040"/>
          </a:xfrm>
          <a:prstGeom prst="rect">
            <a:avLst/>
          </a:prstGeom>
          <a:noFill/>
          <a:ln/>
        </p:spPr>
        <p:txBody>
          <a:bodyPr wrap="square" lIns="0" tIns="0" rIns="0" bIns="0" rtlCol="0" anchor="ctr"/>
          <a:lstStyle/>
          <a:p>
            <a:pPr algn="r" indent="0" marL="0">
              <a:buNone/>
            </a:pPr>
            <a:r>
              <a:rPr lang="en-US" sz="1400" b="1" dirty="0">
                <a:solidFill>
                  <a:srgbClr val="B85042"/>
                </a:solidFill>
                <a:latin typeface="Calibri" pitchFamily="34" charset="0"/>
                <a:ea typeface="Calibri" pitchFamily="34" charset="-122"/>
                <a:cs typeface="Calibri" pitchFamily="34" charset="-120"/>
              </a:rPr>
              <a:t>keeps falling</a:t>
            </a:r>
            <a:endParaRPr lang="en-US" sz="1400" dirty="0"/>
          </a:p>
        </p:txBody>
      </p:sp>
      <p:sp>
        <p:nvSpPr>
          <p:cNvPr id="21" name="Shape 18"/>
          <p:cNvSpPr/>
          <p:nvPr/>
        </p:nvSpPr>
        <p:spPr>
          <a:xfrm>
            <a:off x="7543800" y="4023360"/>
            <a:ext cx="4114800" cy="2057400"/>
          </a:xfrm>
          <a:prstGeom prst="roundRect">
            <a:avLst>
              <a:gd name="adj" fmla="val 4000"/>
            </a:avLst>
          </a:prstGeom>
          <a:solidFill>
            <a:srgbClr val="A7BEAE"/>
          </a:solidFill>
          <a:ln w="12700">
            <a:solidFill>
              <a:srgbClr val="A7BEAE"/>
            </a:solidFill>
            <a:prstDash val="solid"/>
          </a:ln>
        </p:spPr>
      </p:sp>
      <p:sp>
        <p:nvSpPr>
          <p:cNvPr id="22" name="Text 19"/>
          <p:cNvSpPr txBox="1"/>
          <p:nvPr/>
        </p:nvSpPr>
        <p:spPr>
          <a:xfrm>
            <a:off x="7863840" y="4206240"/>
            <a:ext cx="3474720" cy="274320"/>
          </a:xfrm>
          <a:prstGeom prst="rect">
            <a:avLst/>
          </a:prstGeom>
          <a:noFill/>
          <a:ln/>
        </p:spPr>
        <p:txBody>
          <a:bodyPr wrap="square" lIns="0" tIns="0" rIns="0" bIns="0" rtlCol="0" anchor="ctr"/>
          <a:lstStyle/>
          <a:p>
            <a:pPr indent="0" marL="0">
              <a:buNone/>
            </a:pPr>
            <a:r>
              <a:rPr lang="en-US" sz="1700" b="1" dirty="0">
                <a:solidFill>
                  <a:srgbClr val="3B2A26"/>
                </a:solidFill>
                <a:latin typeface="Century Schoolbook" pitchFamily="34" charset="0"/>
                <a:ea typeface="Century Schoolbook" pitchFamily="34" charset="-122"/>
                <a:cs typeface="Century Schoolbook" pitchFamily="34" charset="-120"/>
              </a:rPr>
              <a:t>Three causes</a:t>
            </a:r>
            <a:endParaRPr lang="en-US" sz="1700" dirty="0"/>
          </a:p>
        </p:txBody>
      </p:sp>
      <p:sp>
        <p:nvSpPr>
          <p:cNvPr id="23" name="Text 20"/>
          <p:cNvSpPr txBox="1"/>
          <p:nvPr/>
        </p:nvSpPr>
        <p:spPr>
          <a:xfrm>
            <a:off x="7863840" y="4572000"/>
            <a:ext cx="3474720" cy="128016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2E2A27"/>
                </a:solidFill>
                <a:latin typeface="Calibri" pitchFamily="34" charset="0"/>
                <a:ea typeface="Calibri" pitchFamily="34" charset="-122"/>
                <a:cs typeface="Calibri" pitchFamily="34" charset="-120"/>
              </a:rPr>
              <a:t>1,600 training images only</a:t>
            </a:r>
            <a:endParaRPr lang="en-US" sz="1400" dirty="0"/>
          </a:p>
          <a:p>
            <a:pPr marL="342900" indent="-342900">
              <a:spcAft>
                <a:spcPts val="800"/>
              </a:spcAft>
              <a:buSzPct val="100000"/>
              <a:buChar char="•"/>
            </a:pPr>
            <a:r>
              <a:rPr lang="en-US" sz="1400" dirty="0">
                <a:solidFill>
                  <a:srgbClr val="2E2A27"/>
                </a:solidFill>
                <a:latin typeface="Calibri" pitchFamily="34" charset="0"/>
                <a:ea typeface="Calibri" pitchFamily="34" charset="-122"/>
                <a:cs typeface="Calibri" pitchFamily="34" charset="-120"/>
              </a:rPr>
              <a:t>≈ 650 parameters per image</a:t>
            </a:r>
            <a:endParaRPr lang="en-US" sz="1400" dirty="0"/>
          </a:p>
          <a:p>
            <a:pPr marL="342900" indent="-342900">
              <a:spcAft>
                <a:spcPts val="800"/>
              </a:spcAft>
              <a:buSzPct val="100000"/>
              <a:buChar char="•"/>
            </a:pPr>
            <a:r>
              <a:rPr lang="en-US" sz="1400" dirty="0">
                <a:solidFill>
                  <a:srgbClr val="2E2A27"/>
                </a:solidFill>
                <a:latin typeface="Calibri" pitchFamily="34" charset="0"/>
                <a:ea typeface="Calibri" pitchFamily="34" charset="-122"/>
                <a:cs typeface="Calibri" pitchFamily="34" charset="-120"/>
              </a:rPr>
              <a:t>zero regularisation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ellipse">
            <a:avLst/>
          </a:prstGeom>
          <a:solidFill>
            <a:srgbClr val="B85042"/>
          </a:solidFill>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entury Schoolbook" pitchFamily="34" charset="0"/>
                <a:ea typeface="Century Schoolbook" pitchFamily="34" charset="-122"/>
                <a:cs typeface="Century Schoolbook" pitchFamily="34" charset="-120"/>
              </a:rPr>
              <a:t>5</a:t>
            </a:r>
            <a:endParaRPr lang="en-US" sz="2000" dirty="0"/>
          </a:p>
        </p:txBody>
      </p:sp>
      <p:sp>
        <p:nvSpPr>
          <p:cNvPr id="4" name="Text 2"/>
          <p:cNvSpPr txBox="1"/>
          <p:nvPr/>
        </p:nvSpPr>
        <p:spPr>
          <a:xfrm>
            <a:off x="1298448" y="384048"/>
            <a:ext cx="10241280" cy="640080"/>
          </a:xfrm>
          <a:prstGeom prst="rect">
            <a:avLst/>
          </a:prstGeom>
          <a:noFill/>
          <a:ln/>
        </p:spPr>
        <p:txBody>
          <a:bodyPr wrap="square" lIns="0" tIns="0" rIns="0" bIns="0" rtlCol="0" anchor="ctr"/>
          <a:lstStyle/>
          <a:p>
            <a:pPr indent="0" marL="0">
              <a:buNone/>
            </a:pPr>
            <a:r>
              <a:rPr lang="en-US" sz="3000" b="1" dirty="0">
                <a:solidFill>
                  <a:srgbClr val="2E2A27"/>
                </a:solidFill>
                <a:latin typeface="Century Schoolbook" pitchFamily="34" charset="0"/>
                <a:ea typeface="Century Schoolbook" pitchFamily="34" charset="-122"/>
                <a:cs typeface="Century Schoolbook" pitchFamily="34" charset="-120"/>
              </a:rPr>
              <a:t>Test set: 400 unseen images</a:t>
            </a:r>
            <a:endParaRPr lang="en-US" sz="3000" dirty="0"/>
          </a:p>
        </p:txBody>
      </p:sp>
      <p:pic>
        <p:nvPicPr>
          <p:cNvPr id="5" name="Image 0" descr="/home/claude/projet/v2/figures/cm_A.png">    </p:cNvPr>
          <p:cNvPicPr>
            <a:picLocks noChangeAspect="1"/>
          </p:cNvPicPr>
          <p:nvPr/>
        </p:nvPicPr>
        <p:blipFill>
          <a:blip r:embed="rId1"/>
          <a:stretch>
            <a:fillRect/>
          </a:stretch>
        </p:blipFill>
        <p:spPr>
          <a:xfrm>
            <a:off x="685800" y="1371600"/>
            <a:ext cx="3931920" cy="3904488"/>
          </a:xfrm>
          <a:prstGeom prst="rect">
            <a:avLst/>
          </a:prstGeom>
        </p:spPr>
      </p:pic>
      <p:sp>
        <p:nvSpPr>
          <p:cNvPr id="6" name="Shape 3"/>
          <p:cNvSpPr/>
          <p:nvPr/>
        </p:nvSpPr>
        <p:spPr>
          <a:xfrm>
            <a:off x="5120640" y="1325880"/>
            <a:ext cx="6537960" cy="749808"/>
          </a:xfrm>
          <a:prstGeom prst="roundRect">
            <a:avLst>
              <a:gd name="adj" fmla="val 10976"/>
            </a:avLst>
          </a:prstGeom>
          <a:solidFill>
            <a:srgbClr val="E7E8D1"/>
          </a:solidFill>
          <a:ln w="12700">
            <a:solidFill>
              <a:srgbClr val="E7E8D1"/>
            </a:solidFill>
            <a:prstDash val="solid"/>
          </a:ln>
        </p:spPr>
      </p:sp>
      <p:sp>
        <p:nvSpPr>
          <p:cNvPr id="7" name="Text 4"/>
          <p:cNvSpPr txBox="1"/>
          <p:nvPr/>
        </p:nvSpPr>
        <p:spPr>
          <a:xfrm>
            <a:off x="5394960" y="1399032"/>
            <a:ext cx="1371600" cy="603504"/>
          </a:xfrm>
          <a:prstGeom prst="rect">
            <a:avLst/>
          </a:prstGeom>
          <a:noFill/>
          <a:ln/>
        </p:spPr>
        <p:txBody>
          <a:bodyPr wrap="square" lIns="0" tIns="0" rIns="0" bIns="0" rtlCol="0" anchor="ctr"/>
          <a:lstStyle/>
          <a:p>
            <a:pPr indent="0" marL="0">
              <a:buNone/>
            </a:pPr>
            <a:r>
              <a:rPr lang="en-US" sz="2600" b="1" dirty="0">
                <a:solidFill>
                  <a:srgbClr val="B85042"/>
                </a:solidFill>
                <a:latin typeface="Century Schoolbook" pitchFamily="34" charset="0"/>
                <a:ea typeface="Century Schoolbook" pitchFamily="34" charset="-122"/>
                <a:cs typeface="Century Schoolbook" pitchFamily="34" charset="-120"/>
              </a:rPr>
              <a:t>0.728</a:t>
            </a:r>
            <a:endParaRPr lang="en-US" sz="2600" dirty="0"/>
          </a:p>
        </p:txBody>
      </p:sp>
      <p:sp>
        <p:nvSpPr>
          <p:cNvPr id="8" name="Text 5"/>
          <p:cNvSpPr txBox="1"/>
          <p:nvPr/>
        </p:nvSpPr>
        <p:spPr>
          <a:xfrm>
            <a:off x="6812280" y="1435608"/>
            <a:ext cx="4663440" cy="274320"/>
          </a:xfrm>
          <a:prstGeom prst="rect">
            <a:avLst/>
          </a:prstGeom>
          <a:noFill/>
          <a:ln/>
        </p:spPr>
        <p:txBody>
          <a:bodyPr wrap="square" lIns="0" tIns="0" rIns="0" bIns="0" rtlCol="0" anchor="ctr"/>
          <a:lstStyle/>
          <a:p>
            <a:pPr indent="0" marL="0">
              <a:buNone/>
            </a:pPr>
            <a:r>
              <a:rPr lang="en-US" sz="1600" b="1" dirty="0">
                <a:solidFill>
                  <a:srgbClr val="2E2A27"/>
                </a:solidFill>
                <a:latin typeface="Calibri" pitchFamily="34" charset="0"/>
                <a:ea typeface="Calibri" pitchFamily="34" charset="-122"/>
                <a:cs typeface="Calibri" pitchFamily="34" charset="-120"/>
              </a:rPr>
              <a:t>Accuracy</a:t>
            </a:r>
            <a:endParaRPr lang="en-US" sz="1600" dirty="0"/>
          </a:p>
        </p:txBody>
      </p:sp>
      <p:sp>
        <p:nvSpPr>
          <p:cNvPr id="9" name="Text 6"/>
          <p:cNvSpPr txBox="1"/>
          <p:nvPr/>
        </p:nvSpPr>
        <p:spPr>
          <a:xfrm>
            <a:off x="6812280" y="1728216"/>
            <a:ext cx="4663440" cy="256032"/>
          </a:xfrm>
          <a:prstGeom prst="rect">
            <a:avLst/>
          </a:prstGeom>
          <a:noFill/>
          <a:ln/>
        </p:spPr>
        <p:txBody>
          <a:bodyPr wrap="square" lIns="0" tIns="0" rIns="0" bIns="0" rtlCol="0" anchor="ctr"/>
          <a:lstStyle/>
          <a:p>
            <a:pPr indent="0" marL="0">
              <a:buNone/>
            </a:pPr>
            <a:r>
              <a:rPr lang="en-US" sz="1300" dirty="0">
                <a:solidFill>
                  <a:srgbClr val="6E6560"/>
                </a:solidFill>
                <a:latin typeface="Calibri" pitchFamily="34" charset="0"/>
                <a:ea typeface="Calibri" pitchFamily="34" charset="-122"/>
                <a:cs typeface="Calibri" pitchFamily="34" charset="-120"/>
              </a:rPr>
              <a:t>above the 0.500 baseline — it learned real features</a:t>
            </a:r>
            <a:endParaRPr lang="en-US" sz="1300" dirty="0"/>
          </a:p>
        </p:txBody>
      </p:sp>
      <p:sp>
        <p:nvSpPr>
          <p:cNvPr id="10" name="Shape 7"/>
          <p:cNvSpPr/>
          <p:nvPr/>
        </p:nvSpPr>
        <p:spPr>
          <a:xfrm>
            <a:off x="5120640" y="2194560"/>
            <a:ext cx="6537960" cy="749808"/>
          </a:xfrm>
          <a:prstGeom prst="roundRect">
            <a:avLst>
              <a:gd name="adj" fmla="val 10976"/>
            </a:avLst>
          </a:prstGeom>
          <a:solidFill>
            <a:srgbClr val="E7E8D1"/>
          </a:solidFill>
          <a:ln w="12700">
            <a:solidFill>
              <a:srgbClr val="E7E8D1"/>
            </a:solidFill>
            <a:prstDash val="solid"/>
          </a:ln>
        </p:spPr>
      </p:sp>
      <p:sp>
        <p:nvSpPr>
          <p:cNvPr id="11" name="Text 8"/>
          <p:cNvSpPr txBox="1"/>
          <p:nvPr/>
        </p:nvSpPr>
        <p:spPr>
          <a:xfrm>
            <a:off x="5394960" y="2267712"/>
            <a:ext cx="1371600" cy="603504"/>
          </a:xfrm>
          <a:prstGeom prst="rect">
            <a:avLst/>
          </a:prstGeom>
          <a:noFill/>
          <a:ln/>
        </p:spPr>
        <p:txBody>
          <a:bodyPr wrap="square" lIns="0" tIns="0" rIns="0" bIns="0" rtlCol="0" anchor="ctr"/>
          <a:lstStyle/>
          <a:p>
            <a:pPr indent="0" marL="0">
              <a:buNone/>
            </a:pPr>
            <a:r>
              <a:rPr lang="en-US" sz="2600" b="1" dirty="0">
                <a:solidFill>
                  <a:srgbClr val="B85042"/>
                </a:solidFill>
                <a:latin typeface="Century Schoolbook" pitchFamily="34" charset="0"/>
                <a:ea typeface="Century Schoolbook" pitchFamily="34" charset="-122"/>
                <a:cs typeface="Century Schoolbook" pitchFamily="34" charset="-120"/>
              </a:rPr>
              <a:t>0.839</a:t>
            </a:r>
            <a:endParaRPr lang="en-US" sz="2600" dirty="0"/>
          </a:p>
        </p:txBody>
      </p:sp>
      <p:sp>
        <p:nvSpPr>
          <p:cNvPr id="12" name="Text 9"/>
          <p:cNvSpPr txBox="1"/>
          <p:nvPr/>
        </p:nvSpPr>
        <p:spPr>
          <a:xfrm>
            <a:off x="6812280" y="2304288"/>
            <a:ext cx="4663440" cy="274320"/>
          </a:xfrm>
          <a:prstGeom prst="rect">
            <a:avLst/>
          </a:prstGeom>
          <a:noFill/>
          <a:ln/>
        </p:spPr>
        <p:txBody>
          <a:bodyPr wrap="square" lIns="0" tIns="0" rIns="0" bIns="0" rtlCol="0" anchor="ctr"/>
          <a:lstStyle/>
          <a:p>
            <a:pPr indent="0" marL="0">
              <a:buNone/>
            </a:pPr>
            <a:r>
              <a:rPr lang="en-US" sz="1600" b="1" dirty="0">
                <a:solidFill>
                  <a:srgbClr val="2E2A27"/>
                </a:solidFill>
                <a:latin typeface="Calibri" pitchFamily="34" charset="0"/>
                <a:ea typeface="Calibri" pitchFamily="34" charset="-122"/>
                <a:cs typeface="Calibri" pitchFamily="34" charset="-120"/>
              </a:rPr>
              <a:t>Precision</a:t>
            </a:r>
            <a:endParaRPr lang="en-US" sz="1600" dirty="0"/>
          </a:p>
        </p:txBody>
      </p:sp>
      <p:sp>
        <p:nvSpPr>
          <p:cNvPr id="13" name="Text 10"/>
          <p:cNvSpPr txBox="1"/>
          <p:nvPr/>
        </p:nvSpPr>
        <p:spPr>
          <a:xfrm>
            <a:off x="6812280" y="2596896"/>
            <a:ext cx="4663440" cy="256032"/>
          </a:xfrm>
          <a:prstGeom prst="rect">
            <a:avLst/>
          </a:prstGeom>
          <a:noFill/>
          <a:ln/>
        </p:spPr>
        <p:txBody>
          <a:bodyPr wrap="square" lIns="0" tIns="0" rIns="0" bIns="0" rtlCol="0" anchor="ctr"/>
          <a:lstStyle/>
          <a:p>
            <a:pPr indent="0" marL="0">
              <a:buNone/>
            </a:pPr>
            <a:r>
              <a:rPr lang="en-US" sz="1300" dirty="0">
                <a:solidFill>
                  <a:srgbClr val="6E6560"/>
                </a:solidFill>
                <a:latin typeface="Calibri" pitchFamily="34" charset="0"/>
                <a:ea typeface="Calibri" pitchFamily="34" charset="-122"/>
                <a:cs typeface="Calibri" pitchFamily="34" charset="-120"/>
              </a:rPr>
              <a:t>when it says dog, it is right 84% of the time</a:t>
            </a:r>
            <a:endParaRPr lang="en-US" sz="1300" dirty="0"/>
          </a:p>
        </p:txBody>
      </p:sp>
      <p:sp>
        <p:nvSpPr>
          <p:cNvPr id="14" name="Shape 11"/>
          <p:cNvSpPr/>
          <p:nvPr/>
        </p:nvSpPr>
        <p:spPr>
          <a:xfrm>
            <a:off x="5120640" y="3063240"/>
            <a:ext cx="6537960" cy="749808"/>
          </a:xfrm>
          <a:prstGeom prst="roundRect">
            <a:avLst>
              <a:gd name="adj" fmla="val 10976"/>
            </a:avLst>
          </a:prstGeom>
          <a:solidFill>
            <a:srgbClr val="E7E8D1"/>
          </a:solidFill>
          <a:ln w="12700">
            <a:solidFill>
              <a:srgbClr val="E7E8D1"/>
            </a:solidFill>
            <a:prstDash val="solid"/>
          </a:ln>
        </p:spPr>
      </p:sp>
      <p:sp>
        <p:nvSpPr>
          <p:cNvPr id="15" name="Text 12"/>
          <p:cNvSpPr txBox="1"/>
          <p:nvPr/>
        </p:nvSpPr>
        <p:spPr>
          <a:xfrm>
            <a:off x="5394960" y="3136392"/>
            <a:ext cx="1371600" cy="603504"/>
          </a:xfrm>
          <a:prstGeom prst="rect">
            <a:avLst/>
          </a:prstGeom>
          <a:noFill/>
          <a:ln/>
        </p:spPr>
        <p:txBody>
          <a:bodyPr wrap="square" lIns="0" tIns="0" rIns="0" bIns="0" rtlCol="0" anchor="ctr"/>
          <a:lstStyle/>
          <a:p>
            <a:pPr indent="0" marL="0">
              <a:buNone/>
            </a:pPr>
            <a:r>
              <a:rPr lang="en-US" sz="2600" b="1" dirty="0">
                <a:solidFill>
                  <a:srgbClr val="B85042"/>
                </a:solidFill>
                <a:latin typeface="Century Schoolbook" pitchFamily="34" charset="0"/>
                <a:ea typeface="Century Schoolbook" pitchFamily="34" charset="-122"/>
                <a:cs typeface="Century Schoolbook" pitchFamily="34" charset="-120"/>
              </a:rPr>
              <a:t>0.619</a:t>
            </a:r>
            <a:endParaRPr lang="en-US" sz="2600" dirty="0"/>
          </a:p>
        </p:txBody>
      </p:sp>
      <p:sp>
        <p:nvSpPr>
          <p:cNvPr id="16" name="Text 13"/>
          <p:cNvSpPr txBox="1"/>
          <p:nvPr/>
        </p:nvSpPr>
        <p:spPr>
          <a:xfrm>
            <a:off x="6812280" y="3172968"/>
            <a:ext cx="4663440" cy="274320"/>
          </a:xfrm>
          <a:prstGeom prst="rect">
            <a:avLst/>
          </a:prstGeom>
          <a:noFill/>
          <a:ln/>
        </p:spPr>
        <p:txBody>
          <a:bodyPr wrap="square" lIns="0" tIns="0" rIns="0" bIns="0" rtlCol="0" anchor="ctr"/>
          <a:lstStyle/>
          <a:p>
            <a:pPr indent="0" marL="0">
              <a:buNone/>
            </a:pPr>
            <a:r>
              <a:rPr lang="en-US" sz="1600" b="1" dirty="0">
                <a:solidFill>
                  <a:srgbClr val="2E2A27"/>
                </a:solidFill>
                <a:latin typeface="Calibri" pitchFamily="34" charset="0"/>
                <a:ea typeface="Calibri" pitchFamily="34" charset="-122"/>
                <a:cs typeface="Calibri" pitchFamily="34" charset="-120"/>
              </a:rPr>
              <a:t>Recall</a:t>
            </a:r>
            <a:endParaRPr lang="en-US" sz="1600" dirty="0"/>
          </a:p>
        </p:txBody>
      </p:sp>
      <p:sp>
        <p:nvSpPr>
          <p:cNvPr id="17" name="Text 14"/>
          <p:cNvSpPr txBox="1"/>
          <p:nvPr/>
        </p:nvSpPr>
        <p:spPr>
          <a:xfrm>
            <a:off x="6812280" y="3465576"/>
            <a:ext cx="4663440" cy="256032"/>
          </a:xfrm>
          <a:prstGeom prst="rect">
            <a:avLst/>
          </a:prstGeom>
          <a:noFill/>
          <a:ln/>
        </p:spPr>
        <p:txBody>
          <a:bodyPr wrap="square" lIns="0" tIns="0" rIns="0" bIns="0" rtlCol="0" anchor="ctr"/>
          <a:lstStyle/>
          <a:p>
            <a:pPr indent="0" marL="0">
              <a:buNone/>
            </a:pPr>
            <a:r>
              <a:rPr lang="en-US" sz="1300" dirty="0">
                <a:solidFill>
                  <a:srgbClr val="6E6560"/>
                </a:solidFill>
                <a:latin typeface="Calibri" pitchFamily="34" charset="0"/>
                <a:ea typeface="Calibri" pitchFamily="34" charset="-122"/>
                <a:cs typeface="Calibri" pitchFamily="34" charset="-120"/>
              </a:rPr>
              <a:t>but it misses 38% of the real dogs</a:t>
            </a:r>
            <a:endParaRPr lang="en-US" sz="1300" dirty="0"/>
          </a:p>
        </p:txBody>
      </p:sp>
      <p:sp>
        <p:nvSpPr>
          <p:cNvPr id="18" name="Shape 15"/>
          <p:cNvSpPr/>
          <p:nvPr/>
        </p:nvSpPr>
        <p:spPr>
          <a:xfrm>
            <a:off x="5120640" y="3931920"/>
            <a:ext cx="6537960" cy="749808"/>
          </a:xfrm>
          <a:prstGeom prst="roundRect">
            <a:avLst>
              <a:gd name="adj" fmla="val 10976"/>
            </a:avLst>
          </a:prstGeom>
          <a:solidFill>
            <a:srgbClr val="E7E8D1"/>
          </a:solidFill>
          <a:ln w="12700">
            <a:solidFill>
              <a:srgbClr val="E7E8D1"/>
            </a:solidFill>
            <a:prstDash val="solid"/>
          </a:ln>
        </p:spPr>
      </p:sp>
      <p:sp>
        <p:nvSpPr>
          <p:cNvPr id="19" name="Text 16"/>
          <p:cNvSpPr txBox="1"/>
          <p:nvPr/>
        </p:nvSpPr>
        <p:spPr>
          <a:xfrm>
            <a:off x="5394960" y="4005072"/>
            <a:ext cx="1371600" cy="603504"/>
          </a:xfrm>
          <a:prstGeom prst="rect">
            <a:avLst/>
          </a:prstGeom>
          <a:noFill/>
          <a:ln/>
        </p:spPr>
        <p:txBody>
          <a:bodyPr wrap="square" lIns="0" tIns="0" rIns="0" bIns="0" rtlCol="0" anchor="ctr"/>
          <a:lstStyle/>
          <a:p>
            <a:pPr indent="0" marL="0">
              <a:buNone/>
            </a:pPr>
            <a:r>
              <a:rPr lang="en-US" sz="2600" b="1" dirty="0">
                <a:solidFill>
                  <a:srgbClr val="B85042"/>
                </a:solidFill>
                <a:latin typeface="Century Schoolbook" pitchFamily="34" charset="0"/>
                <a:ea typeface="Century Schoolbook" pitchFamily="34" charset="-122"/>
                <a:cs typeface="Century Schoolbook" pitchFamily="34" charset="-120"/>
              </a:rPr>
              <a:t>0.712</a:t>
            </a:r>
            <a:endParaRPr lang="en-US" sz="2600" dirty="0"/>
          </a:p>
        </p:txBody>
      </p:sp>
      <p:sp>
        <p:nvSpPr>
          <p:cNvPr id="20" name="Text 17"/>
          <p:cNvSpPr txBox="1"/>
          <p:nvPr/>
        </p:nvSpPr>
        <p:spPr>
          <a:xfrm>
            <a:off x="6812280" y="4041648"/>
            <a:ext cx="4663440" cy="274320"/>
          </a:xfrm>
          <a:prstGeom prst="rect">
            <a:avLst/>
          </a:prstGeom>
          <a:noFill/>
          <a:ln/>
        </p:spPr>
        <p:txBody>
          <a:bodyPr wrap="square" lIns="0" tIns="0" rIns="0" bIns="0" rtlCol="0" anchor="ctr"/>
          <a:lstStyle/>
          <a:p>
            <a:pPr indent="0" marL="0">
              <a:buNone/>
            </a:pPr>
            <a:r>
              <a:rPr lang="en-US" sz="1600" b="1" dirty="0">
                <a:solidFill>
                  <a:srgbClr val="2E2A27"/>
                </a:solidFill>
                <a:latin typeface="Calibri" pitchFamily="34" charset="0"/>
                <a:ea typeface="Calibri" pitchFamily="34" charset="-122"/>
                <a:cs typeface="Calibri" pitchFamily="34" charset="-120"/>
              </a:rPr>
              <a:t>F1-score</a:t>
            </a:r>
            <a:endParaRPr lang="en-US" sz="1600" dirty="0"/>
          </a:p>
        </p:txBody>
      </p:sp>
      <p:sp>
        <p:nvSpPr>
          <p:cNvPr id="21" name="Text 18"/>
          <p:cNvSpPr txBox="1"/>
          <p:nvPr/>
        </p:nvSpPr>
        <p:spPr>
          <a:xfrm>
            <a:off x="6812280" y="4334256"/>
            <a:ext cx="4663440" cy="256032"/>
          </a:xfrm>
          <a:prstGeom prst="rect">
            <a:avLst/>
          </a:prstGeom>
          <a:noFill/>
          <a:ln/>
        </p:spPr>
        <p:txBody>
          <a:bodyPr wrap="square" lIns="0" tIns="0" rIns="0" bIns="0" rtlCol="0" anchor="ctr"/>
          <a:lstStyle/>
          <a:p>
            <a:pPr indent="0" marL="0">
              <a:buNone/>
            </a:pPr>
            <a:r>
              <a:rPr lang="en-US" sz="1300" dirty="0">
                <a:solidFill>
                  <a:srgbClr val="6E6560"/>
                </a:solidFill>
                <a:latin typeface="Calibri" pitchFamily="34" charset="0"/>
                <a:ea typeface="Calibri" pitchFamily="34" charset="-122"/>
                <a:cs typeface="Calibri" pitchFamily="34" charset="-120"/>
              </a:rPr>
              <a:t>harmonic mean of the two</a:t>
            </a:r>
            <a:endParaRPr lang="en-US" sz="1300" dirty="0"/>
          </a:p>
        </p:txBody>
      </p:sp>
      <p:sp>
        <p:nvSpPr>
          <p:cNvPr id="22" name="Shape 19"/>
          <p:cNvSpPr/>
          <p:nvPr/>
        </p:nvSpPr>
        <p:spPr>
          <a:xfrm>
            <a:off x="5120640" y="4892040"/>
            <a:ext cx="6537960" cy="1188720"/>
          </a:xfrm>
          <a:prstGeom prst="roundRect">
            <a:avLst>
              <a:gd name="adj" fmla="val 6923"/>
            </a:avLst>
          </a:prstGeom>
          <a:solidFill>
            <a:srgbClr val="3B2A26"/>
          </a:solidFill>
          <a:ln w="12700">
            <a:solidFill>
              <a:srgbClr val="3B2A26"/>
            </a:solidFill>
            <a:prstDash val="solid"/>
          </a:ln>
        </p:spPr>
      </p:sp>
      <p:sp>
        <p:nvSpPr>
          <p:cNvPr id="23" name="Text 20"/>
          <p:cNvSpPr txBox="1"/>
          <p:nvPr/>
        </p:nvSpPr>
        <p:spPr>
          <a:xfrm>
            <a:off x="5394960" y="5074920"/>
            <a:ext cx="5989320" cy="274320"/>
          </a:xfrm>
          <a:prstGeom prst="rect">
            <a:avLst/>
          </a:prstGeom>
          <a:noFill/>
          <a:ln/>
        </p:spPr>
        <p:txBody>
          <a:bodyPr wrap="square" lIns="0" tIns="0" rIns="0" bIns="0" rtlCol="0" anchor="ctr"/>
          <a:lstStyle/>
          <a:p>
            <a:pPr indent="0" marL="0">
              <a:buNone/>
            </a:pPr>
            <a:r>
              <a:rPr lang="en-US" sz="1500" b="1" dirty="0">
                <a:solidFill>
                  <a:srgbClr val="A7BEAE"/>
                </a:solidFill>
                <a:latin typeface="Calibri" pitchFamily="34" charset="0"/>
                <a:ea typeface="Calibri" pitchFamily="34" charset="-122"/>
                <a:cs typeface="Calibri" pitchFamily="34" charset="-120"/>
              </a:rPr>
              <a:t>83 dogs classified as cats  vs.  26 cats classified as dogs</a:t>
            </a:r>
            <a:endParaRPr lang="en-US" sz="1500" dirty="0"/>
          </a:p>
        </p:txBody>
      </p:sp>
      <p:sp>
        <p:nvSpPr>
          <p:cNvPr id="24" name="Text 21"/>
          <p:cNvSpPr txBox="1"/>
          <p:nvPr/>
        </p:nvSpPr>
        <p:spPr>
          <a:xfrm>
            <a:off x="5394960" y="5394960"/>
            <a:ext cx="5989320" cy="54864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The model is conservative on the dog class: at the slightest doubt it answers cat. Accuracy alone would have hidden this.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ellipse">
            <a:avLst/>
          </a:prstGeom>
          <a:solidFill>
            <a:srgbClr val="B85042"/>
          </a:solidFill>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entury Schoolbook" pitchFamily="34" charset="0"/>
                <a:ea typeface="Century Schoolbook" pitchFamily="34" charset="-122"/>
                <a:cs typeface="Century Schoolbook" pitchFamily="34" charset="-120"/>
              </a:rPr>
              <a:t>6</a:t>
            </a:r>
            <a:endParaRPr lang="en-US" sz="2000" dirty="0"/>
          </a:p>
        </p:txBody>
      </p:sp>
      <p:sp>
        <p:nvSpPr>
          <p:cNvPr id="4" name="Text 2"/>
          <p:cNvSpPr txBox="1"/>
          <p:nvPr/>
        </p:nvSpPr>
        <p:spPr>
          <a:xfrm>
            <a:off x="1298448" y="384048"/>
            <a:ext cx="10241280" cy="640080"/>
          </a:xfrm>
          <a:prstGeom prst="rect">
            <a:avLst/>
          </a:prstGeom>
          <a:noFill/>
          <a:ln/>
        </p:spPr>
        <p:txBody>
          <a:bodyPr wrap="square" lIns="0" tIns="0" rIns="0" bIns="0" rtlCol="0" anchor="ctr"/>
          <a:lstStyle/>
          <a:p>
            <a:pPr indent="0" marL="0">
              <a:buNone/>
            </a:pPr>
            <a:r>
              <a:rPr lang="en-US" sz="3000" b="1" dirty="0">
                <a:solidFill>
                  <a:srgbClr val="2E2A27"/>
                </a:solidFill>
                <a:latin typeface="Century Schoolbook" pitchFamily="34" charset="0"/>
                <a:ea typeface="Century Schoolbook" pitchFamily="34" charset="-122"/>
                <a:cs typeface="Century Schoolbook" pitchFamily="34" charset="-120"/>
              </a:rPr>
              <a:t>Fix 1 — Data augmentation</a:t>
            </a:r>
            <a:endParaRPr lang="en-US" sz="3000" dirty="0"/>
          </a:p>
        </p:txBody>
      </p:sp>
      <p:pic>
        <p:nvPicPr>
          <p:cNvPr id="5" name="Image 0" descr="/home/claude/projet/v2/figures/augment.png">    </p:cNvPr>
          <p:cNvPicPr>
            <a:picLocks noChangeAspect="1"/>
          </p:cNvPicPr>
          <p:nvPr/>
        </p:nvPicPr>
        <p:blipFill>
          <a:blip r:embed="rId1"/>
          <a:stretch>
            <a:fillRect/>
          </a:stretch>
        </p:blipFill>
        <p:spPr>
          <a:xfrm>
            <a:off x="548640" y="1188720"/>
            <a:ext cx="5577840" cy="2990088"/>
          </a:xfrm>
          <a:prstGeom prst="rect">
            <a:avLst/>
          </a:prstGeom>
        </p:spPr>
      </p:pic>
      <p:sp>
        <p:nvSpPr>
          <p:cNvPr id="6" name="Shape 3"/>
          <p:cNvSpPr/>
          <p:nvPr/>
        </p:nvSpPr>
        <p:spPr>
          <a:xfrm>
            <a:off x="6400800" y="1188720"/>
            <a:ext cx="5257800" cy="1417320"/>
          </a:xfrm>
          <a:prstGeom prst="roundRect">
            <a:avLst>
              <a:gd name="adj" fmla="val 5806"/>
            </a:avLst>
          </a:prstGeom>
          <a:solidFill>
            <a:srgbClr val="E7E8D1"/>
          </a:solidFill>
          <a:ln w="12700">
            <a:solidFill>
              <a:srgbClr val="E7E8D1"/>
            </a:solidFill>
            <a:prstDash val="solid"/>
          </a:ln>
        </p:spPr>
      </p:sp>
      <p:sp>
        <p:nvSpPr>
          <p:cNvPr id="7" name="Text 4"/>
          <p:cNvSpPr txBox="1"/>
          <p:nvPr/>
        </p:nvSpPr>
        <p:spPr>
          <a:xfrm>
            <a:off x="6720840" y="1371600"/>
            <a:ext cx="4617720" cy="457200"/>
          </a:xfrm>
          <a:prstGeom prst="rect">
            <a:avLst/>
          </a:prstGeom>
          <a:noFill/>
          <a:ln/>
        </p:spPr>
        <p:txBody>
          <a:bodyPr wrap="square" lIns="0" tIns="0" rIns="0" bIns="0" rtlCol="0" anchor="ctr"/>
          <a:lstStyle/>
          <a:p>
            <a:pPr indent="0" marL="0">
              <a:buNone/>
            </a:pPr>
            <a:r>
              <a:rPr lang="en-US" sz="1500" b="1" dirty="0">
                <a:solidFill>
                  <a:srgbClr val="B85042"/>
                </a:solidFill>
                <a:latin typeface="Calibri" pitchFamily="34" charset="0"/>
                <a:ea typeface="Calibri" pitchFamily="34" charset="-122"/>
                <a:cs typeface="Calibri" pitchFamily="34" charset="-120"/>
              </a:rPr>
              <a:t>Flip · rotation ±10% · zoom ±10%, redrawn at every epoch</a:t>
            </a:r>
            <a:endParaRPr lang="en-US" sz="1500" dirty="0"/>
          </a:p>
        </p:txBody>
      </p:sp>
      <p:sp>
        <p:nvSpPr>
          <p:cNvPr id="8" name="Text 5"/>
          <p:cNvSpPr txBox="1"/>
          <p:nvPr/>
        </p:nvSpPr>
        <p:spPr>
          <a:xfrm>
            <a:off x="6720840" y="1874520"/>
            <a:ext cx="4617720" cy="548640"/>
          </a:xfrm>
          <a:prstGeom prst="rect">
            <a:avLst/>
          </a:prstGeom>
          <a:noFill/>
          <a:ln/>
        </p:spPr>
        <p:txBody>
          <a:bodyPr wrap="square" lIns="0" tIns="0" rIns="0" bIns="0" rtlCol="0" anchor="ctr"/>
          <a:lstStyle/>
          <a:p>
            <a:pPr indent="0" marL="0">
              <a:buNone/>
            </a:pPr>
            <a:r>
              <a:rPr lang="en-US" sz="1350" dirty="0">
                <a:solidFill>
                  <a:srgbClr val="2E2A27"/>
                </a:solidFill>
                <a:latin typeface="Calibri" pitchFamily="34" charset="0"/>
                <a:ea typeface="Calibri" pitchFamily="34" charset="-122"/>
                <a:cs typeface="Calibri" pitchFamily="34" charset="-120"/>
              </a:rPr>
              <a:t>The network never sees the same image twice, so it cannot memorise.</a:t>
            </a:r>
            <a:endParaRPr lang="en-US" sz="1350" dirty="0"/>
          </a:p>
        </p:txBody>
      </p:sp>
      <p:sp>
        <p:nvSpPr>
          <p:cNvPr id="9" name="Shape 6"/>
          <p:cNvSpPr/>
          <p:nvPr/>
        </p:nvSpPr>
        <p:spPr>
          <a:xfrm>
            <a:off x="6400800" y="2761488"/>
            <a:ext cx="5257800" cy="1417320"/>
          </a:xfrm>
          <a:prstGeom prst="roundRect">
            <a:avLst>
              <a:gd name="adj" fmla="val 5806"/>
            </a:avLst>
          </a:prstGeom>
          <a:solidFill>
            <a:srgbClr val="A7BEAE"/>
          </a:solidFill>
          <a:ln w="12700">
            <a:solidFill>
              <a:srgbClr val="A7BEAE"/>
            </a:solidFill>
            <a:prstDash val="solid"/>
          </a:ln>
        </p:spPr>
      </p:sp>
      <p:sp>
        <p:nvSpPr>
          <p:cNvPr id="10" name="Text 7"/>
          <p:cNvSpPr txBox="1"/>
          <p:nvPr/>
        </p:nvSpPr>
        <p:spPr>
          <a:xfrm>
            <a:off x="6720840" y="2926080"/>
            <a:ext cx="4617720" cy="274320"/>
          </a:xfrm>
          <a:prstGeom prst="rect">
            <a:avLst/>
          </a:prstGeom>
          <a:noFill/>
          <a:ln/>
        </p:spPr>
        <p:txBody>
          <a:bodyPr wrap="square" lIns="0" tIns="0" rIns="0" bIns="0" rtlCol="0" anchor="ctr"/>
          <a:lstStyle/>
          <a:p>
            <a:pPr indent="0" marL="0">
              <a:buNone/>
            </a:pPr>
            <a:r>
              <a:rPr lang="en-US" sz="1500" b="1" dirty="0">
                <a:solidFill>
                  <a:srgbClr val="3B2A26"/>
                </a:solidFill>
                <a:latin typeface="Calibri" pitchFamily="34" charset="0"/>
                <a:ea typeface="Calibri" pitchFamily="34" charset="-122"/>
                <a:cs typeface="Calibri" pitchFamily="34" charset="-120"/>
              </a:rPr>
              <a:t>Never applied to the test set</a:t>
            </a:r>
            <a:endParaRPr lang="en-US" sz="1500" dirty="0"/>
          </a:p>
        </p:txBody>
      </p:sp>
      <p:sp>
        <p:nvSpPr>
          <p:cNvPr id="11" name="Text 8"/>
          <p:cNvSpPr txBox="1"/>
          <p:nvPr/>
        </p:nvSpPr>
        <p:spPr>
          <a:xfrm>
            <a:off x="6720840" y="3246120"/>
            <a:ext cx="4617720" cy="777240"/>
          </a:xfrm>
          <a:prstGeom prst="rect">
            <a:avLst/>
          </a:prstGeom>
          <a:noFill/>
          <a:ln/>
        </p:spPr>
        <p:txBody>
          <a:bodyPr wrap="square" lIns="0" tIns="0" rIns="0" bIns="0" rtlCol="0" anchor="ctr"/>
          <a:lstStyle/>
          <a:p>
            <a:pPr indent="0" marL="0">
              <a:buNone/>
            </a:pPr>
            <a:r>
              <a:rPr lang="en-US" sz="1300" dirty="0">
                <a:solidFill>
                  <a:srgbClr val="2E2A27"/>
                </a:solidFill>
                <a:latin typeface="Calibri" pitchFamily="34" charset="0"/>
                <a:ea typeface="Calibri" pitchFamily="34" charset="-122"/>
                <a:cs typeface="Calibri" pitchFamily="34" charset="-120"/>
              </a:rPr>
              <a:t>Keras augmentation layers are active in fit() and automatically inactive in predict(). The evaluation protocol is unchanged.</a:t>
            </a:r>
            <a:endParaRPr lang="en-US" sz="1300" dirty="0"/>
          </a:p>
        </p:txBody>
      </p:sp>
      <p:sp>
        <p:nvSpPr>
          <p:cNvPr id="12" name="Shape 9"/>
          <p:cNvSpPr/>
          <p:nvPr/>
        </p:nvSpPr>
        <p:spPr>
          <a:xfrm>
            <a:off x="548640" y="4434840"/>
            <a:ext cx="3547872" cy="1645920"/>
          </a:xfrm>
          <a:prstGeom prst="roundRect">
            <a:avLst>
              <a:gd name="adj" fmla="val 5000"/>
            </a:avLst>
          </a:prstGeom>
          <a:solidFill>
            <a:srgbClr val="3B2A26"/>
          </a:solidFill>
          <a:ln w="12700">
            <a:solidFill>
              <a:srgbClr val="3B2A26"/>
            </a:solidFill>
            <a:prstDash val="solid"/>
          </a:ln>
        </p:spPr>
      </p:sp>
      <p:sp>
        <p:nvSpPr>
          <p:cNvPr id="13" name="Text 10"/>
          <p:cNvSpPr txBox="1"/>
          <p:nvPr/>
        </p:nvSpPr>
        <p:spPr>
          <a:xfrm>
            <a:off x="822960" y="4617720"/>
            <a:ext cx="3017520" cy="274320"/>
          </a:xfrm>
          <a:prstGeom prst="rect">
            <a:avLst/>
          </a:prstGeom>
          <a:noFill/>
          <a:ln/>
        </p:spPr>
        <p:txBody>
          <a:bodyPr wrap="square" lIns="0" tIns="0" rIns="0" bIns="0" rtlCol="0" anchor="ctr"/>
          <a:lstStyle/>
          <a:p>
            <a:pPr indent="0" marL="0">
              <a:buNone/>
            </a:pPr>
            <a:r>
              <a:rPr lang="en-US" sz="1300" b="1" dirty="0">
                <a:solidFill>
                  <a:srgbClr val="E7E8D1"/>
                </a:solidFill>
                <a:latin typeface="Calibri" pitchFamily="34" charset="0"/>
                <a:ea typeface="Calibri" pitchFamily="34" charset="-122"/>
                <a:cs typeface="Calibri" pitchFamily="34" charset="-120"/>
              </a:rPr>
              <a:t>TRAIN / VAL GAP</a:t>
            </a:r>
            <a:endParaRPr lang="en-US" sz="1300" dirty="0"/>
          </a:p>
        </p:txBody>
      </p:sp>
      <p:sp>
        <p:nvSpPr>
          <p:cNvPr id="14" name="Text 11"/>
          <p:cNvSpPr txBox="1"/>
          <p:nvPr/>
        </p:nvSpPr>
        <p:spPr>
          <a:xfrm>
            <a:off x="822960" y="5029200"/>
            <a:ext cx="3017520" cy="731520"/>
          </a:xfrm>
          <a:prstGeom prst="rect">
            <a:avLst/>
          </a:prstGeom>
          <a:noFill/>
          <a:ln/>
        </p:spPr>
        <p:txBody>
          <a:bodyPr wrap="square" lIns="0" tIns="0" rIns="0" bIns="0" rtlCol="0" anchor="ctr"/>
          <a:lstStyle/>
          <a:p>
            <a:pPr indent="0" marL="0">
              <a:buNone/>
            </a:pPr>
            <a:r>
              <a:rPr lang="en-US" sz="2200" dirty="0">
                <a:solidFill>
                  <a:srgbClr val="9A8F88"/>
                </a:solidFill>
                <a:latin typeface="Century Schoolbook" pitchFamily="34" charset="0"/>
                <a:ea typeface="Century Schoolbook" pitchFamily="34" charset="-122"/>
                <a:cs typeface="Century Schoolbook" pitchFamily="34" charset="-120"/>
              </a:rPr>
              <a:t>0.179  </a:t>
            </a:r>
            <a:pPr indent="0" marL="0">
              <a:buNone/>
            </a:pPr>
            <a:r>
              <a:rPr lang="en-US" sz="1800" dirty="0">
                <a:solidFill>
                  <a:srgbClr val="A7BEAE"/>
                </a:solidFill>
                <a:latin typeface="Century Schoolbook" pitchFamily="34" charset="0"/>
                <a:ea typeface="Century Schoolbook" pitchFamily="34" charset="-122"/>
                <a:cs typeface="Century Schoolbook" pitchFamily="34" charset="-120"/>
              </a:rPr>
              <a:t>→  </a:t>
            </a:r>
            <a:pPr indent="0" marL="0">
              <a:buNone/>
            </a:pPr>
            <a:r>
              <a:rPr lang="en-US" sz="3000" b="1" dirty="0">
                <a:solidFill>
                  <a:srgbClr val="FFFFFF"/>
                </a:solidFill>
                <a:latin typeface="Century Schoolbook" pitchFamily="34" charset="0"/>
                <a:ea typeface="Century Schoolbook" pitchFamily="34" charset="-122"/>
                <a:cs typeface="Century Schoolbook" pitchFamily="34" charset="-120"/>
              </a:rPr>
              <a:t>0.009</a:t>
            </a:r>
            <a:endParaRPr lang="en-US" sz="1500" dirty="0"/>
          </a:p>
        </p:txBody>
      </p:sp>
      <p:sp>
        <p:nvSpPr>
          <p:cNvPr id="15" name="Shape 12"/>
          <p:cNvSpPr/>
          <p:nvPr/>
        </p:nvSpPr>
        <p:spPr>
          <a:xfrm>
            <a:off x="4325112" y="4434840"/>
            <a:ext cx="3547872" cy="1645920"/>
          </a:xfrm>
          <a:prstGeom prst="roundRect">
            <a:avLst>
              <a:gd name="adj" fmla="val 5000"/>
            </a:avLst>
          </a:prstGeom>
          <a:solidFill>
            <a:srgbClr val="3B2A26"/>
          </a:solidFill>
          <a:ln w="12700">
            <a:solidFill>
              <a:srgbClr val="3B2A26"/>
            </a:solidFill>
            <a:prstDash val="solid"/>
          </a:ln>
        </p:spPr>
      </p:sp>
      <p:sp>
        <p:nvSpPr>
          <p:cNvPr id="16" name="Text 13"/>
          <p:cNvSpPr txBox="1"/>
          <p:nvPr/>
        </p:nvSpPr>
        <p:spPr>
          <a:xfrm>
            <a:off x="4599432" y="4617720"/>
            <a:ext cx="3017520" cy="274320"/>
          </a:xfrm>
          <a:prstGeom prst="rect">
            <a:avLst/>
          </a:prstGeom>
          <a:noFill/>
          <a:ln/>
        </p:spPr>
        <p:txBody>
          <a:bodyPr wrap="square" lIns="0" tIns="0" rIns="0" bIns="0" rtlCol="0" anchor="ctr"/>
          <a:lstStyle/>
          <a:p>
            <a:pPr indent="0" marL="0">
              <a:buNone/>
            </a:pPr>
            <a:r>
              <a:rPr lang="en-US" sz="1300" b="1" dirty="0">
                <a:solidFill>
                  <a:srgbClr val="E7E8D1"/>
                </a:solidFill>
                <a:latin typeface="Calibri" pitchFamily="34" charset="0"/>
                <a:ea typeface="Calibri" pitchFamily="34" charset="-122"/>
                <a:cs typeface="Calibri" pitchFamily="34" charset="-120"/>
              </a:rPr>
              <a:t>TEST ACCURACY</a:t>
            </a:r>
            <a:endParaRPr lang="en-US" sz="1300" dirty="0"/>
          </a:p>
        </p:txBody>
      </p:sp>
      <p:sp>
        <p:nvSpPr>
          <p:cNvPr id="17" name="Text 14"/>
          <p:cNvSpPr txBox="1"/>
          <p:nvPr/>
        </p:nvSpPr>
        <p:spPr>
          <a:xfrm>
            <a:off x="4599432" y="5029200"/>
            <a:ext cx="3017520" cy="731520"/>
          </a:xfrm>
          <a:prstGeom prst="rect">
            <a:avLst/>
          </a:prstGeom>
          <a:noFill/>
          <a:ln/>
        </p:spPr>
        <p:txBody>
          <a:bodyPr wrap="square" lIns="0" tIns="0" rIns="0" bIns="0" rtlCol="0" anchor="ctr"/>
          <a:lstStyle/>
          <a:p>
            <a:pPr indent="0" marL="0">
              <a:buNone/>
            </a:pPr>
            <a:r>
              <a:rPr lang="en-US" sz="2200" dirty="0">
                <a:solidFill>
                  <a:srgbClr val="9A8F88"/>
                </a:solidFill>
                <a:latin typeface="Century Schoolbook" pitchFamily="34" charset="0"/>
                <a:ea typeface="Century Schoolbook" pitchFamily="34" charset="-122"/>
                <a:cs typeface="Century Schoolbook" pitchFamily="34" charset="-120"/>
              </a:rPr>
              <a:t>0.728  </a:t>
            </a:r>
            <a:pPr indent="0" marL="0">
              <a:buNone/>
            </a:pPr>
            <a:r>
              <a:rPr lang="en-US" sz="1800" dirty="0">
                <a:solidFill>
                  <a:srgbClr val="A7BEAE"/>
                </a:solidFill>
                <a:latin typeface="Century Schoolbook" pitchFamily="34" charset="0"/>
                <a:ea typeface="Century Schoolbook" pitchFamily="34" charset="-122"/>
                <a:cs typeface="Century Schoolbook" pitchFamily="34" charset="-120"/>
              </a:rPr>
              <a:t>→  </a:t>
            </a:r>
            <a:pPr indent="0" marL="0">
              <a:buNone/>
            </a:pPr>
            <a:r>
              <a:rPr lang="en-US" sz="3000" b="1" dirty="0">
                <a:solidFill>
                  <a:srgbClr val="FFFFFF"/>
                </a:solidFill>
                <a:latin typeface="Century Schoolbook" pitchFamily="34" charset="0"/>
                <a:ea typeface="Century Schoolbook" pitchFamily="34" charset="-122"/>
                <a:cs typeface="Century Schoolbook" pitchFamily="34" charset="-120"/>
              </a:rPr>
              <a:t>0.750</a:t>
            </a:r>
            <a:endParaRPr lang="en-US" sz="1500" dirty="0"/>
          </a:p>
        </p:txBody>
      </p:sp>
      <p:sp>
        <p:nvSpPr>
          <p:cNvPr id="18" name="Shape 15"/>
          <p:cNvSpPr/>
          <p:nvPr/>
        </p:nvSpPr>
        <p:spPr>
          <a:xfrm>
            <a:off x="8101584" y="4434840"/>
            <a:ext cx="3547872" cy="1645920"/>
          </a:xfrm>
          <a:prstGeom prst="roundRect">
            <a:avLst>
              <a:gd name="adj" fmla="val 5000"/>
            </a:avLst>
          </a:prstGeom>
          <a:solidFill>
            <a:srgbClr val="3B2A26"/>
          </a:solidFill>
          <a:ln w="12700">
            <a:solidFill>
              <a:srgbClr val="3B2A26"/>
            </a:solidFill>
            <a:prstDash val="solid"/>
          </a:ln>
        </p:spPr>
      </p:sp>
      <p:sp>
        <p:nvSpPr>
          <p:cNvPr id="19" name="Text 16"/>
          <p:cNvSpPr txBox="1"/>
          <p:nvPr/>
        </p:nvSpPr>
        <p:spPr>
          <a:xfrm>
            <a:off x="8375904" y="4617720"/>
            <a:ext cx="3017520" cy="274320"/>
          </a:xfrm>
          <a:prstGeom prst="rect">
            <a:avLst/>
          </a:prstGeom>
          <a:noFill/>
          <a:ln/>
        </p:spPr>
        <p:txBody>
          <a:bodyPr wrap="square" lIns="0" tIns="0" rIns="0" bIns="0" rtlCol="0" anchor="ctr"/>
          <a:lstStyle/>
          <a:p>
            <a:pPr indent="0" marL="0">
              <a:buNone/>
            </a:pPr>
            <a:r>
              <a:rPr lang="en-US" sz="1300" b="1" dirty="0">
                <a:solidFill>
                  <a:srgbClr val="E7E8D1"/>
                </a:solidFill>
                <a:latin typeface="Calibri" pitchFamily="34" charset="0"/>
                <a:ea typeface="Calibri" pitchFamily="34" charset="-122"/>
                <a:cs typeface="Calibri" pitchFamily="34" charset="-120"/>
              </a:rPr>
              <a:t>RECALL ON DOGS</a:t>
            </a:r>
            <a:endParaRPr lang="en-US" sz="1300" dirty="0"/>
          </a:p>
        </p:txBody>
      </p:sp>
      <p:sp>
        <p:nvSpPr>
          <p:cNvPr id="20" name="Text 17"/>
          <p:cNvSpPr txBox="1"/>
          <p:nvPr/>
        </p:nvSpPr>
        <p:spPr>
          <a:xfrm>
            <a:off x="8375904" y="5029200"/>
            <a:ext cx="3017520" cy="731520"/>
          </a:xfrm>
          <a:prstGeom prst="rect">
            <a:avLst/>
          </a:prstGeom>
          <a:noFill/>
          <a:ln/>
        </p:spPr>
        <p:txBody>
          <a:bodyPr wrap="square" lIns="0" tIns="0" rIns="0" bIns="0" rtlCol="0" anchor="ctr"/>
          <a:lstStyle/>
          <a:p>
            <a:pPr indent="0" marL="0">
              <a:buNone/>
            </a:pPr>
            <a:r>
              <a:rPr lang="en-US" sz="2200" dirty="0">
                <a:solidFill>
                  <a:srgbClr val="9A8F88"/>
                </a:solidFill>
                <a:latin typeface="Century Schoolbook" pitchFamily="34" charset="0"/>
                <a:ea typeface="Century Schoolbook" pitchFamily="34" charset="-122"/>
                <a:cs typeface="Century Schoolbook" pitchFamily="34" charset="-120"/>
              </a:rPr>
              <a:t>0.619  </a:t>
            </a:r>
            <a:pPr indent="0" marL="0">
              <a:buNone/>
            </a:pPr>
            <a:r>
              <a:rPr lang="en-US" sz="1800" dirty="0">
                <a:solidFill>
                  <a:srgbClr val="A7BEAE"/>
                </a:solidFill>
                <a:latin typeface="Century Schoolbook" pitchFamily="34" charset="0"/>
                <a:ea typeface="Century Schoolbook" pitchFamily="34" charset="-122"/>
                <a:cs typeface="Century Schoolbook" pitchFamily="34" charset="-120"/>
              </a:rPr>
              <a:t>→  </a:t>
            </a:r>
            <a:pPr indent="0" marL="0">
              <a:buNone/>
            </a:pPr>
            <a:r>
              <a:rPr lang="en-US" sz="3000" b="1" dirty="0">
                <a:solidFill>
                  <a:srgbClr val="FFFFFF"/>
                </a:solidFill>
                <a:latin typeface="Century Schoolbook" pitchFamily="34" charset="0"/>
                <a:ea typeface="Century Schoolbook" pitchFamily="34" charset="-122"/>
                <a:cs typeface="Century Schoolbook" pitchFamily="34" charset="-120"/>
              </a:rPr>
              <a:t>0.858</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ellipse">
            <a:avLst/>
          </a:prstGeom>
          <a:solidFill>
            <a:srgbClr val="B85042"/>
          </a:solidFill>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entury Schoolbook" pitchFamily="34" charset="0"/>
                <a:ea typeface="Century Schoolbook" pitchFamily="34" charset="-122"/>
                <a:cs typeface="Century Schoolbook" pitchFamily="34" charset="-120"/>
              </a:rPr>
              <a:t>7</a:t>
            </a:r>
            <a:endParaRPr lang="en-US" sz="2000" dirty="0"/>
          </a:p>
        </p:txBody>
      </p:sp>
      <p:sp>
        <p:nvSpPr>
          <p:cNvPr id="4" name="Text 2"/>
          <p:cNvSpPr txBox="1"/>
          <p:nvPr/>
        </p:nvSpPr>
        <p:spPr>
          <a:xfrm>
            <a:off x="1298448" y="384048"/>
            <a:ext cx="10241280" cy="640080"/>
          </a:xfrm>
          <a:prstGeom prst="rect">
            <a:avLst/>
          </a:prstGeom>
          <a:noFill/>
          <a:ln/>
        </p:spPr>
        <p:txBody>
          <a:bodyPr wrap="square" lIns="0" tIns="0" rIns="0" bIns="0" rtlCol="0" anchor="ctr"/>
          <a:lstStyle/>
          <a:p>
            <a:pPr indent="0" marL="0">
              <a:buNone/>
            </a:pPr>
            <a:r>
              <a:rPr lang="en-US" sz="3000" b="1" dirty="0">
                <a:solidFill>
                  <a:srgbClr val="2E2A27"/>
                </a:solidFill>
                <a:latin typeface="Century Schoolbook" pitchFamily="34" charset="0"/>
                <a:ea typeface="Century Schoolbook" pitchFamily="34" charset="-122"/>
                <a:cs typeface="Century Schoolbook" pitchFamily="34" charset="-120"/>
              </a:rPr>
              <a:t>Fix 2 — Dropout + batch normalization</a:t>
            </a:r>
            <a:endParaRPr lang="en-US" sz="3000" dirty="0"/>
          </a:p>
        </p:txBody>
      </p:sp>
      <p:pic>
        <p:nvPicPr>
          <p:cNvPr id="5" name="Image 0" descr="/home/claude/projet/v2/figures/curves_C.png">    </p:cNvPr>
          <p:cNvPicPr>
            <a:picLocks noChangeAspect="1"/>
          </p:cNvPicPr>
          <p:nvPr/>
        </p:nvPicPr>
        <p:blipFill>
          <a:blip r:embed="rId1"/>
          <a:stretch>
            <a:fillRect/>
          </a:stretch>
        </p:blipFill>
        <p:spPr>
          <a:xfrm>
            <a:off x="548640" y="1234440"/>
            <a:ext cx="6949440" cy="2313432"/>
          </a:xfrm>
          <a:prstGeom prst="rect">
            <a:avLst/>
          </a:prstGeom>
        </p:spPr>
      </p:pic>
      <p:sp>
        <p:nvSpPr>
          <p:cNvPr id="6" name="Shape 3"/>
          <p:cNvSpPr/>
          <p:nvPr/>
        </p:nvSpPr>
        <p:spPr>
          <a:xfrm>
            <a:off x="7772400" y="1234440"/>
            <a:ext cx="3886200" cy="2313432"/>
          </a:xfrm>
          <a:prstGeom prst="roundRect">
            <a:avLst>
              <a:gd name="adj" fmla="val 3557"/>
            </a:avLst>
          </a:prstGeom>
          <a:solidFill>
            <a:srgbClr val="3B2A26"/>
          </a:solidFill>
          <a:ln w="12700">
            <a:solidFill>
              <a:srgbClr val="3B2A26"/>
            </a:solidFill>
            <a:prstDash val="solid"/>
          </a:ln>
        </p:spPr>
      </p:sp>
      <p:sp>
        <p:nvSpPr>
          <p:cNvPr id="7" name="Text 4"/>
          <p:cNvSpPr txBox="1"/>
          <p:nvPr/>
        </p:nvSpPr>
        <p:spPr>
          <a:xfrm>
            <a:off x="8046720" y="1399032"/>
            <a:ext cx="3337560" cy="274320"/>
          </a:xfrm>
          <a:prstGeom prst="rect">
            <a:avLst/>
          </a:prstGeom>
          <a:noFill/>
          <a:ln/>
        </p:spPr>
        <p:txBody>
          <a:bodyPr wrap="square" lIns="0" tIns="0" rIns="0" bIns="0" rtlCol="0" anchor="ctr"/>
          <a:lstStyle/>
          <a:p>
            <a:pPr indent="0" marL="0">
              <a:buNone/>
            </a:pPr>
            <a:r>
              <a:rPr lang="en-US" sz="1300" dirty="0">
                <a:solidFill>
                  <a:srgbClr val="E7E8D1"/>
                </a:solidFill>
                <a:latin typeface="Calibri" pitchFamily="34" charset="0"/>
                <a:ea typeface="Calibri" pitchFamily="34" charset="-122"/>
                <a:cs typeface="Calibri" pitchFamily="34" charset="-120"/>
              </a:rPr>
              <a:t>TEST ACCURACY</a:t>
            </a:r>
            <a:endParaRPr lang="en-US" sz="1300" dirty="0"/>
          </a:p>
        </p:txBody>
      </p:sp>
      <p:sp>
        <p:nvSpPr>
          <p:cNvPr id="8" name="Text 5"/>
          <p:cNvSpPr txBox="1"/>
          <p:nvPr/>
        </p:nvSpPr>
        <p:spPr>
          <a:xfrm>
            <a:off x="8046720" y="1691640"/>
            <a:ext cx="3337560" cy="731520"/>
          </a:xfrm>
          <a:prstGeom prst="rect">
            <a:avLst/>
          </a:prstGeom>
          <a:noFill/>
          <a:ln/>
        </p:spPr>
        <p:txBody>
          <a:bodyPr wrap="square" lIns="0" tIns="0" rIns="0" bIns="0" rtlCol="0" anchor="ctr"/>
          <a:lstStyle/>
          <a:p>
            <a:pPr indent="0" marL="0">
              <a:buNone/>
            </a:pPr>
            <a:r>
              <a:rPr lang="en-US" sz="4000" b="1" dirty="0">
                <a:solidFill>
                  <a:srgbClr val="FFFFFF"/>
                </a:solidFill>
                <a:latin typeface="Century Schoolbook" pitchFamily="34" charset="0"/>
                <a:ea typeface="Century Schoolbook" pitchFamily="34" charset="-122"/>
                <a:cs typeface="Century Schoolbook" pitchFamily="34" charset="-120"/>
              </a:rPr>
              <a:t>0.780</a:t>
            </a:r>
            <a:endParaRPr lang="en-US" sz="4000" dirty="0"/>
          </a:p>
        </p:txBody>
      </p:sp>
      <p:sp>
        <p:nvSpPr>
          <p:cNvPr id="9" name="Text 6"/>
          <p:cNvSpPr txBox="1"/>
          <p:nvPr/>
        </p:nvSpPr>
        <p:spPr>
          <a:xfrm>
            <a:off x="8046720" y="2423160"/>
            <a:ext cx="3337560" cy="457200"/>
          </a:xfrm>
          <a:prstGeom prst="rect">
            <a:avLst/>
          </a:prstGeom>
          <a:noFill/>
          <a:ln/>
        </p:spPr>
        <p:txBody>
          <a:bodyPr wrap="square" lIns="0" tIns="0" rIns="0" bIns="0" rtlCol="0" anchor="ctr"/>
          <a:lstStyle/>
          <a:p>
            <a:pPr indent="0" marL="0">
              <a:buNone/>
            </a:pPr>
            <a:r>
              <a:rPr lang="en-US" sz="1250" dirty="0">
                <a:solidFill>
                  <a:srgbClr val="A7BEAE"/>
                </a:solidFill>
                <a:latin typeface="Calibri" pitchFamily="34" charset="0"/>
                <a:ea typeface="Calibri" pitchFamily="34" charset="-122"/>
                <a:cs typeface="Calibri" pitchFamily="34" charset="-120"/>
              </a:rPr>
              <a:t>best of the three · F1 = 0.810 · gap 0.085</a:t>
            </a:r>
            <a:endParaRPr lang="en-US" sz="1250" dirty="0"/>
          </a:p>
        </p:txBody>
      </p:sp>
      <p:sp>
        <p:nvSpPr>
          <p:cNvPr id="10" name="Shape 7"/>
          <p:cNvSpPr/>
          <p:nvPr/>
        </p:nvSpPr>
        <p:spPr>
          <a:xfrm>
            <a:off x="548640" y="3794760"/>
            <a:ext cx="5486400" cy="1325880"/>
          </a:xfrm>
          <a:prstGeom prst="roundRect">
            <a:avLst>
              <a:gd name="adj" fmla="val 6207"/>
            </a:avLst>
          </a:prstGeom>
          <a:solidFill>
            <a:srgbClr val="E7E8D1"/>
          </a:solidFill>
          <a:ln w="12700">
            <a:solidFill>
              <a:srgbClr val="E7E8D1"/>
            </a:solidFill>
            <a:prstDash val="solid"/>
          </a:ln>
        </p:spPr>
      </p:sp>
      <p:sp>
        <p:nvSpPr>
          <p:cNvPr id="11" name="Text 8"/>
          <p:cNvSpPr txBox="1"/>
          <p:nvPr/>
        </p:nvSpPr>
        <p:spPr>
          <a:xfrm>
            <a:off x="868680" y="3950208"/>
            <a:ext cx="4846320" cy="274320"/>
          </a:xfrm>
          <a:prstGeom prst="rect">
            <a:avLst/>
          </a:prstGeom>
          <a:noFill/>
          <a:ln/>
        </p:spPr>
        <p:txBody>
          <a:bodyPr wrap="square" lIns="0" tIns="0" rIns="0" bIns="0" rtlCol="0" anchor="ctr"/>
          <a:lstStyle/>
          <a:p>
            <a:pPr indent="0" marL="0">
              <a:buNone/>
            </a:pPr>
            <a:r>
              <a:rPr lang="en-US" sz="1600" b="1" dirty="0">
                <a:solidFill>
                  <a:srgbClr val="B85042"/>
                </a:solidFill>
                <a:latin typeface="Century Schoolbook" pitchFamily="34" charset="0"/>
                <a:ea typeface="Century Schoolbook" pitchFamily="34" charset="-122"/>
                <a:cs typeface="Century Schoolbook" pitchFamily="34" charset="-120"/>
              </a:rPr>
              <a:t>Dropout 0.5</a:t>
            </a:r>
            <a:endParaRPr lang="en-US" sz="1600" dirty="0"/>
          </a:p>
        </p:txBody>
      </p:sp>
      <p:sp>
        <p:nvSpPr>
          <p:cNvPr id="12" name="Text 9"/>
          <p:cNvSpPr txBox="1"/>
          <p:nvPr/>
        </p:nvSpPr>
        <p:spPr>
          <a:xfrm>
            <a:off x="868680" y="4279392"/>
            <a:ext cx="4846320" cy="731520"/>
          </a:xfrm>
          <a:prstGeom prst="rect">
            <a:avLst/>
          </a:prstGeom>
          <a:noFill/>
          <a:ln/>
        </p:spPr>
        <p:txBody>
          <a:bodyPr wrap="square" lIns="0" tIns="0" rIns="0" bIns="0" rtlCol="0" anchor="ctr"/>
          <a:lstStyle/>
          <a:p>
            <a:pPr indent="0" marL="0">
              <a:buNone/>
            </a:pPr>
            <a:r>
              <a:rPr lang="en-US" sz="1350" dirty="0">
                <a:solidFill>
                  <a:srgbClr val="2E2A27"/>
                </a:solidFill>
                <a:latin typeface="Calibri" pitchFamily="34" charset="0"/>
                <a:ea typeface="Calibri" pitchFamily="34" charset="-122"/>
                <a:cs typeface="Calibri" pitchFamily="34" charset="-120"/>
              </a:rPr>
              <a:t>Half the dense units are switched off at each step → no unit can be relied on → distributed representation. Off at test time.</a:t>
            </a:r>
            <a:endParaRPr lang="en-US" sz="1350" dirty="0"/>
          </a:p>
        </p:txBody>
      </p:sp>
      <p:sp>
        <p:nvSpPr>
          <p:cNvPr id="13" name="Shape 10"/>
          <p:cNvSpPr/>
          <p:nvPr/>
        </p:nvSpPr>
        <p:spPr>
          <a:xfrm>
            <a:off x="6309360" y="3794760"/>
            <a:ext cx="5349240" cy="1325880"/>
          </a:xfrm>
          <a:prstGeom prst="roundRect">
            <a:avLst>
              <a:gd name="adj" fmla="val 6207"/>
            </a:avLst>
          </a:prstGeom>
          <a:solidFill>
            <a:srgbClr val="A7BEAE"/>
          </a:solidFill>
          <a:ln w="12700">
            <a:solidFill>
              <a:srgbClr val="A7BEAE"/>
            </a:solidFill>
            <a:prstDash val="solid"/>
          </a:ln>
        </p:spPr>
      </p:sp>
      <p:sp>
        <p:nvSpPr>
          <p:cNvPr id="14" name="Text 11"/>
          <p:cNvSpPr txBox="1"/>
          <p:nvPr/>
        </p:nvSpPr>
        <p:spPr>
          <a:xfrm>
            <a:off x="6629400" y="3950208"/>
            <a:ext cx="4709160" cy="274320"/>
          </a:xfrm>
          <a:prstGeom prst="rect">
            <a:avLst/>
          </a:prstGeom>
          <a:noFill/>
          <a:ln/>
        </p:spPr>
        <p:txBody>
          <a:bodyPr wrap="square" lIns="0" tIns="0" rIns="0" bIns="0" rtlCol="0" anchor="ctr"/>
          <a:lstStyle/>
          <a:p>
            <a:pPr indent="0" marL="0">
              <a:buNone/>
            </a:pPr>
            <a:r>
              <a:rPr lang="en-US" sz="1600" b="1" dirty="0">
                <a:solidFill>
                  <a:srgbClr val="3B2A26"/>
                </a:solidFill>
                <a:latin typeface="Century Schoolbook" pitchFamily="34" charset="0"/>
                <a:ea typeface="Century Schoolbook" pitchFamily="34" charset="-122"/>
                <a:cs typeface="Century Schoolbook" pitchFamily="34" charset="-120"/>
              </a:rPr>
              <a:t>Batch normalization</a:t>
            </a:r>
            <a:endParaRPr lang="en-US" sz="1600" dirty="0"/>
          </a:p>
        </p:txBody>
      </p:sp>
      <p:sp>
        <p:nvSpPr>
          <p:cNvPr id="15" name="Text 12"/>
          <p:cNvSpPr txBox="1"/>
          <p:nvPr/>
        </p:nvSpPr>
        <p:spPr>
          <a:xfrm>
            <a:off x="6629400" y="4279392"/>
            <a:ext cx="4709160" cy="731520"/>
          </a:xfrm>
          <a:prstGeom prst="rect">
            <a:avLst/>
          </a:prstGeom>
          <a:noFill/>
          <a:ln/>
        </p:spPr>
        <p:txBody>
          <a:bodyPr wrap="square" lIns="0" tIns="0" rIns="0" bIns="0" rtlCol="0" anchor="ctr"/>
          <a:lstStyle/>
          <a:p>
            <a:pPr indent="0" marL="0">
              <a:buNone/>
            </a:pPr>
            <a:r>
              <a:rPr lang="en-US" sz="1350" dirty="0">
                <a:solidFill>
                  <a:srgbClr val="2E2A27"/>
                </a:solidFill>
                <a:latin typeface="Calibri" pitchFamily="34" charset="0"/>
                <a:ea typeface="Calibri" pitchFamily="34" charset="-122"/>
                <a:cs typeface="Calibri" pitchFamily="34" charset="-120"/>
              </a:rPr>
              <a:t>Each convolution output is normalised over the batch → stable, faster training, mild regularisation.</a:t>
            </a:r>
            <a:endParaRPr lang="en-US" sz="1350" dirty="0"/>
          </a:p>
        </p:txBody>
      </p:sp>
      <p:sp>
        <p:nvSpPr>
          <p:cNvPr id="16" name="Shape 13"/>
          <p:cNvSpPr/>
          <p:nvPr/>
        </p:nvSpPr>
        <p:spPr>
          <a:xfrm>
            <a:off x="548640" y="5303520"/>
            <a:ext cx="11109960" cy="777240"/>
          </a:xfrm>
          <a:prstGeom prst="roundRect">
            <a:avLst>
              <a:gd name="adj" fmla="val 10588"/>
            </a:avLst>
          </a:prstGeom>
          <a:solidFill>
            <a:srgbClr val="3B2A26"/>
          </a:solidFill>
          <a:ln w="12700">
            <a:solidFill>
              <a:srgbClr val="3B2A26"/>
            </a:solidFill>
            <a:prstDash val="solid"/>
          </a:ln>
        </p:spPr>
      </p:sp>
      <p:sp>
        <p:nvSpPr>
          <p:cNvPr id="17" name="Text 14"/>
          <p:cNvSpPr txBox="1"/>
          <p:nvPr/>
        </p:nvSpPr>
        <p:spPr>
          <a:xfrm>
            <a:off x="868680" y="5468112"/>
            <a:ext cx="10515600" cy="502920"/>
          </a:xfrm>
          <a:prstGeom prst="rect">
            <a:avLst/>
          </a:prstGeom>
          <a:noFill/>
          <a:ln/>
        </p:spPr>
        <p:txBody>
          <a:bodyPr wrap="square" lIns="0" tIns="0" rIns="0" bIns="0" rtlCol="0" anchor="ctr"/>
          <a:lstStyle/>
          <a:p>
            <a:pPr indent="0" marL="0">
              <a:buNone/>
            </a:pPr>
            <a:r>
              <a:rPr lang="en-US" sz="1350" b="1" dirty="0">
                <a:solidFill>
                  <a:srgbClr val="A7BEAE"/>
                </a:solidFill>
                <a:latin typeface="Calibri" pitchFamily="34" charset="0"/>
                <a:ea typeface="Calibri" pitchFamily="34" charset="-122"/>
                <a:cs typeface="Calibri" pitchFamily="34" charset="-120"/>
              </a:rPr>
              <a:t>Bug worth reporting:  </a:t>
            </a:r>
            <a:pPr indent="0" marL="0">
              <a:buNone/>
            </a:pPr>
            <a:r>
              <a:rPr lang="en-US" sz="1350" dirty="0">
                <a:solidFill>
                  <a:srgbClr val="FFFFFF"/>
                </a:solidFill>
                <a:latin typeface="Calibri" pitchFamily="34" charset="0"/>
                <a:ea typeface="Calibri" pitchFamily="34" charset="-122"/>
                <a:cs typeface="Calibri" pitchFamily="34" charset="-120"/>
              </a:rPr>
              <a:t>with the default momentum = 0.99 and only 240 updates, the running statistics never converge — validation accuracy stayed pinned at exactly 0.500 while training ran fine. momentum = 0.9 fixes it.</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ellipse">
            <a:avLst/>
          </a:prstGeom>
          <a:solidFill>
            <a:srgbClr val="B85042"/>
          </a:solidFill>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entury Schoolbook" pitchFamily="34" charset="0"/>
                <a:ea typeface="Century Schoolbook" pitchFamily="34" charset="-122"/>
                <a:cs typeface="Century Schoolbook" pitchFamily="34" charset="-120"/>
              </a:rPr>
              <a:t>8</a:t>
            </a:r>
            <a:endParaRPr lang="en-US" sz="2000" dirty="0"/>
          </a:p>
        </p:txBody>
      </p:sp>
      <p:sp>
        <p:nvSpPr>
          <p:cNvPr id="4" name="Text 2"/>
          <p:cNvSpPr txBox="1"/>
          <p:nvPr/>
        </p:nvSpPr>
        <p:spPr>
          <a:xfrm>
            <a:off x="1298448" y="384048"/>
            <a:ext cx="10241280" cy="640080"/>
          </a:xfrm>
          <a:prstGeom prst="rect">
            <a:avLst/>
          </a:prstGeom>
          <a:noFill/>
          <a:ln/>
        </p:spPr>
        <p:txBody>
          <a:bodyPr wrap="square" lIns="0" tIns="0" rIns="0" bIns="0" rtlCol="0" anchor="ctr"/>
          <a:lstStyle/>
          <a:p>
            <a:pPr indent="0" marL="0">
              <a:buNone/>
            </a:pPr>
            <a:r>
              <a:rPr lang="en-US" sz="3000" b="1" dirty="0">
                <a:solidFill>
                  <a:srgbClr val="2E2A27"/>
                </a:solidFill>
                <a:latin typeface="Century Schoolbook" pitchFamily="34" charset="0"/>
                <a:ea typeface="Century Schoolbook" pitchFamily="34" charset="-122"/>
                <a:cs typeface="Century Schoolbook" pitchFamily="34" charset="-120"/>
              </a:rPr>
              <a:t>Three models, side by side</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109960" cy="914400"/>
        </p:xfrm>
        <a:graphic>
          <a:graphicData uri="http://schemas.openxmlformats.org/drawingml/2006/table">
            <a:tbl>
              <a:tblPr/>
              <a:tblGrid>
                <a:gridCol w="3246120"/>
                <a:gridCol w="1554480"/>
                <a:gridCol w="1554480"/>
                <a:gridCol w="1371600"/>
                <a:gridCol w="1371600"/>
                <a:gridCol w="201168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3B2A2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Accuracy</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3B2A2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Precision</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3B2A2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Recall</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3B2A2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F1</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3B2A2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Train / val gap</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3B2A26"/>
                    </a:solidFill>
                  </a:tcPr>
                </a:tc>
              </a:tr>
              <a:tr h="411480">
                <a:tc>
                  <a:txBody>
                    <a:bodyPr/>
                    <a:lstStyle/>
                    <a:p>
                      <a:pPr indent="0" marL="0">
                        <a:buNone/>
                      </a:pPr>
                      <a:r>
                        <a:rPr lang="en-US" sz="1400" dirty="0">
                          <a:solidFill>
                            <a:srgbClr val="2E2A27"/>
                          </a:solidFill>
                          <a:latin typeface="Calibri" pitchFamily="34" charset="0"/>
                          <a:ea typeface="Calibri" pitchFamily="34" charset="-122"/>
                          <a:cs typeface="Calibri" pitchFamily="34" charset="-120"/>
                        </a:rPr>
                        <a:t>A — baseline CNN</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FFFFFF"/>
                    </a:solidFill>
                  </a:tcPr>
                </a:tc>
                <a:tc>
                  <a:txBody>
                    <a:bodyPr/>
                    <a:lstStyle/>
                    <a:p>
                      <a:pPr indent="0" marL="0">
                        <a:buNone/>
                      </a:pPr>
                      <a:r>
                        <a:rPr lang="en-US" sz="1400" dirty="0">
                          <a:solidFill>
                            <a:srgbClr val="2E2A27"/>
                          </a:solidFill>
                          <a:latin typeface="Calibri" pitchFamily="34" charset="0"/>
                          <a:ea typeface="Calibri" pitchFamily="34" charset="-122"/>
                          <a:cs typeface="Calibri" pitchFamily="34" charset="-120"/>
                        </a:rPr>
                        <a:t>0.728</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FFFFFF"/>
                    </a:solidFill>
                  </a:tcPr>
                </a:tc>
                <a:tc>
                  <a:txBody>
                    <a:bodyPr/>
                    <a:lstStyle/>
                    <a:p>
                      <a:pPr indent="0" marL="0">
                        <a:buNone/>
                      </a:pPr>
                      <a:r>
                        <a:rPr lang="en-US" sz="1400" dirty="0">
                          <a:solidFill>
                            <a:srgbClr val="2E2A27"/>
                          </a:solidFill>
                          <a:latin typeface="Calibri" pitchFamily="34" charset="0"/>
                          <a:ea typeface="Calibri" pitchFamily="34" charset="-122"/>
                          <a:cs typeface="Calibri" pitchFamily="34" charset="-120"/>
                        </a:rPr>
                        <a:t>0.839</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FFFFFF"/>
                    </a:solidFill>
                  </a:tcPr>
                </a:tc>
                <a:tc>
                  <a:txBody>
                    <a:bodyPr/>
                    <a:lstStyle/>
                    <a:p>
                      <a:pPr indent="0" marL="0">
                        <a:buNone/>
                      </a:pPr>
                      <a:r>
                        <a:rPr lang="en-US" sz="1400" dirty="0">
                          <a:solidFill>
                            <a:srgbClr val="2E2A27"/>
                          </a:solidFill>
                          <a:latin typeface="Calibri" pitchFamily="34" charset="0"/>
                          <a:ea typeface="Calibri" pitchFamily="34" charset="-122"/>
                          <a:cs typeface="Calibri" pitchFamily="34" charset="-120"/>
                        </a:rPr>
                        <a:t>0.619</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FFFFFF"/>
                    </a:solidFill>
                  </a:tcPr>
                </a:tc>
                <a:tc>
                  <a:txBody>
                    <a:bodyPr/>
                    <a:lstStyle/>
                    <a:p>
                      <a:pPr indent="0" marL="0">
                        <a:buNone/>
                      </a:pPr>
                      <a:r>
                        <a:rPr lang="en-US" sz="1400" dirty="0">
                          <a:solidFill>
                            <a:srgbClr val="2E2A27"/>
                          </a:solidFill>
                          <a:latin typeface="Calibri" pitchFamily="34" charset="0"/>
                          <a:ea typeface="Calibri" pitchFamily="34" charset="-122"/>
                          <a:cs typeface="Calibri" pitchFamily="34" charset="-120"/>
                        </a:rPr>
                        <a:t>0.712</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FFFFFF"/>
                    </a:solidFill>
                  </a:tcPr>
                </a:tc>
                <a:tc>
                  <a:txBody>
                    <a:bodyPr/>
                    <a:lstStyle/>
                    <a:p>
                      <a:pPr indent="0" marL="0">
                        <a:buNone/>
                      </a:pPr>
                      <a:r>
                        <a:rPr lang="en-US" sz="1400" dirty="0">
                          <a:solidFill>
                            <a:srgbClr val="2E2A27"/>
                          </a:solidFill>
                          <a:latin typeface="Calibri" pitchFamily="34" charset="0"/>
                          <a:ea typeface="Calibri" pitchFamily="34" charset="-122"/>
                          <a:cs typeface="Calibri" pitchFamily="34" charset="-120"/>
                        </a:rPr>
                        <a:t>0.179</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2E2A27"/>
                          </a:solidFill>
                          <a:latin typeface="Calibri" pitchFamily="34" charset="0"/>
                          <a:ea typeface="Calibri" pitchFamily="34" charset="-122"/>
                          <a:cs typeface="Calibri" pitchFamily="34" charset="-120"/>
                        </a:rPr>
                        <a:t>B — data augmentation</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FFFFFF"/>
                    </a:solidFill>
                  </a:tcPr>
                </a:tc>
                <a:tc>
                  <a:txBody>
                    <a:bodyPr/>
                    <a:lstStyle/>
                    <a:p>
                      <a:pPr indent="0" marL="0">
                        <a:buNone/>
                      </a:pPr>
                      <a:r>
                        <a:rPr lang="en-US" sz="1400" dirty="0">
                          <a:solidFill>
                            <a:srgbClr val="2E2A27"/>
                          </a:solidFill>
                          <a:latin typeface="Calibri" pitchFamily="34" charset="0"/>
                          <a:ea typeface="Calibri" pitchFamily="34" charset="-122"/>
                          <a:cs typeface="Calibri" pitchFamily="34" charset="-120"/>
                        </a:rPr>
                        <a:t>0.750</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FFFFFF"/>
                    </a:solidFill>
                  </a:tcPr>
                </a:tc>
                <a:tc>
                  <a:txBody>
                    <a:bodyPr/>
                    <a:lstStyle/>
                    <a:p>
                      <a:pPr indent="0" marL="0">
                        <a:buNone/>
                      </a:pPr>
                      <a:r>
                        <a:rPr lang="en-US" sz="1400" dirty="0">
                          <a:solidFill>
                            <a:srgbClr val="2E2A27"/>
                          </a:solidFill>
                          <a:latin typeface="Calibri" pitchFamily="34" charset="0"/>
                          <a:ea typeface="Calibri" pitchFamily="34" charset="-122"/>
                          <a:cs typeface="Calibri" pitchFamily="34" charset="-120"/>
                        </a:rPr>
                        <a:t>0.730</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FFFFFF"/>
                    </a:solidFill>
                  </a:tcPr>
                </a:tc>
                <a:tc>
                  <a:txBody>
                    <a:bodyPr/>
                    <a:lstStyle/>
                    <a:p>
                      <a:pPr indent="0" marL="0">
                        <a:buNone/>
                      </a:pPr>
                      <a:r>
                        <a:rPr lang="en-US" sz="1400" dirty="0">
                          <a:solidFill>
                            <a:srgbClr val="2E2A27"/>
                          </a:solidFill>
                          <a:latin typeface="Calibri" pitchFamily="34" charset="0"/>
                          <a:ea typeface="Calibri" pitchFamily="34" charset="-122"/>
                          <a:cs typeface="Calibri" pitchFamily="34" charset="-120"/>
                        </a:rPr>
                        <a:t>0.858</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FFFFFF"/>
                    </a:solidFill>
                  </a:tcPr>
                </a:tc>
                <a:tc>
                  <a:txBody>
                    <a:bodyPr/>
                    <a:lstStyle/>
                    <a:p>
                      <a:pPr indent="0" marL="0">
                        <a:buNone/>
                      </a:pPr>
                      <a:r>
                        <a:rPr lang="en-US" sz="1400" dirty="0">
                          <a:solidFill>
                            <a:srgbClr val="2E2A27"/>
                          </a:solidFill>
                          <a:latin typeface="Calibri" pitchFamily="34" charset="0"/>
                          <a:ea typeface="Calibri" pitchFamily="34" charset="-122"/>
                          <a:cs typeface="Calibri" pitchFamily="34" charset="-120"/>
                        </a:rPr>
                        <a:t>0.789</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FFFFFF"/>
                    </a:solidFill>
                  </a:tcPr>
                </a:tc>
                <a:tc>
                  <a:txBody>
                    <a:bodyPr/>
                    <a:lstStyle/>
                    <a:p>
                      <a:pPr indent="0" marL="0">
                        <a:buNone/>
                      </a:pPr>
                      <a:r>
                        <a:rPr lang="en-US" sz="1400" dirty="0">
                          <a:solidFill>
                            <a:srgbClr val="2E2A27"/>
                          </a:solidFill>
                          <a:latin typeface="Calibri" pitchFamily="34" charset="0"/>
                          <a:ea typeface="Calibri" pitchFamily="34" charset="-122"/>
                          <a:cs typeface="Calibri" pitchFamily="34" charset="-120"/>
                        </a:rPr>
                        <a:t>0.009</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FFFFFF"/>
                    </a:solidFill>
                  </a:tcPr>
                </a:tc>
              </a:tr>
              <a:tr h="411480">
                <a:tc>
                  <a:txBody>
                    <a:bodyPr/>
                    <a:lstStyle/>
                    <a:p>
                      <a:pPr indent="0" marL="0">
                        <a:buNone/>
                      </a:pPr>
                      <a:r>
                        <a:rPr lang="en-US" sz="1400" b="1" dirty="0">
                          <a:solidFill>
                            <a:srgbClr val="B85042"/>
                          </a:solidFill>
                          <a:latin typeface="Calibri" pitchFamily="34" charset="0"/>
                          <a:ea typeface="Calibri" pitchFamily="34" charset="-122"/>
                          <a:cs typeface="Calibri" pitchFamily="34" charset="-120"/>
                        </a:rPr>
                        <a:t>C — dropout + batch norm</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E7E8D1"/>
                    </a:solidFill>
                  </a:tcPr>
                </a:tc>
                <a:tc>
                  <a:txBody>
                    <a:bodyPr/>
                    <a:lstStyle/>
                    <a:p>
                      <a:pPr indent="0" marL="0">
                        <a:buNone/>
                      </a:pPr>
                      <a:r>
                        <a:rPr lang="en-US" sz="1400" b="1" dirty="0">
                          <a:solidFill>
                            <a:srgbClr val="B85042"/>
                          </a:solidFill>
                          <a:latin typeface="Calibri" pitchFamily="34" charset="0"/>
                          <a:ea typeface="Calibri" pitchFamily="34" charset="-122"/>
                          <a:cs typeface="Calibri" pitchFamily="34" charset="-120"/>
                        </a:rPr>
                        <a:t>0.780</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E7E8D1"/>
                    </a:solidFill>
                  </a:tcPr>
                </a:tc>
                <a:tc>
                  <a:txBody>
                    <a:bodyPr/>
                    <a:lstStyle/>
                    <a:p>
                      <a:pPr indent="0" marL="0">
                        <a:buNone/>
                      </a:pPr>
                      <a:r>
                        <a:rPr lang="en-US" sz="1400" dirty="0">
                          <a:solidFill>
                            <a:srgbClr val="B85042"/>
                          </a:solidFill>
                          <a:latin typeface="Calibri" pitchFamily="34" charset="0"/>
                          <a:ea typeface="Calibri" pitchFamily="34" charset="-122"/>
                          <a:cs typeface="Calibri" pitchFamily="34" charset="-120"/>
                        </a:rPr>
                        <a:t>0.766</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E7E8D1"/>
                    </a:solidFill>
                  </a:tcPr>
                </a:tc>
                <a:tc>
                  <a:txBody>
                    <a:bodyPr/>
                    <a:lstStyle/>
                    <a:p>
                      <a:pPr indent="0" marL="0">
                        <a:buNone/>
                      </a:pPr>
                      <a:r>
                        <a:rPr lang="en-US" sz="1400" dirty="0">
                          <a:solidFill>
                            <a:srgbClr val="B85042"/>
                          </a:solidFill>
                          <a:latin typeface="Calibri" pitchFamily="34" charset="0"/>
                          <a:ea typeface="Calibri" pitchFamily="34" charset="-122"/>
                          <a:cs typeface="Calibri" pitchFamily="34" charset="-120"/>
                        </a:rPr>
                        <a:t>0.858</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E7E8D1"/>
                    </a:solidFill>
                  </a:tcPr>
                </a:tc>
                <a:tc>
                  <a:txBody>
                    <a:bodyPr/>
                    <a:lstStyle/>
                    <a:p>
                      <a:pPr indent="0" marL="0">
                        <a:buNone/>
                      </a:pPr>
                      <a:r>
                        <a:rPr lang="en-US" sz="1400" b="1" dirty="0">
                          <a:solidFill>
                            <a:srgbClr val="B85042"/>
                          </a:solidFill>
                          <a:latin typeface="Calibri" pitchFamily="34" charset="0"/>
                          <a:ea typeface="Calibri" pitchFamily="34" charset="-122"/>
                          <a:cs typeface="Calibri" pitchFamily="34" charset="-120"/>
                        </a:rPr>
                        <a:t>0.810</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E7E8D1"/>
                    </a:solidFill>
                  </a:tcPr>
                </a:tc>
                <a:tc>
                  <a:txBody>
                    <a:bodyPr/>
                    <a:lstStyle/>
                    <a:p>
                      <a:pPr indent="0" marL="0">
                        <a:buNone/>
                      </a:pPr>
                      <a:r>
                        <a:rPr lang="en-US" sz="1400" dirty="0">
                          <a:solidFill>
                            <a:srgbClr val="2E2A27"/>
                          </a:solidFill>
                          <a:latin typeface="Calibri" pitchFamily="34" charset="0"/>
                          <a:ea typeface="Calibri" pitchFamily="34" charset="-122"/>
                          <a:cs typeface="Calibri" pitchFamily="34" charset="-120"/>
                        </a:rPr>
                        <a:t>0.085</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E7E8D1"/>
                    </a:solidFill>
                  </a:tcPr>
                </a:tc>
              </a:tr>
            </a:tbl>
          </a:graphicData>
        </a:graphic>
      </p:graphicFrame>
      <p:pic>
        <p:nvPicPr>
          <p:cNvPr id="6" name="Image 0" descr="/home/claude/projet/v2/figures/compare_deck.png">    </p:cNvPr>
          <p:cNvPicPr>
            <a:picLocks noChangeAspect="1"/>
          </p:cNvPicPr>
          <p:nvPr/>
        </p:nvPicPr>
        <p:blipFill>
          <a:blip r:embed="rId1"/>
          <a:stretch>
            <a:fillRect/>
          </a:stretch>
        </p:blipFill>
        <p:spPr>
          <a:xfrm>
            <a:off x="685800" y="3429000"/>
            <a:ext cx="5943600" cy="2478024"/>
          </a:xfrm>
          <a:prstGeom prst="rect">
            <a:avLst/>
          </a:prstGeom>
        </p:spPr>
      </p:pic>
      <p:sp>
        <p:nvSpPr>
          <p:cNvPr id="7" name="Shape 3"/>
          <p:cNvSpPr/>
          <p:nvPr/>
        </p:nvSpPr>
        <p:spPr>
          <a:xfrm>
            <a:off x="6858000" y="3200400"/>
            <a:ext cx="4800600" cy="1234440"/>
          </a:xfrm>
          <a:prstGeom prst="roundRect">
            <a:avLst>
              <a:gd name="adj" fmla="val 6667"/>
            </a:avLst>
          </a:prstGeom>
          <a:solidFill>
            <a:srgbClr val="E7E8D1"/>
          </a:solidFill>
          <a:ln w="12700">
            <a:solidFill>
              <a:srgbClr val="E7E8D1"/>
            </a:solidFill>
            <a:prstDash val="solid"/>
          </a:ln>
        </p:spPr>
      </p:sp>
      <p:sp>
        <p:nvSpPr>
          <p:cNvPr id="8" name="Text 4"/>
          <p:cNvSpPr txBox="1"/>
          <p:nvPr/>
        </p:nvSpPr>
        <p:spPr>
          <a:xfrm>
            <a:off x="7178040" y="3364992"/>
            <a:ext cx="4206240" cy="274320"/>
          </a:xfrm>
          <a:prstGeom prst="rect">
            <a:avLst/>
          </a:prstGeom>
          <a:noFill/>
          <a:ln/>
        </p:spPr>
        <p:txBody>
          <a:bodyPr wrap="square" lIns="0" tIns="0" rIns="0" bIns="0" rtlCol="0" anchor="ctr"/>
          <a:lstStyle/>
          <a:p>
            <a:pPr indent="0" marL="0">
              <a:buNone/>
            </a:pPr>
            <a:r>
              <a:rPr lang="en-US" sz="1600" b="1" dirty="0">
                <a:solidFill>
                  <a:srgbClr val="B85042"/>
                </a:solidFill>
                <a:latin typeface="Century Schoolbook" pitchFamily="34" charset="0"/>
                <a:ea typeface="Century Schoolbook" pitchFamily="34" charset="-122"/>
                <a:cs typeface="Century Schoolbook" pitchFamily="34" charset="-120"/>
              </a:rPr>
              <a:t>Two levers, two profiles</a:t>
            </a:r>
            <a:endParaRPr lang="en-US" sz="1600" dirty="0"/>
          </a:p>
        </p:txBody>
      </p:sp>
      <p:sp>
        <p:nvSpPr>
          <p:cNvPr id="9" name="Text 5"/>
          <p:cNvSpPr txBox="1"/>
          <p:nvPr/>
        </p:nvSpPr>
        <p:spPr>
          <a:xfrm>
            <a:off x="7178040" y="3703320"/>
            <a:ext cx="4206240" cy="640080"/>
          </a:xfrm>
          <a:prstGeom prst="rect">
            <a:avLst/>
          </a:prstGeom>
          <a:noFill/>
          <a:ln/>
        </p:spPr>
        <p:txBody>
          <a:bodyPr wrap="square" lIns="0" tIns="0" rIns="0" bIns="0" rtlCol="0" anchor="ctr"/>
          <a:lstStyle/>
          <a:p>
            <a:pPr indent="0" marL="0">
              <a:buNone/>
            </a:pPr>
            <a:r>
              <a:rPr lang="en-US" sz="1350" dirty="0">
                <a:solidFill>
                  <a:srgbClr val="2E2A27"/>
                </a:solidFill>
                <a:latin typeface="Calibri" pitchFamily="34" charset="0"/>
                <a:ea typeface="Calibri" pitchFamily="34" charset="-122"/>
                <a:cs typeface="Calibri" pitchFamily="34" charset="-120"/>
              </a:rPr>
              <a:t>Augmentation acts on the DATA and kills the gap. Dropout + batch norm act on the NETWORK and win on score.</a:t>
            </a:r>
            <a:endParaRPr lang="en-US" sz="1350" dirty="0"/>
          </a:p>
        </p:txBody>
      </p:sp>
      <p:sp>
        <p:nvSpPr>
          <p:cNvPr id="10" name="Shape 6"/>
          <p:cNvSpPr/>
          <p:nvPr/>
        </p:nvSpPr>
        <p:spPr>
          <a:xfrm>
            <a:off x="6858000" y="4572000"/>
            <a:ext cx="4800600" cy="1234440"/>
          </a:xfrm>
          <a:prstGeom prst="roundRect">
            <a:avLst>
              <a:gd name="adj" fmla="val 6667"/>
            </a:avLst>
          </a:prstGeom>
          <a:solidFill>
            <a:srgbClr val="3B2A26"/>
          </a:solidFill>
          <a:ln w="12700">
            <a:solidFill>
              <a:srgbClr val="3B2A26"/>
            </a:solidFill>
            <a:prstDash val="solid"/>
          </a:ln>
        </p:spPr>
      </p:sp>
      <p:sp>
        <p:nvSpPr>
          <p:cNvPr id="11" name="Text 7"/>
          <p:cNvSpPr txBox="1"/>
          <p:nvPr/>
        </p:nvSpPr>
        <p:spPr>
          <a:xfrm>
            <a:off x="7178040" y="4736592"/>
            <a:ext cx="4206240" cy="274320"/>
          </a:xfrm>
          <a:prstGeom prst="rect">
            <a:avLst/>
          </a:prstGeom>
          <a:noFill/>
          <a:ln/>
        </p:spPr>
        <p:txBody>
          <a:bodyPr wrap="square" lIns="0" tIns="0" rIns="0" bIns="0" rtlCol="0" anchor="ctr"/>
          <a:lstStyle/>
          <a:p>
            <a:pPr indent="0" marL="0">
              <a:buNone/>
            </a:pPr>
            <a:r>
              <a:rPr lang="en-US" sz="1600" b="1" dirty="0">
                <a:solidFill>
                  <a:srgbClr val="FFFFFF"/>
                </a:solidFill>
                <a:latin typeface="Century Schoolbook" pitchFamily="34" charset="0"/>
                <a:ea typeface="Century Schoolbook" pitchFamily="34" charset="-122"/>
                <a:cs typeface="Century Schoolbook" pitchFamily="34" charset="-120"/>
              </a:rPr>
              <a:t>Bonus — transfer learning</a:t>
            </a:r>
            <a:endParaRPr lang="en-US" sz="1600" dirty="0"/>
          </a:p>
        </p:txBody>
      </p:sp>
      <p:sp>
        <p:nvSpPr>
          <p:cNvPr id="12" name="Text 8"/>
          <p:cNvSpPr txBox="1"/>
          <p:nvPr/>
        </p:nvSpPr>
        <p:spPr>
          <a:xfrm>
            <a:off x="7178040" y="5074920"/>
            <a:ext cx="4206240" cy="640080"/>
          </a:xfrm>
          <a:prstGeom prst="rect">
            <a:avLst/>
          </a:prstGeom>
          <a:noFill/>
          <a:ln/>
        </p:spPr>
        <p:txBody>
          <a:bodyPr wrap="square" lIns="0" tIns="0" rIns="0" bIns="0" rtlCol="0" anchor="ctr"/>
          <a:lstStyle/>
          <a:p>
            <a:pPr indent="0" marL="0">
              <a:buNone/>
            </a:pPr>
            <a:r>
              <a:rPr lang="en-US" sz="1350" dirty="0">
                <a:solidFill>
                  <a:srgbClr val="E7E8D1"/>
                </a:solidFill>
                <a:latin typeface="Calibri" pitchFamily="34" charset="0"/>
                <a:ea typeface="Calibri" pitchFamily="34" charset="-122"/>
                <a:cs typeface="Calibri" pitchFamily="34" charset="-120"/>
              </a:rPr>
              <a:t>MobileNetV2 frozen, ImageNet weights, new head: ~1,300 trainable parameters instead of 1,043,905.</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3B2A26"/>
        </a:solidFill>
      </p:bgPr>
    </p:bg>
    <p:spTree>
      <p:nvGrpSpPr>
        <p:cNvPr id="1" name=""/>
        <p:cNvGrpSpPr/>
        <p:nvPr/>
      </p:nvGrpSpPr>
      <p:grpSpPr>
        <a:xfrm>
          <a:off x="0" y="0"/>
          <a:ext cx="0" cy="0"/>
          <a:chOff x="0" y="0"/>
          <a:chExt cx="0" cy="0"/>
        </a:xfrm>
      </p:grpSpPr>
      <p:sp>
        <p:nvSpPr>
          <p:cNvPr id="2" name="Shape 0"/>
          <p:cNvSpPr/>
          <p:nvPr/>
        </p:nvSpPr>
        <p:spPr>
          <a:xfrm>
            <a:off x="10058400" y="4480560"/>
            <a:ext cx="3474720" cy="3474720"/>
          </a:xfrm>
          <a:prstGeom prst="ellipse">
            <a:avLst/>
          </a:prstGeom>
          <a:solidFill>
            <a:srgbClr val="B85042">
              <a:alpha val="40000"/>
            </a:srgbClr>
          </a:solidFill>
          <a:ln/>
        </p:spPr>
      </p:sp>
      <p:sp>
        <p:nvSpPr>
          <p:cNvPr id="3" name="Text 1"/>
          <p:cNvSpPr txBox="1"/>
          <p:nvPr/>
        </p:nvSpPr>
        <p:spPr>
          <a:xfrm>
            <a:off x="822960" y="640080"/>
            <a:ext cx="10515600" cy="731520"/>
          </a:xfrm>
          <a:prstGeom prst="rect">
            <a:avLst/>
          </a:prstGeom>
          <a:noFill/>
          <a:ln/>
        </p:spPr>
        <p:txBody>
          <a:bodyPr wrap="square" lIns="0" tIns="0" rIns="0" bIns="0" rtlCol="0" anchor="ctr"/>
          <a:lstStyle/>
          <a:p>
            <a:pPr indent="0" marL="0">
              <a:buNone/>
            </a:pPr>
            <a:r>
              <a:rPr lang="en-US" sz="3600" b="1" dirty="0">
                <a:solidFill>
                  <a:srgbClr val="FFFFFF"/>
                </a:solidFill>
                <a:latin typeface="Century Schoolbook" pitchFamily="34" charset="0"/>
                <a:ea typeface="Century Schoolbook" pitchFamily="34" charset="-122"/>
                <a:cs typeface="Century Schoolbook" pitchFamily="34" charset="-120"/>
              </a:rPr>
              <a:t>What the numbers say</a:t>
            </a:r>
            <a:endParaRPr lang="en-US" sz="3600" dirty="0"/>
          </a:p>
        </p:txBody>
      </p:sp>
      <p:sp>
        <p:nvSpPr>
          <p:cNvPr id="4" name="Shape 2"/>
          <p:cNvSpPr/>
          <p:nvPr/>
        </p:nvSpPr>
        <p:spPr>
          <a:xfrm>
            <a:off x="822960" y="1600200"/>
            <a:ext cx="566928" cy="566928"/>
          </a:xfrm>
          <a:prstGeom prst="ellipse">
            <a:avLst/>
          </a:prstGeom>
          <a:solidFill>
            <a:srgbClr val="B85042"/>
          </a:solidFill>
          <a:ln/>
        </p:spPr>
      </p:sp>
      <p:sp>
        <p:nvSpPr>
          <p:cNvPr id="5" name="Text 3"/>
          <p:cNvSpPr txBox="1"/>
          <p:nvPr/>
        </p:nvSpPr>
        <p:spPr>
          <a:xfrm>
            <a:off x="822960" y="160020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entury Schoolbook" pitchFamily="34" charset="0"/>
                <a:ea typeface="Century Schoolbook" pitchFamily="34" charset="-122"/>
                <a:cs typeface="Century Schoolbook" pitchFamily="34" charset="-120"/>
              </a:rPr>
              <a:t>1</a:t>
            </a:r>
            <a:endParaRPr lang="en-US" sz="1900" dirty="0"/>
          </a:p>
        </p:txBody>
      </p:sp>
      <p:sp>
        <p:nvSpPr>
          <p:cNvPr id="6" name="Text 4"/>
          <p:cNvSpPr txBox="1"/>
          <p:nvPr/>
        </p:nvSpPr>
        <p:spPr>
          <a:xfrm>
            <a:off x="1600200" y="1618488"/>
            <a:ext cx="9692640" cy="320040"/>
          </a:xfrm>
          <a:prstGeom prst="rect">
            <a:avLst/>
          </a:prstGeom>
          <a:noFill/>
          <a:ln/>
        </p:spPr>
        <p:txBody>
          <a:bodyPr wrap="square" lIns="0" tIns="0" rIns="0" bIns="0" rtlCol="0" anchor="ctr"/>
          <a:lstStyle/>
          <a:p>
            <a:pPr indent="0" marL="0">
              <a:buNone/>
            </a:pPr>
            <a:r>
              <a:rPr lang="en-US" sz="1900" b="1" dirty="0">
                <a:solidFill>
                  <a:srgbClr val="FFFFFF"/>
                </a:solidFill>
                <a:latin typeface="Century Schoolbook" pitchFamily="34" charset="0"/>
                <a:ea typeface="Century Schoolbook" pitchFamily="34" charset="-122"/>
                <a:cs typeface="Century Schoolbook" pitchFamily="34" charset="-120"/>
              </a:rPr>
              <a:t>The limit is the data, not the architecture</a:t>
            </a:r>
            <a:endParaRPr lang="en-US" sz="1900" dirty="0"/>
          </a:p>
        </p:txBody>
      </p:sp>
      <p:sp>
        <p:nvSpPr>
          <p:cNvPr id="7" name="Text 5"/>
          <p:cNvSpPr txBox="1"/>
          <p:nvPr/>
        </p:nvSpPr>
        <p:spPr>
          <a:xfrm>
            <a:off x="1600200" y="1984248"/>
            <a:ext cx="9692640" cy="640080"/>
          </a:xfrm>
          <a:prstGeom prst="rect">
            <a:avLst/>
          </a:prstGeom>
          <a:noFill/>
          <a:ln/>
        </p:spPr>
        <p:txBody>
          <a:bodyPr wrap="square" lIns="0" tIns="0" rIns="0" bIns="0" rtlCol="0" anchor="ctr"/>
          <a:lstStyle/>
          <a:p>
            <a:pPr indent="0" marL="0">
              <a:buNone/>
            </a:pPr>
            <a:r>
              <a:rPr lang="en-US" sz="1450" dirty="0">
                <a:solidFill>
                  <a:srgbClr val="E7E8D1"/>
                </a:solidFill>
                <a:latin typeface="Calibri" pitchFamily="34" charset="0"/>
                <a:ea typeface="Calibri" pitchFamily="34" charset="-122"/>
                <a:cs typeface="Calibri" pitchFamily="34" charset="-120"/>
              </a:rPr>
              <a:t>1,600 images, ~650 parameters per image. Both fixes improved generalisation without adding a single filter.</a:t>
            </a:r>
            <a:endParaRPr lang="en-US" sz="1450" dirty="0"/>
          </a:p>
        </p:txBody>
      </p:sp>
      <p:sp>
        <p:nvSpPr>
          <p:cNvPr id="8" name="Shape 6"/>
          <p:cNvSpPr/>
          <p:nvPr/>
        </p:nvSpPr>
        <p:spPr>
          <a:xfrm>
            <a:off x="822960" y="2834640"/>
            <a:ext cx="566928" cy="566928"/>
          </a:xfrm>
          <a:prstGeom prst="ellipse">
            <a:avLst/>
          </a:prstGeom>
          <a:solidFill>
            <a:srgbClr val="B85042"/>
          </a:solidFill>
          <a:ln/>
        </p:spPr>
      </p:sp>
      <p:sp>
        <p:nvSpPr>
          <p:cNvPr id="9" name="Text 7"/>
          <p:cNvSpPr txBox="1"/>
          <p:nvPr/>
        </p:nvSpPr>
        <p:spPr>
          <a:xfrm>
            <a:off x="822960" y="283464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entury Schoolbook" pitchFamily="34" charset="0"/>
                <a:ea typeface="Century Schoolbook" pitchFamily="34" charset="-122"/>
                <a:cs typeface="Century Schoolbook" pitchFamily="34" charset="-120"/>
              </a:rPr>
              <a:t>2</a:t>
            </a:r>
            <a:endParaRPr lang="en-US" sz="1900" dirty="0"/>
          </a:p>
        </p:txBody>
      </p:sp>
      <p:sp>
        <p:nvSpPr>
          <p:cNvPr id="10" name="Text 8"/>
          <p:cNvSpPr txBox="1"/>
          <p:nvPr/>
        </p:nvSpPr>
        <p:spPr>
          <a:xfrm>
            <a:off x="1600200" y="2852928"/>
            <a:ext cx="9692640" cy="320040"/>
          </a:xfrm>
          <a:prstGeom prst="rect">
            <a:avLst/>
          </a:prstGeom>
          <a:noFill/>
          <a:ln/>
        </p:spPr>
        <p:txBody>
          <a:bodyPr wrap="square" lIns="0" tIns="0" rIns="0" bIns="0" rtlCol="0" anchor="ctr"/>
          <a:lstStyle/>
          <a:p>
            <a:pPr indent="0" marL="0">
              <a:buNone/>
            </a:pPr>
            <a:r>
              <a:rPr lang="en-US" sz="1900" b="1" dirty="0">
                <a:solidFill>
                  <a:srgbClr val="FFFFFF"/>
                </a:solidFill>
                <a:latin typeface="Century Schoolbook" pitchFamily="34" charset="0"/>
                <a:ea typeface="Century Schoolbook" pitchFamily="34" charset="-122"/>
                <a:cs typeface="Century Schoolbook" pitchFamily="34" charset="-120"/>
              </a:rPr>
              <a:t>Regularisation does not add intelligence</a:t>
            </a:r>
            <a:endParaRPr lang="en-US" sz="1900" dirty="0"/>
          </a:p>
        </p:txBody>
      </p:sp>
      <p:sp>
        <p:nvSpPr>
          <p:cNvPr id="11" name="Text 9"/>
          <p:cNvSpPr txBox="1"/>
          <p:nvPr/>
        </p:nvSpPr>
        <p:spPr>
          <a:xfrm>
            <a:off x="1600200" y="3218688"/>
            <a:ext cx="9692640" cy="640080"/>
          </a:xfrm>
          <a:prstGeom prst="rect">
            <a:avLst/>
          </a:prstGeom>
          <a:noFill/>
          <a:ln/>
        </p:spPr>
        <p:txBody>
          <a:bodyPr wrap="square" lIns="0" tIns="0" rIns="0" bIns="0" rtlCol="0" anchor="ctr"/>
          <a:lstStyle/>
          <a:p>
            <a:pPr indent="0" marL="0">
              <a:buNone/>
            </a:pPr>
            <a:r>
              <a:rPr lang="en-US" sz="1450" dirty="0">
                <a:solidFill>
                  <a:srgbClr val="E7E8D1"/>
                </a:solidFill>
                <a:latin typeface="Calibri" pitchFamily="34" charset="0"/>
                <a:ea typeface="Calibri" pitchFamily="34" charset="-122"/>
                <a:cs typeface="Calibri" pitchFamily="34" charset="-120"/>
              </a:rPr>
              <a:t>it removes the option to memorise — that alone moved the gap from 0.179 to 0.009.</a:t>
            </a:r>
            <a:endParaRPr lang="en-US" sz="1450" dirty="0"/>
          </a:p>
        </p:txBody>
      </p:sp>
      <p:sp>
        <p:nvSpPr>
          <p:cNvPr id="12" name="Shape 10"/>
          <p:cNvSpPr/>
          <p:nvPr/>
        </p:nvSpPr>
        <p:spPr>
          <a:xfrm>
            <a:off x="822960" y="4069080"/>
            <a:ext cx="566928" cy="566928"/>
          </a:xfrm>
          <a:prstGeom prst="ellipse">
            <a:avLst/>
          </a:prstGeom>
          <a:solidFill>
            <a:srgbClr val="B85042"/>
          </a:solidFill>
          <a:ln/>
        </p:spPr>
      </p:sp>
      <p:sp>
        <p:nvSpPr>
          <p:cNvPr id="13" name="Text 11"/>
          <p:cNvSpPr txBox="1"/>
          <p:nvPr/>
        </p:nvSpPr>
        <p:spPr>
          <a:xfrm>
            <a:off x="822960" y="406908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entury Schoolbook" pitchFamily="34" charset="0"/>
                <a:ea typeface="Century Schoolbook" pitchFamily="34" charset="-122"/>
                <a:cs typeface="Century Schoolbook" pitchFamily="34" charset="-120"/>
              </a:rPr>
              <a:t>3</a:t>
            </a:r>
            <a:endParaRPr lang="en-US" sz="1900" dirty="0"/>
          </a:p>
        </p:txBody>
      </p:sp>
      <p:sp>
        <p:nvSpPr>
          <p:cNvPr id="14" name="Text 12"/>
          <p:cNvSpPr txBox="1"/>
          <p:nvPr/>
        </p:nvSpPr>
        <p:spPr>
          <a:xfrm>
            <a:off x="1600200" y="4087368"/>
            <a:ext cx="9692640" cy="320040"/>
          </a:xfrm>
          <a:prstGeom prst="rect">
            <a:avLst/>
          </a:prstGeom>
          <a:noFill/>
          <a:ln/>
        </p:spPr>
        <p:txBody>
          <a:bodyPr wrap="square" lIns="0" tIns="0" rIns="0" bIns="0" rtlCol="0" anchor="ctr"/>
          <a:lstStyle/>
          <a:p>
            <a:pPr indent="0" marL="0">
              <a:buNone/>
            </a:pPr>
            <a:r>
              <a:rPr lang="en-US" sz="1900" b="1" dirty="0">
                <a:solidFill>
                  <a:srgbClr val="FFFFFF"/>
                </a:solidFill>
                <a:latin typeface="Century Schoolbook" pitchFamily="34" charset="0"/>
                <a:ea typeface="Century Schoolbook" pitchFamily="34" charset="-122"/>
                <a:cs typeface="Century Schoolbook" pitchFamily="34" charset="-120"/>
              </a:rPr>
              <a:t>Read the curves, not just the final number</a:t>
            </a:r>
            <a:endParaRPr lang="en-US" sz="1900" dirty="0"/>
          </a:p>
        </p:txBody>
      </p:sp>
      <p:sp>
        <p:nvSpPr>
          <p:cNvPr id="15" name="Text 13"/>
          <p:cNvSpPr txBox="1"/>
          <p:nvPr/>
        </p:nvSpPr>
        <p:spPr>
          <a:xfrm>
            <a:off x="1600200" y="4453128"/>
            <a:ext cx="9692640" cy="640080"/>
          </a:xfrm>
          <a:prstGeom prst="rect">
            <a:avLst/>
          </a:prstGeom>
          <a:noFill/>
          <a:ln/>
        </p:spPr>
        <p:txBody>
          <a:bodyPr wrap="square" lIns="0" tIns="0" rIns="0" bIns="0" rtlCol="0" anchor="ctr"/>
          <a:lstStyle/>
          <a:p>
            <a:pPr indent="0" marL="0">
              <a:buNone/>
            </a:pPr>
            <a:r>
              <a:rPr lang="en-US" sz="1450" dirty="0">
                <a:solidFill>
                  <a:srgbClr val="E7E8D1"/>
                </a:solidFill>
                <a:latin typeface="Calibri" pitchFamily="34" charset="0"/>
                <a:ea typeface="Calibri" pitchFamily="34" charset="-122"/>
                <a:cs typeface="Calibri" pitchFamily="34" charset="-120"/>
              </a:rPr>
              <a:t>a single batch-norm hyperparameter pinned validation at 0.500 while training looked healthy.</a:t>
            </a:r>
            <a:endParaRPr lang="en-US" sz="1450" dirty="0"/>
          </a:p>
        </p:txBody>
      </p:sp>
      <p:sp>
        <p:nvSpPr>
          <p:cNvPr id="16" name="Text 14"/>
          <p:cNvSpPr txBox="1"/>
          <p:nvPr/>
        </p:nvSpPr>
        <p:spPr>
          <a:xfrm>
            <a:off x="822960" y="5486400"/>
            <a:ext cx="10515600" cy="411480"/>
          </a:xfrm>
          <a:prstGeom prst="rect">
            <a:avLst/>
          </a:prstGeom>
          <a:noFill/>
          <a:ln/>
        </p:spPr>
        <p:txBody>
          <a:bodyPr wrap="square" lIns="0" tIns="0" rIns="0" bIns="0" rtlCol="0" anchor="ctr"/>
          <a:lstStyle/>
          <a:p>
            <a:pPr indent="0" marL="0">
              <a:buNone/>
            </a:pPr>
            <a:r>
              <a:rPr lang="en-US" sz="1400" i="1" dirty="0">
                <a:solidFill>
                  <a:srgbClr val="A7BEAE"/>
                </a:solidFill>
                <a:latin typeface="Calibri" pitchFamily="34" charset="0"/>
                <a:ea typeface="Calibri" pitchFamily="34" charset="-122"/>
                <a:cs typeface="Calibri" pitchFamily="34" charset="-120"/>
              </a:rPr>
              <a:t>Next: combine both · fine-tune MobileNetV2 · EarlyStopping · train on the full 25,000-image set</a:t>
            </a:r>
            <a:endParaRPr lang="en-US" sz="1400" dirty="0"/>
          </a:p>
        </p:txBody>
      </p:sp>
      <p:sp>
        <p:nvSpPr>
          <p:cNvPr id="17" name="Text 15"/>
          <p:cNvSpPr txBox="1"/>
          <p:nvPr/>
        </p:nvSpPr>
        <p:spPr>
          <a:xfrm>
            <a:off x="822960" y="6035040"/>
            <a:ext cx="10515600" cy="411480"/>
          </a:xfrm>
          <a:prstGeom prst="rect">
            <a:avLst/>
          </a:prstGeom>
          <a:noFill/>
          <a:ln/>
        </p:spPr>
        <p:txBody>
          <a:bodyPr wrap="square" lIns="0" tIns="0" rIns="0" bIns="0" rtlCol="0" anchor="ctr"/>
          <a:lstStyle/>
          <a:p>
            <a:pPr indent="0" marL="0">
              <a:buNone/>
            </a:pPr>
            <a:r>
              <a:rPr lang="en-US" sz="1800" b="1" dirty="0">
                <a:solidFill>
                  <a:srgbClr val="FFFFFF"/>
                </a:solidFill>
                <a:latin typeface="Century Schoolbook" pitchFamily="34" charset="0"/>
                <a:ea typeface="Century Schoolbook" pitchFamily="34" charset="-122"/>
                <a:cs typeface="Century Schoolbook" pitchFamily="34" charset="-120"/>
              </a:rPr>
              <a:t>Thank you — 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2026-09-14T15:30:12Z</dcterms:created>
  <dcterms:modified xsi:type="dcterms:W3CDTF">2026-09-14T15:30:12Z</dcterms:modified>
</cp:coreProperties>
</file>