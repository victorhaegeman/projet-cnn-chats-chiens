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vais vous présenter mon projet : construire un réseau de neurones convolutif qui distingue une photo de chat d'une photo de chien. Je vais suivre le plan du sujet : les données, l'architecture, l'entraînement, l'évaluation, puis deux pistes d'amélioration.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dataset contient 2000 images d'entraînement et 1000 de validation, parfaitement équilibrées entre chats et chiens. Comme les photos ont toutes des tailles différentes, je les redimensionne toutes en 150 par 150 pixels en couleur. Comme demandé dans le sujet, je découpe le dossier train en 80/20 : 1600 images pour apprendre et 400 images de test que le modèle ne verra jamais pendant l'entraînement.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Pourquoi ne pas simplement aplatir l'image dans un réseau dense classique ? Parce qu'une image de 150 sur 150 en couleur, ça fait 67 500 valeurs en entrée. Avec une seule couche de 1000 neurones on dépasse déjà les 67 millions de paramètres, et surtout on perd toute l'information spatiale. Le CNN règle ça avec la connectivité locale et le partage des poids : le même petit filtre glisse sur toute l'image.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l'architecture demandée : quatre blocs, chacun avec une convolution, une activation ReLU et un max-pooling. Le nombre de filtres augmente pendant que la taille de l'image diminue. J'ai recalculé le nombre de paramètres à la main avec la formule du cours, et je retrouve bien 1 043 905, le même chiffre que Keras. Le point intéressant : 77 % de ces paramètres sont dans la seule couche dense finale. Les convolutions, elles, coûtent très peu, justement grâce au partage des poids.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J'entraîne 15 epochs avec des batchs de 100, comme demandé. Et là on voit très bien le problème : la courbe bleue, l'entraînement, continue de monter jusqu'à 0,875, alors que la courbe orange, la validation, plafonne à 0,70 dès la huitième epoch. Pire : sa loss remonte. C'est la signature classique du sur-apprentissage. Ce n'est pas du sous-apprentissage, sinon les deux courbes seraient basses et collées. Trois raisons : peu de données, beaucoup de paramètres, et aucune régularisation.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 les 400 images de test, jamais vues, j'obtiens 72,8 % d'accuracy. C'est nettement mieux que le hasard. Mais le plus parlant, c'est l'écart entre la précision et le rappel : quand le modèle annonce un chien il a raison 84 % du temps, mais il ne retrouve que 62 % des vrais chiens. Autrement dit il est trop prudent sur la classe chien : au moindre doute, il répond chat. On le voit directement dans la matrice de confusion.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Première amélioration : la data augmentation. À gauche, la même image de chien vue huit fois par le réseau, à chaque fois retournée, tournée ou zoomée. Le modèle ne peut plus apprendre par cœur. Résultat : l'écart entre les deux courbes passe de 0,179 à 0,009, elles sont pratiquement superposées. L'accuracy de test monte à 75 %, et surtout le rappel passe de 0,62 à 0,86 : le modèle ne rate plus les chiens.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amélioration, testée séparément comme demandé : dropout plus batch normalization. Le dropout éteint la moitié des neurones à chaque étape, la batch norm stabilise l'entraînement. C'est le meilleur des trois modèles avec 78 % sur le test. J'ai rencontré un piège intéressant ici : avec le momentum par défaut de la batch norm, la validation restait bloquée à exactement 50 %. Avec seulement 16 batchs par epoch, les statistiques utilisées au test n'avaient pas le temps de converger. En passant le momentum à 0,9, le problème disparaît.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bilan. Les deux techniques attaquent le même problème par des angles différents : l'augmentation agit sur les données, le dropout et la batch norm agissent sur le réseau. Le modèle C est le meilleur avec 78 %, mais c'est le modèle B qui supprime le mieux le sur-apprentissage. En bonus, j'ai préparé du transfer learning avec MobileNetV2 : on réutilise un réseau déjà entraîné sur 1,4 million d'images et on ne réentraîne que la dernière couche.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trois choses. D'abord, le vrai facteur limitant ici n'était pas l'architecture mais le manque de données. Ensuite, la régularisation ne rend pas le modèle plus intelligent, elle l'empêche juste de tricher. Enfin, il faut vraiment regarder les courbes et pas seulement le chiffre final : un simple paramètre de batch norm faussait toute ma validation. Merci, je suis prêt pour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B2A26"/>
        </a:solidFill>
      </p:bgPr>
    </p:bg>
    <p:spTree>
      <p:nvGrpSpPr>
        <p:cNvPr id="1" name=""/>
        <p:cNvGrpSpPr/>
        <p:nvPr/>
      </p:nvGrpSpPr>
      <p:grpSpPr>
        <a:xfrm>
          <a:off x="0" y="0"/>
          <a:ext cx="0" cy="0"/>
          <a:chOff x="0" y="0"/>
          <a:chExt cx="0" cy="0"/>
        </a:xfrm>
      </p:grpSpPr>
      <p:sp>
        <p:nvSpPr>
          <p:cNvPr id="2" name="Shape 0"/>
          <p:cNvSpPr/>
          <p:nvPr/>
        </p:nvSpPr>
        <p:spPr>
          <a:xfrm>
            <a:off x="9692640" y="-1188720"/>
            <a:ext cx="4023360" cy="4023360"/>
          </a:xfrm>
          <a:prstGeom prst="ellipse">
            <a:avLst/>
          </a:prstGeom>
          <a:solidFill>
            <a:srgbClr val="B85042">
              <a:alpha val="45000"/>
            </a:srgbClr>
          </a:solidFill>
          <a:ln/>
        </p:spPr>
      </p:sp>
      <p:sp>
        <p:nvSpPr>
          <p:cNvPr id="3" name="Shape 1"/>
          <p:cNvSpPr/>
          <p:nvPr/>
        </p:nvSpPr>
        <p:spPr>
          <a:xfrm>
            <a:off x="-1005840" y="4754880"/>
            <a:ext cx="3108960" cy="3108960"/>
          </a:xfrm>
          <a:prstGeom prst="ellipse">
            <a:avLst/>
          </a:prstGeom>
          <a:solidFill>
            <a:srgbClr val="A7BEAE">
              <a:alpha val="30000"/>
            </a:srgbClr>
          </a:solidFill>
          <a:ln/>
        </p:spPr>
      </p:sp>
      <p:sp>
        <p:nvSpPr>
          <p:cNvPr id="4" name="Text 2"/>
          <p:cNvSpPr txBox="1"/>
          <p:nvPr/>
        </p:nvSpPr>
        <p:spPr>
          <a:xfrm>
            <a:off x="914400" y="1920240"/>
            <a:ext cx="9144000" cy="365760"/>
          </a:xfrm>
          <a:prstGeom prst="rect">
            <a:avLst/>
          </a:prstGeom>
          <a:noFill/>
          <a:ln/>
        </p:spPr>
        <p:txBody>
          <a:bodyPr wrap="square" lIns="0" tIns="0" rIns="0" bIns="0" rtlCol="0" anchor="ctr"/>
          <a:lstStyle/>
          <a:p>
            <a:pPr indent="0" marL="0">
              <a:buNone/>
            </a:pPr>
            <a:r>
              <a:rPr lang="en-US" sz="1400" b="1" spc="300" kern="0" dirty="0">
                <a:solidFill>
                  <a:srgbClr val="A7BEAE"/>
                </a:solidFill>
                <a:latin typeface="Calibri" pitchFamily="34" charset="0"/>
                <a:ea typeface="Calibri" pitchFamily="34" charset="-122"/>
                <a:cs typeface="Calibri" pitchFamily="34" charset="-120"/>
              </a:rPr>
              <a:t>PROJET ST2AIM  ·  DEEP LEARNING</a:t>
            </a:r>
            <a:endParaRPr lang="en-US" sz="1400" dirty="0"/>
          </a:p>
        </p:txBody>
      </p:sp>
      <p:sp>
        <p:nvSpPr>
          <p:cNvPr id="5" name="Text 3"/>
          <p:cNvSpPr txBox="1"/>
          <p:nvPr/>
        </p:nvSpPr>
        <p:spPr>
          <a:xfrm>
            <a:off x="914400" y="2377440"/>
            <a:ext cx="9601200" cy="1737360"/>
          </a:xfrm>
          <a:prstGeom prst="rect">
            <a:avLst/>
          </a:prstGeom>
          <a:noFill/>
          <a:ln/>
        </p:spPr>
        <p:txBody>
          <a:bodyPr wrap="square" lIns="0" tIns="0" rIns="0" bIns="0" rtlCol="0" anchor="ctr"/>
          <a:lstStyle/>
          <a:p>
            <a:pPr indent="0" marL="0">
              <a:lnSpc>
                <a:spcPct val="105000"/>
              </a:lnSpc>
              <a:buNone/>
            </a:pPr>
            <a:r>
              <a:rPr lang="en-US" sz="4600" b="1" dirty="0">
                <a:solidFill>
                  <a:srgbClr val="FFFFFF"/>
                </a:solidFill>
                <a:latin typeface="Century Schoolbook" pitchFamily="34" charset="0"/>
                <a:ea typeface="Century Schoolbook" pitchFamily="34" charset="-122"/>
                <a:cs typeface="Century Schoolbook" pitchFamily="34" charset="-120"/>
              </a:rPr>
              <a:t>Apprendre à une machine</a:t>
            </a:r>
            <a:endParaRPr lang="en-US" sz="4600" dirty="0"/>
          </a:p>
          <a:p>
            <a:pPr indent="0" marL="0">
              <a:lnSpc>
                <a:spcPct val="105000"/>
              </a:lnSpc>
              <a:buNone/>
            </a:pPr>
            <a:r>
              <a:rPr lang="en-US" sz="4600" b="1" dirty="0">
                <a:solidFill>
                  <a:srgbClr val="FFFFFF"/>
                </a:solidFill>
                <a:latin typeface="Century Schoolbook" pitchFamily="34" charset="0"/>
                <a:ea typeface="Century Schoolbook" pitchFamily="34" charset="-122"/>
                <a:cs typeface="Century Schoolbook" pitchFamily="34" charset="-120"/>
              </a:rPr>
              <a:t>à voir</a:t>
            </a:r>
            <a:endParaRPr lang="en-US" sz="4600" dirty="0"/>
          </a:p>
        </p:txBody>
      </p:sp>
      <p:sp>
        <p:nvSpPr>
          <p:cNvPr id="6" name="Text 4"/>
          <p:cNvSpPr txBox="1"/>
          <p:nvPr/>
        </p:nvSpPr>
        <p:spPr>
          <a:xfrm>
            <a:off x="914400" y="4206240"/>
            <a:ext cx="9601200" cy="457200"/>
          </a:xfrm>
          <a:prstGeom prst="rect">
            <a:avLst/>
          </a:prstGeom>
          <a:noFill/>
          <a:ln/>
        </p:spPr>
        <p:txBody>
          <a:bodyPr wrap="square" lIns="0" tIns="0" rIns="0" bIns="0" rtlCol="0" anchor="ctr"/>
          <a:lstStyle/>
          <a:p>
            <a:pPr indent="0" marL="0">
              <a:buNone/>
            </a:pPr>
            <a:r>
              <a:rPr lang="en-US" sz="1900" i="1" dirty="0">
                <a:solidFill>
                  <a:srgbClr val="E7E8D1"/>
                </a:solidFill>
                <a:latin typeface="Calibri" pitchFamily="34" charset="0"/>
                <a:ea typeface="Calibri" pitchFamily="34" charset="-122"/>
                <a:cs typeface="Calibri" pitchFamily="34" charset="-120"/>
              </a:rPr>
              <a:t>Classification d'images chats / chiens avec un CNN</a:t>
            </a:r>
            <a:endParaRPr lang="en-US" sz="1900" dirty="0"/>
          </a:p>
        </p:txBody>
      </p:sp>
      <p:sp>
        <p:nvSpPr>
          <p:cNvPr id="7" name="Shape 5"/>
          <p:cNvSpPr/>
          <p:nvPr/>
        </p:nvSpPr>
        <p:spPr>
          <a:xfrm>
            <a:off x="914400" y="4983480"/>
            <a:ext cx="1280160" cy="32004"/>
          </a:xfrm>
          <a:prstGeom prst="rect">
            <a:avLst/>
          </a:prstGeom>
          <a:solidFill>
            <a:srgbClr val="B85042"/>
          </a:solidFill>
          <a:ln w="12700">
            <a:solidFill>
              <a:srgbClr val="B85042"/>
            </a:solidFill>
            <a:prstDash val="solid"/>
          </a:ln>
        </p:spPr>
      </p:sp>
      <p:sp>
        <p:nvSpPr>
          <p:cNvPr id="8" name="Text 6"/>
          <p:cNvSpPr txBox="1"/>
          <p:nvPr/>
        </p:nvSpPr>
        <p:spPr>
          <a:xfrm>
            <a:off x="914400" y="5257800"/>
            <a:ext cx="9144000" cy="36576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Victor Haegeman  —  EFREI</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411480"/>
            <a:ext cx="566928" cy="566928"/>
          </a:xfrm>
          <a:prstGeom prst="ellipse">
            <a:avLst/>
          </a:prstGeom>
          <a:solidFill>
            <a:srgbClr val="B85042"/>
          </a:solidFill>
          <a:ln/>
        </p:spPr>
      </p:sp>
      <p:sp>
        <p:nvSpPr>
          <p:cNvPr id="3" name="Text 1"/>
          <p:cNvSpPr txBox="1"/>
          <p:nvPr/>
        </p:nvSpPr>
        <p:spPr>
          <a:xfrm>
            <a:off x="548640" y="4114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entury Schoolbook" pitchFamily="34" charset="0"/>
                <a:ea typeface="Century Schoolbook" pitchFamily="34" charset="-122"/>
                <a:cs typeface="Century Schoolbook" pitchFamily="34" charset="-120"/>
              </a:rPr>
              <a:t>1</a:t>
            </a:r>
            <a:endParaRPr lang="en-US" sz="2000" dirty="0"/>
          </a:p>
        </p:txBody>
      </p:sp>
      <p:sp>
        <p:nvSpPr>
          <p:cNvPr id="4" name="Text 2"/>
          <p:cNvSpPr txBox="1"/>
          <p:nvPr/>
        </p:nvSpPr>
        <p:spPr>
          <a:xfrm>
            <a:off x="1298448" y="384048"/>
            <a:ext cx="10241280" cy="640080"/>
          </a:xfrm>
          <a:prstGeom prst="rect">
            <a:avLst/>
          </a:prstGeom>
          <a:noFill/>
          <a:ln/>
        </p:spPr>
        <p:txBody>
          <a:bodyPr wrap="square" lIns="0" tIns="0" rIns="0" bIns="0" rtlCol="0" anchor="ctr"/>
          <a:lstStyle/>
          <a:p>
            <a:pPr indent="0" marL="0">
              <a:buNone/>
            </a:pPr>
            <a:r>
              <a:rPr lang="en-US" sz="3000" b="1" dirty="0">
                <a:solidFill>
                  <a:srgbClr val="2E2A27"/>
                </a:solidFill>
                <a:latin typeface="Century Schoolbook" pitchFamily="34" charset="0"/>
                <a:ea typeface="Century Schoolbook" pitchFamily="34" charset="-122"/>
                <a:cs typeface="Century Schoolbook" pitchFamily="34" charset="-120"/>
              </a:rPr>
              <a:t>Le dataset : 3000 photos, 2 classes</a:t>
            </a:r>
            <a:endParaRPr lang="en-US" sz="3000" dirty="0"/>
          </a:p>
        </p:txBody>
      </p:sp>
      <p:pic>
        <p:nvPicPr>
          <p:cNvPr id="5" name="Image 0" descr="/home/claude/projet/figures/fig_13_2.png">    </p:cNvPr>
          <p:cNvPicPr>
            <a:picLocks noChangeAspect="1"/>
          </p:cNvPicPr>
          <p:nvPr/>
        </p:nvPicPr>
        <p:blipFill>
          <a:blip r:embed="rId1"/>
          <a:stretch>
            <a:fillRect/>
          </a:stretch>
        </p:blipFill>
        <p:spPr>
          <a:xfrm>
            <a:off x="6309360" y="1234440"/>
            <a:ext cx="5349240" cy="2907792"/>
          </a:xfrm>
          <a:prstGeom prst="rect">
            <a:avLst/>
          </a:prstGeom>
        </p:spPr>
      </p:pic>
      <p:sp>
        <p:nvSpPr>
          <p:cNvPr id="6" name="Shape 3"/>
          <p:cNvSpPr/>
          <p:nvPr/>
        </p:nvSpPr>
        <p:spPr>
          <a:xfrm>
            <a:off x="548640" y="1234440"/>
            <a:ext cx="5394960" cy="1371600"/>
          </a:xfrm>
          <a:prstGeom prst="roundRect">
            <a:avLst>
              <a:gd name="adj" fmla="val 6000"/>
            </a:avLst>
          </a:prstGeom>
          <a:solidFill>
            <a:srgbClr val="E7E8D1"/>
          </a:solidFill>
          <a:ln w="12700">
            <a:solidFill>
              <a:srgbClr val="E7E8D1"/>
            </a:solidFill>
            <a:prstDash val="solid"/>
          </a:ln>
        </p:spPr>
      </p:sp>
      <p:sp>
        <p:nvSpPr>
          <p:cNvPr id="7" name="Text 4"/>
          <p:cNvSpPr txBox="1"/>
          <p:nvPr/>
        </p:nvSpPr>
        <p:spPr>
          <a:xfrm>
            <a:off x="868680" y="1417320"/>
            <a:ext cx="4754880" cy="548640"/>
          </a:xfrm>
          <a:prstGeom prst="rect">
            <a:avLst/>
          </a:prstGeom>
          <a:noFill/>
          <a:ln/>
        </p:spPr>
        <p:txBody>
          <a:bodyPr wrap="square" lIns="0" tIns="0" rIns="0" bIns="0" rtlCol="0" anchor="ctr"/>
          <a:lstStyle/>
          <a:p>
            <a:pPr indent="0" marL="0">
              <a:buNone/>
            </a:pPr>
            <a:r>
              <a:rPr lang="en-US" sz="2600" b="1" dirty="0">
                <a:solidFill>
                  <a:srgbClr val="B85042"/>
                </a:solidFill>
                <a:latin typeface="Calibri" pitchFamily="34" charset="0"/>
                <a:ea typeface="Calibri" pitchFamily="34" charset="-122"/>
                <a:cs typeface="Calibri" pitchFamily="34" charset="-120"/>
              </a:rPr>
              <a:t>2000 </a:t>
            </a:r>
            <a:pPr indent="0" marL="0">
              <a:buNone/>
            </a:pPr>
            <a:r>
              <a:rPr lang="en-US" sz="1500" dirty="0">
                <a:solidFill>
                  <a:srgbClr val="2E2A27"/>
                </a:solidFill>
                <a:latin typeface="Calibri" pitchFamily="34" charset="0"/>
                <a:ea typeface="Calibri" pitchFamily="34" charset="-122"/>
                <a:cs typeface="Calibri" pitchFamily="34" charset="-120"/>
              </a:rPr>
              <a:t>images d'entraînement  ·  </a:t>
            </a:r>
            <a:pPr indent="0" marL="0">
              <a:buNone/>
            </a:pPr>
            <a:r>
              <a:rPr lang="en-US" sz="2600" b="1" dirty="0">
                <a:solidFill>
                  <a:srgbClr val="B85042"/>
                </a:solidFill>
                <a:latin typeface="Calibri" pitchFamily="34" charset="0"/>
                <a:ea typeface="Calibri" pitchFamily="34" charset="-122"/>
                <a:cs typeface="Calibri" pitchFamily="34" charset="-120"/>
              </a:rPr>
              <a:t>1000 </a:t>
            </a:r>
            <a:pPr indent="0" marL="0">
              <a:buNone/>
            </a:pPr>
            <a:r>
              <a:rPr lang="en-US" sz="1500" dirty="0">
                <a:solidFill>
                  <a:srgbClr val="2E2A27"/>
                </a:solidFill>
                <a:latin typeface="Calibri" pitchFamily="34" charset="0"/>
                <a:ea typeface="Calibri" pitchFamily="34" charset="-122"/>
                <a:cs typeface="Calibri" pitchFamily="34" charset="-120"/>
              </a:rPr>
              <a:t>de validation</a:t>
            </a:r>
            <a:endParaRPr lang="en-US" sz="1500" dirty="0"/>
          </a:p>
        </p:txBody>
      </p:sp>
      <p:sp>
        <p:nvSpPr>
          <p:cNvPr id="8" name="Text 5"/>
          <p:cNvSpPr txBox="1"/>
          <p:nvPr/>
        </p:nvSpPr>
        <p:spPr>
          <a:xfrm>
            <a:off x="868680" y="1965960"/>
            <a:ext cx="4754880" cy="548640"/>
          </a:xfrm>
          <a:prstGeom prst="rect">
            <a:avLst/>
          </a:prstGeom>
          <a:noFill/>
          <a:ln/>
        </p:spPr>
        <p:txBody>
          <a:bodyPr wrap="square" lIns="0" tIns="0" rIns="0" bIns="0" rtlCol="0" anchor="ctr"/>
          <a:lstStyle/>
          <a:p>
            <a:pPr indent="0" marL="0">
              <a:buNone/>
            </a:pPr>
            <a:r>
              <a:rPr lang="en-US" sz="1400" dirty="0">
                <a:solidFill>
                  <a:srgbClr val="6E6560"/>
                </a:solidFill>
                <a:latin typeface="Calibri" pitchFamily="34" charset="0"/>
                <a:ea typeface="Calibri" pitchFamily="34" charset="-122"/>
                <a:cs typeface="Calibri" pitchFamily="34" charset="-120"/>
              </a:rPr>
              <a:t>Classes parfaitement équilibrées (50 % / 50 %)</a:t>
            </a:r>
            <a:endParaRPr lang="en-US" sz="1400" dirty="0"/>
          </a:p>
          <a:p>
            <a:pPr indent="0" marL="0">
              <a:buNone/>
            </a:pPr>
            <a:r>
              <a:rPr lang="en-US" sz="1400" dirty="0">
                <a:solidFill>
                  <a:srgbClr val="6E6560"/>
                </a:solidFill>
                <a:latin typeface="Calibri" pitchFamily="34" charset="0"/>
                <a:ea typeface="Calibri" pitchFamily="34" charset="-122"/>
                <a:cs typeface="Calibri" pitchFamily="34" charset="-120"/>
              </a:rPr>
              <a:t>→ le hasard donne 50 %, c'est notre référence.</a:t>
            </a:r>
            <a:endParaRPr lang="en-US" sz="1400" dirty="0"/>
          </a:p>
        </p:txBody>
      </p:sp>
      <p:sp>
        <p:nvSpPr>
          <p:cNvPr id="9" name="Shape 6"/>
          <p:cNvSpPr/>
          <p:nvPr/>
        </p:nvSpPr>
        <p:spPr>
          <a:xfrm>
            <a:off x="548640" y="2788920"/>
            <a:ext cx="5394960" cy="1353312"/>
          </a:xfrm>
          <a:prstGeom prst="roundRect">
            <a:avLst>
              <a:gd name="adj" fmla="val 6081"/>
            </a:avLst>
          </a:prstGeom>
          <a:solidFill>
            <a:srgbClr val="A7BEAE"/>
          </a:solidFill>
          <a:ln w="12700">
            <a:solidFill>
              <a:srgbClr val="A7BEAE"/>
            </a:solidFill>
            <a:prstDash val="solid"/>
          </a:ln>
        </p:spPr>
      </p:sp>
      <p:sp>
        <p:nvSpPr>
          <p:cNvPr id="10" name="Text 7"/>
          <p:cNvSpPr txBox="1"/>
          <p:nvPr/>
        </p:nvSpPr>
        <p:spPr>
          <a:xfrm>
            <a:off x="868680" y="2971800"/>
            <a:ext cx="4754880" cy="274320"/>
          </a:xfrm>
          <a:prstGeom prst="rect">
            <a:avLst/>
          </a:prstGeom>
          <a:noFill/>
          <a:ln/>
        </p:spPr>
        <p:txBody>
          <a:bodyPr wrap="square" lIns="0" tIns="0" rIns="0" bIns="0" rtlCol="0" anchor="ctr"/>
          <a:lstStyle/>
          <a:p>
            <a:pPr indent="0" marL="0">
              <a:buNone/>
            </a:pPr>
            <a:r>
              <a:rPr lang="en-US" sz="1600" b="1" dirty="0">
                <a:solidFill>
                  <a:srgbClr val="3B2A26"/>
                </a:solidFill>
                <a:latin typeface="Calibri" pitchFamily="34" charset="0"/>
                <a:ea typeface="Calibri" pitchFamily="34" charset="-122"/>
                <a:cs typeface="Calibri" pitchFamily="34" charset="-120"/>
              </a:rPr>
              <a:t>Les photos n'ont pas toutes la même taille</a:t>
            </a:r>
            <a:endParaRPr lang="en-US" sz="1600" dirty="0"/>
          </a:p>
        </p:txBody>
      </p:sp>
      <p:sp>
        <p:nvSpPr>
          <p:cNvPr id="11" name="Text 8"/>
          <p:cNvSpPr txBox="1"/>
          <p:nvPr/>
        </p:nvSpPr>
        <p:spPr>
          <a:xfrm>
            <a:off x="868680" y="3310128"/>
            <a:ext cx="4754880" cy="640080"/>
          </a:xfrm>
          <a:prstGeom prst="rect">
            <a:avLst/>
          </a:prstGeom>
          <a:noFill/>
          <a:ln/>
        </p:spPr>
        <p:txBody>
          <a:bodyPr wrap="square" lIns="0" tIns="0" rIns="0" bIns="0" rtlCol="0" anchor="ctr"/>
          <a:lstStyle/>
          <a:p>
            <a:pPr indent="0" marL="0">
              <a:buNone/>
            </a:pPr>
            <a:r>
              <a:rPr lang="en-US" sz="1400" dirty="0">
                <a:solidFill>
                  <a:srgbClr val="2E2A27"/>
                </a:solidFill>
                <a:latin typeface="Calibri" pitchFamily="34" charset="0"/>
                <a:ea typeface="Calibri" pitchFamily="34" charset="-122"/>
                <a:cs typeface="Calibri" pitchFamily="34" charset="-120"/>
              </a:rPr>
              <a:t>Le réseau attend une entrée fixe → tout est redimensionné en 150 × 150 × 3</a:t>
            </a:r>
            <a:endParaRPr lang="en-US" sz="1400" dirty="0"/>
          </a:p>
          <a:p>
            <a:pPr indent="0" marL="0">
              <a:buNone/>
            </a:pPr>
            <a:r>
              <a:rPr lang="en-US" sz="1400" dirty="0">
                <a:solidFill>
                  <a:srgbClr val="2E2A27"/>
                </a:solidFill>
                <a:latin typeface="Calibri" pitchFamily="34" charset="0"/>
                <a:ea typeface="Calibri" pitchFamily="34" charset="-122"/>
                <a:cs typeface="Calibri" pitchFamily="34" charset="-120"/>
              </a:rPr>
              <a:t>(3 = les canaux rouge, vert, bleu)</a:t>
            </a:r>
            <a:endParaRPr lang="en-US" sz="1400" dirty="0"/>
          </a:p>
        </p:txBody>
      </p:sp>
      <p:sp>
        <p:nvSpPr>
          <p:cNvPr id="12" name="Shape 9"/>
          <p:cNvSpPr/>
          <p:nvPr/>
        </p:nvSpPr>
        <p:spPr>
          <a:xfrm>
            <a:off x="548640" y="4343400"/>
            <a:ext cx="11109960" cy="1737360"/>
          </a:xfrm>
          <a:prstGeom prst="roundRect">
            <a:avLst>
              <a:gd name="adj" fmla="val 4737"/>
            </a:avLst>
          </a:prstGeom>
          <a:solidFill>
            <a:srgbClr val="E7E8D1"/>
          </a:solidFill>
          <a:ln w="12700">
            <a:solidFill>
              <a:srgbClr val="E7E8D1"/>
            </a:solidFill>
            <a:prstDash val="solid"/>
          </a:ln>
        </p:spPr>
      </p:sp>
      <p:sp>
        <p:nvSpPr>
          <p:cNvPr id="13" name="Text 10"/>
          <p:cNvSpPr txBox="1"/>
          <p:nvPr/>
        </p:nvSpPr>
        <p:spPr>
          <a:xfrm>
            <a:off x="868680" y="4526280"/>
            <a:ext cx="4572000" cy="274320"/>
          </a:xfrm>
          <a:prstGeom prst="rect">
            <a:avLst/>
          </a:prstGeom>
          <a:noFill/>
          <a:ln/>
        </p:spPr>
        <p:txBody>
          <a:bodyPr wrap="square" lIns="0" tIns="0" rIns="0" bIns="0" rtlCol="0" anchor="ctr"/>
          <a:lstStyle/>
          <a:p>
            <a:pPr indent="0" marL="0">
              <a:buNone/>
            </a:pPr>
            <a:r>
              <a:rPr lang="en-US" sz="1600" b="1" dirty="0">
                <a:solidFill>
                  <a:srgbClr val="B85042"/>
                </a:solidFill>
                <a:latin typeface="Calibri" pitchFamily="34" charset="0"/>
                <a:ea typeface="Calibri" pitchFamily="34" charset="-122"/>
                <a:cs typeface="Calibri" pitchFamily="34" charset="-120"/>
              </a:rPr>
              <a:t>Découpage des données</a:t>
            </a:r>
            <a:endParaRPr lang="en-US" sz="1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68680" y="4892040"/>
          <a:ext cx="10469880" cy="914400"/>
        </p:xfrm>
        <a:graphic>
          <a:graphicData uri="http://schemas.openxmlformats.org/drawingml/2006/table">
            <a:tbl>
              <a:tblPr/>
              <a:tblGrid>
                <a:gridCol w="4206240"/>
                <a:gridCol w="1280160"/>
                <a:gridCol w="4983480"/>
              </a:tblGrid>
              <a:tr h="256032">
                <a:tc>
                  <a:txBody>
                    <a:bodyPr/>
                    <a:lstStyle/>
                    <a:p>
                      <a:pPr indent="0" marL="0">
                        <a:buNone/>
                      </a:pPr>
                      <a:r>
                        <a:rPr lang="en-US" sz="1300" b="1" dirty="0">
                          <a:solidFill>
                            <a:srgbClr val="2E2A27"/>
                          </a:solidFill>
                          <a:latin typeface="Calibri" pitchFamily="34" charset="0"/>
                          <a:ea typeface="Calibri" pitchFamily="34" charset="-122"/>
                          <a:cs typeface="Calibri" pitchFamily="34" charset="-120"/>
                        </a:rPr>
                        <a:t>Jeu</a:t>
                      </a:r>
                      <a:endParaRPr lang="en-US" sz="130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b="1" dirty="0">
                          <a:solidFill>
                            <a:srgbClr val="2E2A27"/>
                          </a:solidFill>
                          <a:latin typeface="Calibri" pitchFamily="34" charset="0"/>
                          <a:ea typeface="Calibri" pitchFamily="34" charset="-122"/>
                          <a:cs typeface="Calibri" pitchFamily="34" charset="-120"/>
                        </a:rPr>
                        <a:t>Images</a:t>
                      </a:r>
                      <a:endParaRPr lang="en-US" sz="130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b="1" dirty="0">
                          <a:solidFill>
                            <a:srgbClr val="2E2A27"/>
                          </a:solidFill>
                          <a:latin typeface="Calibri" pitchFamily="34" charset="0"/>
                          <a:ea typeface="Calibri" pitchFamily="34" charset="-122"/>
                          <a:cs typeface="Calibri" pitchFamily="34" charset="-120"/>
                        </a:rPr>
                        <a:t>Rôle</a:t>
                      </a:r>
                      <a:endParaRPr lang="en-US" sz="130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56032">
                <a:tc>
                  <a:txBody>
                    <a:bodyPr/>
                    <a:lstStyle/>
                    <a:p>
                      <a:pPr indent="0" marL="0">
                        <a:buNone/>
                      </a:pPr>
                      <a:r>
                        <a:rPr lang="en-US" sz="1300" dirty="0">
                          <a:solidFill>
                            <a:srgbClr val="2E2A27"/>
                          </a:solidFill>
                          <a:latin typeface="Calibri" pitchFamily="34" charset="0"/>
                          <a:ea typeface="Calibri" pitchFamily="34" charset="-122"/>
                          <a:cs typeface="Calibri" pitchFamily="34" charset="-120"/>
                        </a:rPr>
                        <a:t>Entraînement (80 % du dossier train)</a:t>
                      </a:r>
                      <a:endParaRPr lang="en-US" sz="130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E2A27"/>
                          </a:solidFill>
                          <a:latin typeface="Calibri" pitchFamily="34" charset="0"/>
                          <a:ea typeface="Calibri" pitchFamily="34" charset="-122"/>
                          <a:cs typeface="Calibri" pitchFamily="34" charset="-120"/>
                        </a:rPr>
                        <a:t>1600</a:t>
                      </a:r>
                      <a:endParaRPr lang="en-US" sz="130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E2A27"/>
                          </a:solidFill>
                          <a:latin typeface="Calibri" pitchFamily="34" charset="0"/>
                          <a:ea typeface="Calibri" pitchFamily="34" charset="-122"/>
                          <a:cs typeface="Calibri" pitchFamily="34" charset="-120"/>
                        </a:rPr>
                        <a:t>le modèle apprend ses poids</a:t>
                      </a:r>
                      <a:endParaRPr lang="en-US" sz="130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56032">
                <a:tc>
                  <a:txBody>
                    <a:bodyPr/>
                    <a:lstStyle/>
                    <a:p>
                      <a:pPr indent="0" marL="0">
                        <a:buNone/>
                      </a:pPr>
                      <a:r>
                        <a:rPr lang="en-US" sz="1300" dirty="0">
                          <a:solidFill>
                            <a:srgbClr val="2E2A27"/>
                          </a:solidFill>
                          <a:latin typeface="Calibri" pitchFamily="34" charset="0"/>
                          <a:ea typeface="Calibri" pitchFamily="34" charset="-122"/>
                          <a:cs typeface="Calibri" pitchFamily="34" charset="-120"/>
                        </a:rPr>
                        <a:t>Validation (dossier validation)</a:t>
                      </a:r>
                      <a:endParaRPr lang="en-US" sz="130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E2A27"/>
                          </a:solidFill>
                          <a:latin typeface="Calibri" pitchFamily="34" charset="0"/>
                          <a:ea typeface="Calibri" pitchFamily="34" charset="-122"/>
                          <a:cs typeface="Calibri" pitchFamily="34" charset="-120"/>
                        </a:rPr>
                        <a:t>1000</a:t>
                      </a:r>
                      <a:endParaRPr lang="en-US" sz="130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E2A27"/>
                          </a:solidFill>
                          <a:latin typeface="Calibri" pitchFamily="34" charset="0"/>
                          <a:ea typeface="Calibri" pitchFamily="34" charset="-122"/>
                          <a:cs typeface="Calibri" pitchFamily="34" charset="-120"/>
                        </a:rPr>
                        <a:t>surveiller l'apprentissage à chaque epoch</a:t>
                      </a:r>
                      <a:endParaRPr lang="en-US" sz="130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56032">
                <a:tc>
                  <a:txBody>
                    <a:bodyPr/>
                    <a:lstStyle/>
                    <a:p>
                      <a:pPr indent="0" marL="0">
                        <a:buNone/>
                      </a:pPr>
                      <a:r>
                        <a:rPr lang="en-US" sz="1300" dirty="0">
                          <a:solidFill>
                            <a:srgbClr val="2E2A27"/>
                          </a:solidFill>
                          <a:latin typeface="Calibri" pitchFamily="34" charset="0"/>
                          <a:ea typeface="Calibri" pitchFamily="34" charset="-122"/>
                          <a:cs typeface="Calibri" pitchFamily="34" charset="-120"/>
                        </a:rPr>
                        <a:t>Test (20 % du dossier train)</a:t>
                      </a:r>
                      <a:endParaRPr lang="en-US" sz="130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E2A27"/>
                          </a:solidFill>
                          <a:latin typeface="Calibri" pitchFamily="34" charset="0"/>
                          <a:ea typeface="Calibri" pitchFamily="34" charset="-122"/>
                          <a:cs typeface="Calibri" pitchFamily="34" charset="-120"/>
                        </a:rPr>
                        <a:t>400</a:t>
                      </a:r>
                      <a:endParaRPr lang="en-US" sz="130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E2A27"/>
                          </a:solidFill>
                          <a:latin typeface="Calibri" pitchFamily="34" charset="0"/>
                          <a:ea typeface="Calibri" pitchFamily="34" charset="-122"/>
                          <a:cs typeface="Calibri" pitchFamily="34" charset="-120"/>
                        </a:rPr>
                        <a:t>note finale, jamais vu avant</a:t>
                      </a:r>
                      <a:endParaRPr lang="en-US" sz="130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411480"/>
            <a:ext cx="566928" cy="566928"/>
          </a:xfrm>
          <a:prstGeom prst="ellipse">
            <a:avLst/>
          </a:prstGeom>
          <a:solidFill>
            <a:srgbClr val="B85042"/>
          </a:solidFill>
          <a:ln/>
        </p:spPr>
      </p:sp>
      <p:sp>
        <p:nvSpPr>
          <p:cNvPr id="3" name="Text 1"/>
          <p:cNvSpPr txBox="1"/>
          <p:nvPr/>
        </p:nvSpPr>
        <p:spPr>
          <a:xfrm>
            <a:off x="548640" y="4114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entury Schoolbook" pitchFamily="34" charset="0"/>
                <a:ea typeface="Century Schoolbook" pitchFamily="34" charset="-122"/>
                <a:cs typeface="Century Schoolbook" pitchFamily="34" charset="-120"/>
              </a:rPr>
              <a:t>2</a:t>
            </a:r>
            <a:endParaRPr lang="en-US" sz="2000" dirty="0"/>
          </a:p>
        </p:txBody>
      </p:sp>
      <p:sp>
        <p:nvSpPr>
          <p:cNvPr id="4" name="Text 2"/>
          <p:cNvSpPr txBox="1"/>
          <p:nvPr/>
        </p:nvSpPr>
        <p:spPr>
          <a:xfrm>
            <a:off x="1298448" y="384048"/>
            <a:ext cx="10241280" cy="640080"/>
          </a:xfrm>
          <a:prstGeom prst="rect">
            <a:avLst/>
          </a:prstGeom>
          <a:noFill/>
          <a:ln/>
        </p:spPr>
        <p:txBody>
          <a:bodyPr wrap="square" lIns="0" tIns="0" rIns="0" bIns="0" rtlCol="0" anchor="ctr"/>
          <a:lstStyle/>
          <a:p>
            <a:pPr indent="0" marL="0">
              <a:buNone/>
            </a:pPr>
            <a:r>
              <a:rPr lang="en-US" sz="3000" b="1" dirty="0">
                <a:solidFill>
                  <a:srgbClr val="2E2A27"/>
                </a:solidFill>
                <a:latin typeface="Century Schoolbook" pitchFamily="34" charset="0"/>
                <a:ea typeface="Century Schoolbook" pitchFamily="34" charset="-122"/>
                <a:cs typeface="Century Schoolbook" pitchFamily="34" charset="-120"/>
              </a:rPr>
              <a:t>Pourquoi un CNN et pas un réseau dense ?</a:t>
            </a:r>
            <a:endParaRPr lang="en-US" sz="3000" dirty="0"/>
          </a:p>
        </p:txBody>
      </p:sp>
      <p:sp>
        <p:nvSpPr>
          <p:cNvPr id="5" name="Shape 3"/>
          <p:cNvSpPr/>
          <p:nvPr/>
        </p:nvSpPr>
        <p:spPr>
          <a:xfrm>
            <a:off x="548640" y="1234440"/>
            <a:ext cx="5394960" cy="2286000"/>
          </a:xfrm>
          <a:prstGeom prst="roundRect">
            <a:avLst>
              <a:gd name="adj" fmla="val 3600"/>
            </a:avLst>
          </a:prstGeom>
          <a:solidFill>
            <a:srgbClr val="3B2A26"/>
          </a:solidFill>
          <a:ln w="12700">
            <a:solidFill>
              <a:srgbClr val="3B2A26"/>
            </a:solidFill>
            <a:prstDash val="solid"/>
          </a:ln>
        </p:spPr>
      </p:sp>
      <p:sp>
        <p:nvSpPr>
          <p:cNvPr id="6" name="Text 4"/>
          <p:cNvSpPr txBox="1"/>
          <p:nvPr/>
        </p:nvSpPr>
        <p:spPr>
          <a:xfrm>
            <a:off x="868680" y="1463040"/>
            <a:ext cx="4754880" cy="274320"/>
          </a:xfrm>
          <a:prstGeom prst="rect">
            <a:avLst/>
          </a:prstGeom>
          <a:noFill/>
          <a:ln/>
        </p:spPr>
        <p:txBody>
          <a:bodyPr wrap="square" lIns="0" tIns="0" rIns="0" bIns="0" rtlCol="0" anchor="ctr"/>
          <a:lstStyle/>
          <a:p>
            <a:pPr indent="0" marL="0">
              <a:buNone/>
            </a:pPr>
            <a:r>
              <a:rPr lang="en-US" sz="1400" dirty="0">
                <a:solidFill>
                  <a:srgbClr val="E7E8D1"/>
                </a:solidFill>
                <a:latin typeface="Calibri" pitchFamily="34" charset="0"/>
                <a:ea typeface="Calibri" pitchFamily="34" charset="-122"/>
                <a:cs typeface="Calibri" pitchFamily="34" charset="-120"/>
              </a:rPr>
              <a:t>Une image 150 × 150 en couleur</a:t>
            </a:r>
            <a:endParaRPr lang="en-US" sz="1400" dirty="0"/>
          </a:p>
        </p:txBody>
      </p:sp>
      <p:sp>
        <p:nvSpPr>
          <p:cNvPr id="7" name="Text 5"/>
          <p:cNvSpPr txBox="1"/>
          <p:nvPr/>
        </p:nvSpPr>
        <p:spPr>
          <a:xfrm>
            <a:off x="868680" y="1783080"/>
            <a:ext cx="4754880" cy="685800"/>
          </a:xfrm>
          <a:prstGeom prst="rect">
            <a:avLst/>
          </a:prstGeom>
          <a:noFill/>
          <a:ln/>
        </p:spPr>
        <p:txBody>
          <a:bodyPr wrap="square" lIns="0" tIns="0" rIns="0" bIns="0" rtlCol="0" anchor="ctr"/>
          <a:lstStyle/>
          <a:p>
            <a:pPr indent="0" marL="0">
              <a:buNone/>
            </a:pPr>
            <a:r>
              <a:rPr lang="en-US" sz="5000" b="1" dirty="0">
                <a:solidFill>
                  <a:srgbClr val="FFFFFF"/>
                </a:solidFill>
                <a:latin typeface="Century Schoolbook" pitchFamily="34" charset="0"/>
                <a:ea typeface="Century Schoolbook" pitchFamily="34" charset="-122"/>
                <a:cs typeface="Century Schoolbook" pitchFamily="34" charset="-120"/>
              </a:rPr>
              <a:t>67 500</a:t>
            </a:r>
            <a:endParaRPr lang="en-US" sz="5000" dirty="0"/>
          </a:p>
        </p:txBody>
      </p:sp>
      <p:sp>
        <p:nvSpPr>
          <p:cNvPr id="8" name="Text 6"/>
          <p:cNvSpPr txBox="1"/>
          <p:nvPr/>
        </p:nvSpPr>
        <p:spPr>
          <a:xfrm>
            <a:off x="868680" y="2468880"/>
            <a:ext cx="4754880" cy="274320"/>
          </a:xfrm>
          <a:prstGeom prst="rect">
            <a:avLst/>
          </a:prstGeom>
          <a:noFill/>
          <a:ln/>
        </p:spPr>
        <p:txBody>
          <a:bodyPr wrap="square" lIns="0" tIns="0" rIns="0" bIns="0" rtlCol="0" anchor="ctr"/>
          <a:lstStyle/>
          <a:p>
            <a:pPr indent="0" marL="0">
              <a:buNone/>
            </a:pPr>
            <a:r>
              <a:rPr lang="en-US" sz="1400" dirty="0">
                <a:solidFill>
                  <a:srgbClr val="E7E8D1"/>
                </a:solidFill>
                <a:latin typeface="Calibri" pitchFamily="34" charset="0"/>
                <a:ea typeface="Calibri" pitchFamily="34" charset="-122"/>
                <a:cs typeface="Calibri" pitchFamily="34" charset="-120"/>
              </a:rPr>
              <a:t>valeurs en entrée</a:t>
            </a:r>
            <a:endParaRPr lang="en-US" sz="1400" dirty="0"/>
          </a:p>
        </p:txBody>
      </p:sp>
      <p:sp>
        <p:nvSpPr>
          <p:cNvPr id="9" name="Text 7"/>
          <p:cNvSpPr txBox="1"/>
          <p:nvPr/>
        </p:nvSpPr>
        <p:spPr>
          <a:xfrm>
            <a:off x="868680" y="2834640"/>
            <a:ext cx="4754880" cy="548640"/>
          </a:xfrm>
          <a:prstGeom prst="rect">
            <a:avLst/>
          </a:prstGeom>
          <a:noFill/>
          <a:ln/>
        </p:spPr>
        <p:txBody>
          <a:bodyPr wrap="square" lIns="0" tIns="0" rIns="0" bIns="0" rtlCol="0" anchor="ctr"/>
          <a:lstStyle/>
          <a:p>
            <a:pPr indent="0" marL="0">
              <a:buNone/>
            </a:pPr>
            <a:r>
              <a:rPr lang="en-US" sz="1400" b="1" dirty="0">
                <a:solidFill>
                  <a:srgbClr val="A7BEAE"/>
                </a:solidFill>
                <a:latin typeface="Calibri" pitchFamily="34" charset="0"/>
                <a:ea typeface="Calibri" pitchFamily="34" charset="-122"/>
                <a:cs typeface="Calibri" pitchFamily="34" charset="-120"/>
              </a:rPr>
              <a:t>→ une seule couche dense de 1000 neurones = 67,5 millions de paramètres</a:t>
            </a:r>
            <a:endParaRPr lang="en-US" sz="1400" dirty="0"/>
          </a:p>
        </p:txBody>
      </p:sp>
      <p:sp>
        <p:nvSpPr>
          <p:cNvPr id="10" name="Shape 8"/>
          <p:cNvSpPr/>
          <p:nvPr/>
        </p:nvSpPr>
        <p:spPr>
          <a:xfrm>
            <a:off x="6309360" y="1280160"/>
            <a:ext cx="310896" cy="310896"/>
          </a:xfrm>
          <a:prstGeom prst="ellipse">
            <a:avLst/>
          </a:prstGeom>
          <a:solidFill>
            <a:srgbClr val="B85042"/>
          </a:solidFill>
          <a:ln/>
        </p:spPr>
      </p:sp>
      <p:sp>
        <p:nvSpPr>
          <p:cNvPr id="11" name="Text 9"/>
          <p:cNvSpPr txBox="1"/>
          <p:nvPr/>
        </p:nvSpPr>
        <p:spPr>
          <a:xfrm>
            <a:off x="6309360" y="128016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2" name="Text 10"/>
          <p:cNvSpPr txBox="1"/>
          <p:nvPr/>
        </p:nvSpPr>
        <p:spPr>
          <a:xfrm>
            <a:off x="6784848" y="1234440"/>
            <a:ext cx="4937760" cy="274320"/>
          </a:xfrm>
          <a:prstGeom prst="rect">
            <a:avLst/>
          </a:prstGeom>
          <a:noFill/>
          <a:ln/>
        </p:spPr>
        <p:txBody>
          <a:bodyPr wrap="square" lIns="0" tIns="0" rIns="0" bIns="0" rtlCol="0" anchor="ctr"/>
          <a:lstStyle/>
          <a:p>
            <a:pPr indent="0" marL="0">
              <a:buNone/>
            </a:pPr>
            <a:r>
              <a:rPr lang="en-US" sz="1500" b="1" dirty="0">
                <a:solidFill>
                  <a:srgbClr val="2E2A27"/>
                </a:solidFill>
                <a:latin typeface="Calibri" pitchFamily="34" charset="0"/>
                <a:ea typeface="Calibri" pitchFamily="34" charset="-122"/>
                <a:cs typeface="Calibri" pitchFamily="34" charset="-120"/>
              </a:rPr>
              <a:t>Trop de paramètres</a:t>
            </a:r>
            <a:endParaRPr lang="en-US" sz="1500" dirty="0"/>
          </a:p>
        </p:txBody>
      </p:sp>
      <p:sp>
        <p:nvSpPr>
          <p:cNvPr id="13" name="Text 11"/>
          <p:cNvSpPr txBox="1"/>
          <p:nvPr/>
        </p:nvSpPr>
        <p:spPr>
          <a:xfrm>
            <a:off x="6784848" y="1536192"/>
            <a:ext cx="4937760" cy="365760"/>
          </a:xfrm>
          <a:prstGeom prst="rect">
            <a:avLst/>
          </a:prstGeom>
          <a:noFill/>
          <a:ln/>
        </p:spPr>
        <p:txBody>
          <a:bodyPr wrap="square" lIns="0" tIns="0" rIns="0" bIns="0" rtlCol="0" anchor="ctr"/>
          <a:lstStyle/>
          <a:p>
            <a:pPr indent="0" marL="0">
              <a:buNone/>
            </a:pPr>
            <a:r>
              <a:rPr lang="en-US" sz="1300" dirty="0">
                <a:solidFill>
                  <a:srgbClr val="6E6560"/>
                </a:solidFill>
                <a:latin typeface="Calibri" pitchFamily="34" charset="0"/>
                <a:ea typeface="Calibri" pitchFamily="34" charset="-122"/>
                <a:cs typeface="Calibri" pitchFamily="34" charset="-120"/>
              </a:rPr>
              <a:t>mémoire saturée, sur-apprentissage immédiat</a:t>
            </a:r>
            <a:endParaRPr lang="en-US" sz="1300" dirty="0"/>
          </a:p>
        </p:txBody>
      </p:sp>
      <p:sp>
        <p:nvSpPr>
          <p:cNvPr id="14" name="Shape 12"/>
          <p:cNvSpPr/>
          <p:nvPr/>
        </p:nvSpPr>
        <p:spPr>
          <a:xfrm>
            <a:off x="6309360" y="2075688"/>
            <a:ext cx="310896" cy="310896"/>
          </a:xfrm>
          <a:prstGeom prst="ellipse">
            <a:avLst/>
          </a:prstGeom>
          <a:solidFill>
            <a:srgbClr val="B85042"/>
          </a:solidFill>
          <a:ln/>
        </p:spPr>
      </p:sp>
      <p:sp>
        <p:nvSpPr>
          <p:cNvPr id="15" name="Text 13"/>
          <p:cNvSpPr txBox="1"/>
          <p:nvPr/>
        </p:nvSpPr>
        <p:spPr>
          <a:xfrm>
            <a:off x="6309360" y="207568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6" name="Text 14"/>
          <p:cNvSpPr txBox="1"/>
          <p:nvPr/>
        </p:nvSpPr>
        <p:spPr>
          <a:xfrm>
            <a:off x="6784848" y="2029968"/>
            <a:ext cx="4937760" cy="274320"/>
          </a:xfrm>
          <a:prstGeom prst="rect">
            <a:avLst/>
          </a:prstGeom>
          <a:noFill/>
          <a:ln/>
        </p:spPr>
        <p:txBody>
          <a:bodyPr wrap="square" lIns="0" tIns="0" rIns="0" bIns="0" rtlCol="0" anchor="ctr"/>
          <a:lstStyle/>
          <a:p>
            <a:pPr indent="0" marL="0">
              <a:buNone/>
            </a:pPr>
            <a:r>
              <a:rPr lang="en-US" sz="1500" b="1" dirty="0">
                <a:solidFill>
                  <a:srgbClr val="2E2A27"/>
                </a:solidFill>
                <a:latin typeface="Calibri" pitchFamily="34" charset="0"/>
                <a:ea typeface="Calibri" pitchFamily="34" charset="-122"/>
                <a:cs typeface="Calibri" pitchFamily="34" charset="-120"/>
              </a:rPr>
              <a:t>L'information spatiale est perdue</a:t>
            </a:r>
            <a:endParaRPr lang="en-US" sz="1500" dirty="0"/>
          </a:p>
        </p:txBody>
      </p:sp>
      <p:sp>
        <p:nvSpPr>
          <p:cNvPr id="17" name="Text 15"/>
          <p:cNvSpPr txBox="1"/>
          <p:nvPr/>
        </p:nvSpPr>
        <p:spPr>
          <a:xfrm>
            <a:off x="6784848" y="2331720"/>
            <a:ext cx="4937760" cy="365760"/>
          </a:xfrm>
          <a:prstGeom prst="rect">
            <a:avLst/>
          </a:prstGeom>
          <a:noFill/>
          <a:ln/>
        </p:spPr>
        <p:txBody>
          <a:bodyPr wrap="square" lIns="0" tIns="0" rIns="0" bIns="0" rtlCol="0" anchor="ctr"/>
          <a:lstStyle/>
          <a:p>
            <a:pPr indent="0" marL="0">
              <a:buNone/>
            </a:pPr>
            <a:r>
              <a:rPr lang="en-US" sz="1300" dirty="0">
                <a:solidFill>
                  <a:srgbClr val="6E6560"/>
                </a:solidFill>
                <a:latin typeface="Calibri" pitchFamily="34" charset="0"/>
                <a:ea typeface="Calibri" pitchFamily="34" charset="-122"/>
                <a:cs typeface="Calibri" pitchFamily="34" charset="-120"/>
              </a:rPr>
              <a:t>le réseau ne sait plus quels pixels étaient voisins</a:t>
            </a:r>
            <a:endParaRPr lang="en-US" sz="1300" dirty="0"/>
          </a:p>
        </p:txBody>
      </p:sp>
      <p:sp>
        <p:nvSpPr>
          <p:cNvPr id="18" name="Shape 16"/>
          <p:cNvSpPr/>
          <p:nvPr/>
        </p:nvSpPr>
        <p:spPr>
          <a:xfrm>
            <a:off x="6309360" y="2871216"/>
            <a:ext cx="310896" cy="310896"/>
          </a:xfrm>
          <a:prstGeom prst="ellipse">
            <a:avLst/>
          </a:prstGeom>
          <a:solidFill>
            <a:srgbClr val="B85042"/>
          </a:solidFill>
          <a:ln/>
        </p:spPr>
      </p:sp>
      <p:sp>
        <p:nvSpPr>
          <p:cNvPr id="19" name="Text 17"/>
          <p:cNvSpPr txBox="1"/>
          <p:nvPr/>
        </p:nvSpPr>
        <p:spPr>
          <a:xfrm>
            <a:off x="6309360" y="287121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0" name="Text 18"/>
          <p:cNvSpPr txBox="1"/>
          <p:nvPr/>
        </p:nvSpPr>
        <p:spPr>
          <a:xfrm>
            <a:off x="6784848" y="2825496"/>
            <a:ext cx="4937760" cy="274320"/>
          </a:xfrm>
          <a:prstGeom prst="rect">
            <a:avLst/>
          </a:prstGeom>
          <a:noFill/>
          <a:ln/>
        </p:spPr>
        <p:txBody>
          <a:bodyPr wrap="square" lIns="0" tIns="0" rIns="0" bIns="0" rtlCol="0" anchor="ctr"/>
          <a:lstStyle/>
          <a:p>
            <a:pPr indent="0" marL="0">
              <a:buNone/>
            </a:pPr>
            <a:r>
              <a:rPr lang="en-US" sz="1500" b="1" dirty="0">
                <a:solidFill>
                  <a:srgbClr val="2E2A27"/>
                </a:solidFill>
                <a:latin typeface="Calibri" pitchFamily="34" charset="0"/>
                <a:ea typeface="Calibri" pitchFamily="34" charset="-122"/>
                <a:cs typeface="Calibri" pitchFamily="34" charset="-120"/>
              </a:rPr>
              <a:t>Rien n'est réutilisé</a:t>
            </a:r>
            <a:endParaRPr lang="en-US" sz="1500" dirty="0"/>
          </a:p>
        </p:txBody>
      </p:sp>
      <p:sp>
        <p:nvSpPr>
          <p:cNvPr id="21" name="Text 19"/>
          <p:cNvSpPr txBox="1"/>
          <p:nvPr/>
        </p:nvSpPr>
        <p:spPr>
          <a:xfrm>
            <a:off x="6784848" y="3127248"/>
            <a:ext cx="4937760" cy="365760"/>
          </a:xfrm>
          <a:prstGeom prst="rect">
            <a:avLst/>
          </a:prstGeom>
          <a:noFill/>
          <a:ln/>
        </p:spPr>
        <p:txBody>
          <a:bodyPr wrap="square" lIns="0" tIns="0" rIns="0" bIns="0" rtlCol="0" anchor="ctr"/>
          <a:lstStyle/>
          <a:p>
            <a:pPr indent="0" marL="0">
              <a:buNone/>
            </a:pPr>
            <a:r>
              <a:rPr lang="en-US" sz="1300" dirty="0">
                <a:solidFill>
                  <a:srgbClr val="6E6560"/>
                </a:solidFill>
                <a:latin typeface="Calibri" pitchFamily="34" charset="0"/>
                <a:ea typeface="Calibri" pitchFamily="34" charset="-122"/>
                <a:cs typeface="Calibri" pitchFamily="34" charset="-120"/>
              </a:rPr>
              <a:t>un motif appris en haut à gauche doit être réappris ailleurs</a:t>
            </a:r>
            <a:endParaRPr lang="en-US" sz="1300" dirty="0"/>
          </a:p>
        </p:txBody>
      </p:sp>
      <p:sp>
        <p:nvSpPr>
          <p:cNvPr id="22" name="Shape 20"/>
          <p:cNvSpPr/>
          <p:nvPr/>
        </p:nvSpPr>
        <p:spPr>
          <a:xfrm>
            <a:off x="548640" y="3794760"/>
            <a:ext cx="11109960" cy="1874520"/>
          </a:xfrm>
          <a:prstGeom prst="roundRect">
            <a:avLst>
              <a:gd name="adj" fmla="val 4390"/>
            </a:avLst>
          </a:prstGeom>
          <a:solidFill>
            <a:srgbClr val="E7E8D1"/>
          </a:solidFill>
          <a:ln w="12700">
            <a:solidFill>
              <a:srgbClr val="E7E8D1"/>
            </a:solidFill>
            <a:prstDash val="solid"/>
          </a:ln>
        </p:spPr>
      </p:sp>
      <p:sp>
        <p:nvSpPr>
          <p:cNvPr id="23" name="Text 21"/>
          <p:cNvSpPr txBox="1"/>
          <p:nvPr/>
        </p:nvSpPr>
        <p:spPr>
          <a:xfrm>
            <a:off x="914400" y="4005072"/>
            <a:ext cx="10424160" cy="320040"/>
          </a:xfrm>
          <a:prstGeom prst="rect">
            <a:avLst/>
          </a:prstGeom>
          <a:noFill/>
          <a:ln/>
        </p:spPr>
        <p:txBody>
          <a:bodyPr wrap="square" lIns="0" tIns="0" rIns="0" bIns="0" rtlCol="0" anchor="ctr"/>
          <a:lstStyle/>
          <a:p>
            <a:pPr indent="0" marL="0">
              <a:buNone/>
            </a:pPr>
            <a:r>
              <a:rPr lang="en-US" sz="1800" b="1" dirty="0">
                <a:solidFill>
                  <a:srgbClr val="B85042"/>
                </a:solidFill>
                <a:latin typeface="Century Schoolbook" pitchFamily="34" charset="0"/>
                <a:ea typeface="Century Schoolbook" pitchFamily="34" charset="-122"/>
                <a:cs typeface="Century Schoolbook" pitchFamily="34" charset="-120"/>
              </a:rPr>
              <a:t>La réponse du CNN : deux idées simples</a:t>
            </a:r>
            <a:endParaRPr lang="en-US" sz="1800" dirty="0"/>
          </a:p>
        </p:txBody>
      </p:sp>
      <p:sp>
        <p:nvSpPr>
          <p:cNvPr id="24" name="Text 22"/>
          <p:cNvSpPr txBox="1"/>
          <p:nvPr/>
        </p:nvSpPr>
        <p:spPr>
          <a:xfrm>
            <a:off x="914400" y="4434840"/>
            <a:ext cx="5029200" cy="1005840"/>
          </a:xfrm>
          <a:prstGeom prst="rect">
            <a:avLst/>
          </a:prstGeom>
          <a:noFill/>
          <a:ln/>
        </p:spPr>
        <p:txBody>
          <a:bodyPr wrap="square" lIns="0" tIns="0" rIns="0" bIns="0" rtlCol="0" anchor="ctr"/>
          <a:lstStyle/>
          <a:p>
            <a:pPr indent="0" marL="0">
              <a:buNone/>
            </a:pPr>
            <a:r>
              <a:rPr lang="en-US" sz="1600" b="1" dirty="0">
                <a:solidFill>
                  <a:srgbClr val="2E2A27"/>
                </a:solidFill>
                <a:latin typeface="Calibri" pitchFamily="34" charset="0"/>
                <a:ea typeface="Calibri" pitchFamily="34" charset="-122"/>
                <a:cs typeface="Calibri" pitchFamily="34" charset="-120"/>
              </a:rPr>
              <a:t>Connectivité locale</a:t>
            </a:r>
            <a:pPr indent="0" marL="0">
              <a:buNone/>
            </a:pPr>
            <a:endParaRPr lang="en-US" sz="1500" dirty="0"/>
          </a:p>
          <a:p>
            <a:pPr indent="0" marL="0">
              <a:buNone/>
            </a:pPr>
            <a:r>
              <a:rPr lang="en-US" sz="1400" dirty="0">
                <a:solidFill>
                  <a:srgbClr val="6E6560"/>
                </a:solidFill>
                <a:latin typeface="Calibri" pitchFamily="34" charset="0"/>
                <a:ea typeface="Calibri" pitchFamily="34" charset="-122"/>
                <a:cs typeface="Calibri" pitchFamily="34" charset="-120"/>
              </a:rPr>
              <a:t>Chaque neurone ne regarde qu'un petit carré de 3 × 3 pixels, pas l'image entière.</a:t>
            </a:r>
            <a:endParaRPr lang="en-US" sz="1500" dirty="0"/>
          </a:p>
        </p:txBody>
      </p:sp>
      <p:sp>
        <p:nvSpPr>
          <p:cNvPr id="25" name="Text 23"/>
          <p:cNvSpPr txBox="1"/>
          <p:nvPr/>
        </p:nvSpPr>
        <p:spPr>
          <a:xfrm>
            <a:off x="6309360" y="4434840"/>
            <a:ext cx="5029200" cy="1005840"/>
          </a:xfrm>
          <a:prstGeom prst="rect">
            <a:avLst/>
          </a:prstGeom>
          <a:noFill/>
          <a:ln/>
        </p:spPr>
        <p:txBody>
          <a:bodyPr wrap="square" lIns="0" tIns="0" rIns="0" bIns="0" rtlCol="0" anchor="ctr"/>
          <a:lstStyle/>
          <a:p>
            <a:pPr indent="0" marL="0">
              <a:buNone/>
            </a:pPr>
            <a:r>
              <a:rPr lang="en-US" sz="1600" b="1" dirty="0">
                <a:solidFill>
                  <a:srgbClr val="2E2A27"/>
                </a:solidFill>
                <a:latin typeface="Calibri" pitchFamily="34" charset="0"/>
                <a:ea typeface="Calibri" pitchFamily="34" charset="-122"/>
                <a:cs typeface="Calibri" pitchFamily="34" charset="-120"/>
              </a:rPr>
              <a:t>Partage des poids</a:t>
            </a:r>
            <a:pPr indent="0" marL="0">
              <a:buNone/>
            </a:pPr>
            <a:endParaRPr lang="en-US" sz="1500" dirty="0"/>
          </a:p>
          <a:p>
            <a:pPr indent="0" marL="0">
              <a:buNone/>
            </a:pPr>
            <a:r>
              <a:rPr lang="en-US" sz="1400" dirty="0">
                <a:solidFill>
                  <a:srgbClr val="6E6560"/>
                </a:solidFill>
                <a:latin typeface="Calibri" pitchFamily="34" charset="0"/>
                <a:ea typeface="Calibri" pitchFamily="34" charset="-122"/>
                <a:cs typeface="Calibri" pitchFamily="34" charset="-120"/>
              </a:rPr>
              <a:t>Le même filtre glisse sur toute l'image : un motif appris une fois est reconnu partout.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411480"/>
            <a:ext cx="566928" cy="566928"/>
          </a:xfrm>
          <a:prstGeom prst="ellipse">
            <a:avLst/>
          </a:prstGeom>
          <a:solidFill>
            <a:srgbClr val="B85042"/>
          </a:solidFill>
          <a:ln/>
        </p:spPr>
      </p:sp>
      <p:sp>
        <p:nvSpPr>
          <p:cNvPr id="3" name="Text 1"/>
          <p:cNvSpPr txBox="1"/>
          <p:nvPr/>
        </p:nvSpPr>
        <p:spPr>
          <a:xfrm>
            <a:off x="548640" y="4114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entury Schoolbook" pitchFamily="34" charset="0"/>
                <a:ea typeface="Century Schoolbook" pitchFamily="34" charset="-122"/>
                <a:cs typeface="Century Schoolbook" pitchFamily="34" charset="-120"/>
              </a:rPr>
              <a:t>3</a:t>
            </a:r>
            <a:endParaRPr lang="en-US" sz="2000" dirty="0"/>
          </a:p>
        </p:txBody>
      </p:sp>
      <p:sp>
        <p:nvSpPr>
          <p:cNvPr id="4" name="Text 2"/>
          <p:cNvSpPr txBox="1"/>
          <p:nvPr/>
        </p:nvSpPr>
        <p:spPr>
          <a:xfrm>
            <a:off x="1298448" y="384048"/>
            <a:ext cx="10241280" cy="640080"/>
          </a:xfrm>
          <a:prstGeom prst="rect">
            <a:avLst/>
          </a:prstGeom>
          <a:noFill/>
          <a:ln/>
        </p:spPr>
        <p:txBody>
          <a:bodyPr wrap="square" lIns="0" tIns="0" rIns="0" bIns="0" rtlCol="0" anchor="ctr"/>
          <a:lstStyle/>
          <a:p>
            <a:pPr indent="0" marL="0">
              <a:buNone/>
            </a:pPr>
            <a:r>
              <a:rPr lang="en-US" sz="3000" b="1" dirty="0">
                <a:solidFill>
                  <a:srgbClr val="2E2A27"/>
                </a:solidFill>
                <a:latin typeface="Century Schoolbook" pitchFamily="34" charset="0"/>
                <a:ea typeface="Century Schoolbook" pitchFamily="34" charset="-122"/>
                <a:cs typeface="Century Schoolbook" pitchFamily="34" charset="-120"/>
              </a:rPr>
              <a:t>L'architecture : 4 blocs de convolution</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6035040" cy="914400"/>
        </p:xfrm>
        <a:graphic>
          <a:graphicData uri="http://schemas.openxmlformats.org/drawingml/2006/table">
            <a:tbl>
              <a:tblPr/>
              <a:tblGrid>
                <a:gridCol w="3200400"/>
                <a:gridCol w="1554480"/>
                <a:gridCol w="1280160"/>
              </a:tblGrid>
              <a:tr h="265176">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Couche</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B2A26"/>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Sortie</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B2A26"/>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Paramètres</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B2A26"/>
                    </a:solidFill>
                  </a:tcPr>
                </a:tc>
              </a:tr>
              <a:tr h="265176">
                <a:tc>
                  <a:txBody>
                    <a:bodyPr/>
                    <a:lstStyle/>
                    <a:p>
                      <a:pPr algn="l" indent="0" marL="0">
                        <a:buNone/>
                      </a:pPr>
                      <a:r>
                        <a:rPr lang="en-US" sz="1150" dirty="0">
                          <a:solidFill>
                            <a:srgbClr val="2E2A27"/>
                          </a:solidFill>
                          <a:latin typeface="Calibri" pitchFamily="34" charset="0"/>
                          <a:ea typeface="Calibri" pitchFamily="34" charset="-122"/>
                          <a:cs typeface="Calibri" pitchFamily="34" charset="-120"/>
                        </a:rPr>
                        <a:t>Rescaling  (1/255)</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2EE"/>
                    </a:solidFill>
                  </a:tcPr>
                </a:tc>
                <a:tc>
                  <a:txBody>
                    <a:bodyPr/>
                    <a:lstStyle/>
                    <a:p>
                      <a:pPr algn="l" indent="0" marL="0">
                        <a:buNone/>
                      </a:pPr>
                      <a:r>
                        <a:rPr lang="en-US" sz="1150" dirty="0">
                          <a:solidFill>
                            <a:srgbClr val="2E2A27"/>
                          </a:solidFill>
                          <a:latin typeface="Calibri" pitchFamily="34" charset="0"/>
                          <a:ea typeface="Calibri" pitchFamily="34" charset="-122"/>
                          <a:cs typeface="Calibri" pitchFamily="34" charset="-120"/>
                        </a:rPr>
                        <a:t>150 × 150 × 3</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2EE"/>
                    </a:solidFill>
                  </a:tcPr>
                </a:tc>
                <a:tc>
                  <a:txBody>
                    <a:bodyPr/>
                    <a:lstStyle/>
                    <a:p>
                      <a:pPr algn="l" indent="0" marL="0">
                        <a:buNone/>
                      </a:pPr>
                      <a:r>
                        <a:rPr lang="en-US" sz="1150" dirty="0">
                          <a:solidFill>
                            <a:srgbClr val="2E2A27"/>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2EE"/>
                    </a:solidFill>
                  </a:tcPr>
                </a:tc>
              </a:tr>
              <a:tr h="265176">
                <a:tc>
                  <a:txBody>
                    <a:bodyPr/>
                    <a:lstStyle/>
                    <a:p>
                      <a:pPr algn="l" indent="0" marL="0">
                        <a:buNone/>
                      </a:pPr>
                      <a:r>
                        <a:rPr lang="en-US" sz="1150" dirty="0">
                          <a:solidFill>
                            <a:srgbClr val="2E2A27"/>
                          </a:solidFill>
                          <a:latin typeface="Calibri" pitchFamily="34" charset="0"/>
                          <a:ea typeface="Calibri" pitchFamily="34" charset="-122"/>
                          <a:cs typeface="Calibri" pitchFamily="34" charset="-120"/>
                        </a:rPr>
                        <a:t>Conv2D 32 filtres 3×3 + ReLU</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E2A27"/>
                          </a:solidFill>
                          <a:latin typeface="Calibri" pitchFamily="34" charset="0"/>
                          <a:ea typeface="Calibri" pitchFamily="34" charset="-122"/>
                          <a:cs typeface="Calibri" pitchFamily="34" charset="-120"/>
                        </a:rPr>
                        <a:t>148 × 148 × 32</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B85042"/>
                          </a:solidFill>
                          <a:latin typeface="Calibri" pitchFamily="34" charset="0"/>
                          <a:ea typeface="Calibri" pitchFamily="34" charset="-122"/>
                          <a:cs typeface="Calibri" pitchFamily="34" charset="-120"/>
                        </a:rPr>
                        <a:t>896</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65176">
                <a:tc>
                  <a:txBody>
                    <a:bodyPr/>
                    <a:lstStyle/>
                    <a:p>
                      <a:pPr algn="l" indent="0" marL="0">
                        <a:buNone/>
                      </a:pPr>
                      <a:r>
                        <a:rPr lang="en-US" sz="1150" dirty="0">
                          <a:solidFill>
                            <a:srgbClr val="2E2A27"/>
                          </a:solidFill>
                          <a:latin typeface="Calibri" pitchFamily="34" charset="0"/>
                          <a:ea typeface="Calibri" pitchFamily="34" charset="-122"/>
                          <a:cs typeface="Calibri" pitchFamily="34" charset="-120"/>
                        </a:rPr>
                        <a:t>MaxPooling 2×2</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2EE"/>
                    </a:solidFill>
                  </a:tcPr>
                </a:tc>
                <a:tc>
                  <a:txBody>
                    <a:bodyPr/>
                    <a:lstStyle/>
                    <a:p>
                      <a:pPr algn="l" indent="0" marL="0">
                        <a:buNone/>
                      </a:pPr>
                      <a:r>
                        <a:rPr lang="en-US" sz="1150" dirty="0">
                          <a:solidFill>
                            <a:srgbClr val="2E2A27"/>
                          </a:solidFill>
                          <a:latin typeface="Calibri" pitchFamily="34" charset="0"/>
                          <a:ea typeface="Calibri" pitchFamily="34" charset="-122"/>
                          <a:cs typeface="Calibri" pitchFamily="34" charset="-120"/>
                        </a:rPr>
                        <a:t>74 × 74 × 32</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2EE"/>
                    </a:solidFill>
                  </a:tcPr>
                </a:tc>
                <a:tc>
                  <a:txBody>
                    <a:bodyPr/>
                    <a:lstStyle/>
                    <a:p>
                      <a:pPr algn="l" indent="0" marL="0">
                        <a:buNone/>
                      </a:pPr>
                      <a:r>
                        <a:rPr lang="en-US" sz="1150" dirty="0">
                          <a:solidFill>
                            <a:srgbClr val="2E2A27"/>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2EE"/>
                    </a:solidFill>
                  </a:tcPr>
                </a:tc>
              </a:tr>
              <a:tr h="265176">
                <a:tc>
                  <a:txBody>
                    <a:bodyPr/>
                    <a:lstStyle/>
                    <a:p>
                      <a:pPr algn="l" indent="0" marL="0">
                        <a:buNone/>
                      </a:pPr>
                      <a:r>
                        <a:rPr lang="en-US" sz="1150" dirty="0">
                          <a:solidFill>
                            <a:srgbClr val="2E2A27"/>
                          </a:solidFill>
                          <a:latin typeface="Calibri" pitchFamily="34" charset="0"/>
                          <a:ea typeface="Calibri" pitchFamily="34" charset="-122"/>
                          <a:cs typeface="Calibri" pitchFamily="34" charset="-120"/>
                        </a:rPr>
                        <a:t>Conv2D 64 filtres 3×3 + ReLU</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E2A27"/>
                          </a:solidFill>
                          <a:latin typeface="Calibri" pitchFamily="34" charset="0"/>
                          <a:ea typeface="Calibri" pitchFamily="34" charset="-122"/>
                          <a:cs typeface="Calibri" pitchFamily="34" charset="-120"/>
                        </a:rPr>
                        <a:t>72 × 72 × 64</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B85042"/>
                          </a:solidFill>
                          <a:latin typeface="Calibri" pitchFamily="34" charset="0"/>
                          <a:ea typeface="Calibri" pitchFamily="34" charset="-122"/>
                          <a:cs typeface="Calibri" pitchFamily="34" charset="-120"/>
                        </a:rPr>
                        <a:t>18 496</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65176">
                <a:tc>
                  <a:txBody>
                    <a:bodyPr/>
                    <a:lstStyle/>
                    <a:p>
                      <a:pPr algn="l" indent="0" marL="0">
                        <a:buNone/>
                      </a:pPr>
                      <a:r>
                        <a:rPr lang="en-US" sz="1150" dirty="0">
                          <a:solidFill>
                            <a:srgbClr val="2E2A27"/>
                          </a:solidFill>
                          <a:latin typeface="Calibri" pitchFamily="34" charset="0"/>
                          <a:ea typeface="Calibri" pitchFamily="34" charset="-122"/>
                          <a:cs typeface="Calibri" pitchFamily="34" charset="-120"/>
                        </a:rPr>
                        <a:t>MaxPooling 2×2</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2EE"/>
                    </a:solidFill>
                  </a:tcPr>
                </a:tc>
                <a:tc>
                  <a:txBody>
                    <a:bodyPr/>
                    <a:lstStyle/>
                    <a:p>
                      <a:pPr algn="l" indent="0" marL="0">
                        <a:buNone/>
                      </a:pPr>
                      <a:r>
                        <a:rPr lang="en-US" sz="1150" dirty="0">
                          <a:solidFill>
                            <a:srgbClr val="2E2A27"/>
                          </a:solidFill>
                          <a:latin typeface="Calibri" pitchFamily="34" charset="0"/>
                          <a:ea typeface="Calibri" pitchFamily="34" charset="-122"/>
                          <a:cs typeface="Calibri" pitchFamily="34" charset="-120"/>
                        </a:rPr>
                        <a:t>36 × 36 × 64</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2EE"/>
                    </a:solidFill>
                  </a:tcPr>
                </a:tc>
                <a:tc>
                  <a:txBody>
                    <a:bodyPr/>
                    <a:lstStyle/>
                    <a:p>
                      <a:pPr algn="l" indent="0" marL="0">
                        <a:buNone/>
                      </a:pPr>
                      <a:r>
                        <a:rPr lang="en-US" sz="1150" dirty="0">
                          <a:solidFill>
                            <a:srgbClr val="2E2A27"/>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2EE"/>
                    </a:solidFill>
                  </a:tcPr>
                </a:tc>
              </a:tr>
              <a:tr h="265176">
                <a:tc>
                  <a:txBody>
                    <a:bodyPr/>
                    <a:lstStyle/>
                    <a:p>
                      <a:pPr algn="l" indent="0" marL="0">
                        <a:buNone/>
                      </a:pPr>
                      <a:r>
                        <a:rPr lang="en-US" sz="1150" dirty="0">
                          <a:solidFill>
                            <a:srgbClr val="2E2A27"/>
                          </a:solidFill>
                          <a:latin typeface="Calibri" pitchFamily="34" charset="0"/>
                          <a:ea typeface="Calibri" pitchFamily="34" charset="-122"/>
                          <a:cs typeface="Calibri" pitchFamily="34" charset="-120"/>
                        </a:rPr>
                        <a:t>Conv2D 128 filtres 3×3 + ReLU</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E2A27"/>
                          </a:solidFill>
                          <a:latin typeface="Calibri" pitchFamily="34" charset="0"/>
                          <a:ea typeface="Calibri" pitchFamily="34" charset="-122"/>
                          <a:cs typeface="Calibri" pitchFamily="34" charset="-120"/>
                        </a:rPr>
                        <a:t>34 × 34 × 128</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B85042"/>
                          </a:solidFill>
                          <a:latin typeface="Calibri" pitchFamily="34" charset="0"/>
                          <a:ea typeface="Calibri" pitchFamily="34" charset="-122"/>
                          <a:cs typeface="Calibri" pitchFamily="34" charset="-120"/>
                        </a:rPr>
                        <a:t>73 856</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65176">
                <a:tc>
                  <a:txBody>
                    <a:bodyPr/>
                    <a:lstStyle/>
                    <a:p>
                      <a:pPr algn="l" indent="0" marL="0">
                        <a:buNone/>
                      </a:pPr>
                      <a:r>
                        <a:rPr lang="en-US" sz="1150" dirty="0">
                          <a:solidFill>
                            <a:srgbClr val="2E2A27"/>
                          </a:solidFill>
                          <a:latin typeface="Calibri" pitchFamily="34" charset="0"/>
                          <a:ea typeface="Calibri" pitchFamily="34" charset="-122"/>
                          <a:cs typeface="Calibri" pitchFamily="34" charset="-120"/>
                        </a:rPr>
                        <a:t>MaxPooling 2×2</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2EE"/>
                    </a:solidFill>
                  </a:tcPr>
                </a:tc>
                <a:tc>
                  <a:txBody>
                    <a:bodyPr/>
                    <a:lstStyle/>
                    <a:p>
                      <a:pPr algn="l" indent="0" marL="0">
                        <a:buNone/>
                      </a:pPr>
                      <a:r>
                        <a:rPr lang="en-US" sz="1150" dirty="0">
                          <a:solidFill>
                            <a:srgbClr val="2E2A27"/>
                          </a:solidFill>
                          <a:latin typeface="Calibri" pitchFamily="34" charset="0"/>
                          <a:ea typeface="Calibri" pitchFamily="34" charset="-122"/>
                          <a:cs typeface="Calibri" pitchFamily="34" charset="-120"/>
                        </a:rPr>
                        <a:t>17 × 17 × 128</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2EE"/>
                    </a:solidFill>
                  </a:tcPr>
                </a:tc>
                <a:tc>
                  <a:txBody>
                    <a:bodyPr/>
                    <a:lstStyle/>
                    <a:p>
                      <a:pPr algn="l" indent="0" marL="0">
                        <a:buNone/>
                      </a:pPr>
                      <a:r>
                        <a:rPr lang="en-US" sz="1150" dirty="0">
                          <a:solidFill>
                            <a:srgbClr val="2E2A27"/>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2EE"/>
                    </a:solidFill>
                  </a:tcPr>
                </a:tc>
              </a:tr>
              <a:tr h="265176">
                <a:tc>
                  <a:txBody>
                    <a:bodyPr/>
                    <a:lstStyle/>
                    <a:p>
                      <a:pPr algn="l" indent="0" marL="0">
                        <a:buNone/>
                      </a:pPr>
                      <a:r>
                        <a:rPr lang="en-US" sz="1150" dirty="0">
                          <a:solidFill>
                            <a:srgbClr val="2E2A27"/>
                          </a:solidFill>
                          <a:latin typeface="Calibri" pitchFamily="34" charset="0"/>
                          <a:ea typeface="Calibri" pitchFamily="34" charset="-122"/>
                          <a:cs typeface="Calibri" pitchFamily="34" charset="-120"/>
                        </a:rPr>
                        <a:t>Conv2D 128 filtres 3×3 + ReLU</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E2A27"/>
                          </a:solidFill>
                          <a:latin typeface="Calibri" pitchFamily="34" charset="0"/>
                          <a:ea typeface="Calibri" pitchFamily="34" charset="-122"/>
                          <a:cs typeface="Calibri" pitchFamily="34" charset="-120"/>
                        </a:rPr>
                        <a:t>15 × 15 × 128</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B85042"/>
                          </a:solidFill>
                          <a:latin typeface="Calibri" pitchFamily="34" charset="0"/>
                          <a:ea typeface="Calibri" pitchFamily="34" charset="-122"/>
                          <a:cs typeface="Calibri" pitchFamily="34" charset="-120"/>
                        </a:rPr>
                        <a:t>147 584</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65176">
                <a:tc>
                  <a:txBody>
                    <a:bodyPr/>
                    <a:lstStyle/>
                    <a:p>
                      <a:pPr algn="l" indent="0" marL="0">
                        <a:buNone/>
                      </a:pPr>
                      <a:r>
                        <a:rPr lang="en-US" sz="1150" dirty="0">
                          <a:solidFill>
                            <a:srgbClr val="2E2A27"/>
                          </a:solidFill>
                          <a:latin typeface="Calibri" pitchFamily="34" charset="0"/>
                          <a:ea typeface="Calibri" pitchFamily="34" charset="-122"/>
                          <a:cs typeface="Calibri" pitchFamily="34" charset="-120"/>
                        </a:rPr>
                        <a:t>MaxPooling 2×2</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2EE"/>
                    </a:solidFill>
                  </a:tcPr>
                </a:tc>
                <a:tc>
                  <a:txBody>
                    <a:bodyPr/>
                    <a:lstStyle/>
                    <a:p>
                      <a:pPr algn="l" indent="0" marL="0">
                        <a:buNone/>
                      </a:pPr>
                      <a:r>
                        <a:rPr lang="en-US" sz="1150" dirty="0">
                          <a:solidFill>
                            <a:srgbClr val="2E2A27"/>
                          </a:solidFill>
                          <a:latin typeface="Calibri" pitchFamily="34" charset="0"/>
                          <a:ea typeface="Calibri" pitchFamily="34" charset="-122"/>
                          <a:cs typeface="Calibri" pitchFamily="34" charset="-120"/>
                        </a:rPr>
                        <a:t>7 × 7 × 128</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2EE"/>
                    </a:solidFill>
                  </a:tcPr>
                </a:tc>
                <a:tc>
                  <a:txBody>
                    <a:bodyPr/>
                    <a:lstStyle/>
                    <a:p>
                      <a:pPr algn="l" indent="0" marL="0">
                        <a:buNone/>
                      </a:pPr>
                      <a:r>
                        <a:rPr lang="en-US" sz="1150" dirty="0">
                          <a:solidFill>
                            <a:srgbClr val="2E2A27"/>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2EE"/>
                    </a:solidFill>
                  </a:tcPr>
                </a:tc>
              </a:tr>
              <a:tr h="265176">
                <a:tc>
                  <a:txBody>
                    <a:bodyPr/>
                    <a:lstStyle/>
                    <a:p>
                      <a:pPr algn="l" indent="0" marL="0">
                        <a:buNone/>
                      </a:pPr>
                      <a:r>
                        <a:rPr lang="en-US" sz="1150" dirty="0">
                          <a:solidFill>
                            <a:srgbClr val="2E2A27"/>
                          </a:solidFill>
                          <a:latin typeface="Calibri" pitchFamily="34" charset="0"/>
                          <a:ea typeface="Calibri" pitchFamily="34" charset="-122"/>
                          <a:cs typeface="Calibri" pitchFamily="34" charset="-120"/>
                        </a:rPr>
                        <a:t>Flatten</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E2A27"/>
                          </a:solidFill>
                          <a:latin typeface="Calibri" pitchFamily="34" charset="0"/>
                          <a:ea typeface="Calibri" pitchFamily="34" charset="-122"/>
                          <a:cs typeface="Calibri" pitchFamily="34" charset="-120"/>
                        </a:rPr>
                        <a:t>6272</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E2A27"/>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65176">
                <a:tc>
                  <a:txBody>
                    <a:bodyPr/>
                    <a:lstStyle/>
                    <a:p>
                      <a:pPr algn="l" indent="0" marL="0">
                        <a:buNone/>
                      </a:pPr>
                      <a:r>
                        <a:rPr lang="en-US" sz="1150" dirty="0">
                          <a:solidFill>
                            <a:srgbClr val="2E2A27"/>
                          </a:solidFill>
                          <a:latin typeface="Calibri" pitchFamily="34" charset="0"/>
                          <a:ea typeface="Calibri" pitchFamily="34" charset="-122"/>
                          <a:cs typeface="Calibri" pitchFamily="34" charset="-120"/>
                        </a:rPr>
                        <a:t>Dense 128 + ReLU</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2EE"/>
                    </a:solidFill>
                  </a:tcPr>
                </a:tc>
                <a:tc>
                  <a:txBody>
                    <a:bodyPr/>
                    <a:lstStyle/>
                    <a:p>
                      <a:pPr algn="l" indent="0" marL="0">
                        <a:buNone/>
                      </a:pPr>
                      <a:r>
                        <a:rPr lang="en-US" sz="1150" dirty="0">
                          <a:solidFill>
                            <a:srgbClr val="2E2A27"/>
                          </a:solidFill>
                          <a:latin typeface="Calibri" pitchFamily="34" charset="0"/>
                          <a:ea typeface="Calibri" pitchFamily="34" charset="-122"/>
                          <a:cs typeface="Calibri" pitchFamily="34" charset="-120"/>
                        </a:rPr>
                        <a:t>128</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2EE"/>
                    </a:solidFill>
                  </a:tcPr>
                </a:tc>
                <a:tc>
                  <a:txBody>
                    <a:bodyPr/>
                    <a:lstStyle/>
                    <a:p>
                      <a:pPr algn="l" indent="0" marL="0">
                        <a:buNone/>
                      </a:pPr>
                      <a:r>
                        <a:rPr lang="en-US" sz="1150" b="1" dirty="0">
                          <a:solidFill>
                            <a:srgbClr val="B85042"/>
                          </a:solidFill>
                          <a:latin typeface="Calibri" pitchFamily="34" charset="0"/>
                          <a:ea typeface="Calibri" pitchFamily="34" charset="-122"/>
                          <a:cs typeface="Calibri" pitchFamily="34" charset="-120"/>
                        </a:rPr>
                        <a:t>802 944</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2EE"/>
                    </a:solidFill>
                  </a:tcPr>
                </a:tc>
              </a:tr>
              <a:tr h="265176">
                <a:tc>
                  <a:txBody>
                    <a:bodyPr/>
                    <a:lstStyle/>
                    <a:p>
                      <a:pPr algn="l" indent="0" marL="0">
                        <a:buNone/>
                      </a:pPr>
                      <a:r>
                        <a:rPr lang="en-US" sz="1150" dirty="0">
                          <a:solidFill>
                            <a:srgbClr val="2E2A27"/>
                          </a:solidFill>
                          <a:latin typeface="Calibri" pitchFamily="34" charset="0"/>
                          <a:ea typeface="Calibri" pitchFamily="34" charset="-122"/>
                          <a:cs typeface="Calibri" pitchFamily="34" charset="-120"/>
                        </a:rPr>
                        <a:t>Dense 1 + sigmoïde</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E2A27"/>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B85042"/>
                          </a:solidFill>
                          <a:latin typeface="Calibri" pitchFamily="34" charset="0"/>
                          <a:ea typeface="Calibri" pitchFamily="34" charset="-122"/>
                          <a:cs typeface="Calibri" pitchFamily="34" charset="-120"/>
                        </a:rPr>
                        <a:t>129</a:t>
                      </a:r>
                      <a:endParaRPr lang="en-US" sz="115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6" name="Shape 3"/>
          <p:cNvSpPr/>
          <p:nvPr/>
        </p:nvSpPr>
        <p:spPr>
          <a:xfrm>
            <a:off x="6903720" y="1234440"/>
            <a:ext cx="4754880" cy="1600200"/>
          </a:xfrm>
          <a:prstGeom prst="roundRect">
            <a:avLst>
              <a:gd name="adj" fmla="val 5143"/>
            </a:avLst>
          </a:prstGeom>
          <a:solidFill>
            <a:srgbClr val="E7E8D1"/>
          </a:solidFill>
          <a:ln w="12700">
            <a:solidFill>
              <a:srgbClr val="E7E8D1"/>
            </a:solidFill>
            <a:prstDash val="solid"/>
          </a:ln>
        </p:spPr>
      </p:sp>
      <p:sp>
        <p:nvSpPr>
          <p:cNvPr id="7" name="Text 4"/>
          <p:cNvSpPr txBox="1"/>
          <p:nvPr/>
        </p:nvSpPr>
        <p:spPr>
          <a:xfrm>
            <a:off x="7178040" y="1417320"/>
            <a:ext cx="4206240" cy="274320"/>
          </a:xfrm>
          <a:prstGeom prst="rect">
            <a:avLst/>
          </a:prstGeom>
          <a:noFill/>
          <a:ln/>
        </p:spPr>
        <p:txBody>
          <a:bodyPr wrap="square" lIns="0" tIns="0" rIns="0" bIns="0" rtlCol="0" anchor="ctr"/>
          <a:lstStyle/>
          <a:p>
            <a:pPr indent="0" marL="0">
              <a:buNone/>
            </a:pPr>
            <a:r>
              <a:rPr lang="en-US" sz="1600" b="1" dirty="0">
                <a:solidFill>
                  <a:srgbClr val="B85042"/>
                </a:solidFill>
                <a:latin typeface="Century Schoolbook" pitchFamily="34" charset="0"/>
                <a:ea typeface="Century Schoolbook" pitchFamily="34" charset="-122"/>
                <a:cs typeface="Century Schoolbook" pitchFamily="34" charset="-120"/>
              </a:rPr>
              <a:t>Le calcul à la main</a:t>
            </a:r>
            <a:endParaRPr lang="en-US" sz="1600" dirty="0"/>
          </a:p>
        </p:txBody>
      </p:sp>
      <p:sp>
        <p:nvSpPr>
          <p:cNvPr id="8" name="Text 5"/>
          <p:cNvSpPr txBox="1"/>
          <p:nvPr/>
        </p:nvSpPr>
        <p:spPr>
          <a:xfrm>
            <a:off x="7178040" y="1755648"/>
            <a:ext cx="4206240" cy="274320"/>
          </a:xfrm>
          <a:prstGeom prst="rect">
            <a:avLst/>
          </a:prstGeom>
          <a:noFill/>
          <a:ln/>
        </p:spPr>
        <p:txBody>
          <a:bodyPr wrap="square" lIns="0" tIns="0" rIns="0" bIns="0" rtlCol="0" anchor="ctr"/>
          <a:lstStyle/>
          <a:p>
            <a:pPr indent="0" marL="0">
              <a:buNone/>
            </a:pPr>
            <a:r>
              <a:rPr lang="en-US" sz="1500" b="1" dirty="0">
                <a:solidFill>
                  <a:srgbClr val="2E2A27"/>
                </a:solidFill>
                <a:latin typeface="Courier New" pitchFamily="34" charset="0"/>
                <a:ea typeface="Courier New" pitchFamily="34" charset="-122"/>
                <a:cs typeface="Courier New" pitchFamily="34" charset="-120"/>
              </a:rPr>
              <a:t>params = M × (K × K × Cin + 1)</a:t>
            </a:r>
            <a:endParaRPr lang="en-US" sz="1500" dirty="0"/>
          </a:p>
        </p:txBody>
      </p:sp>
      <p:sp>
        <p:nvSpPr>
          <p:cNvPr id="9" name="Text 6"/>
          <p:cNvSpPr txBox="1"/>
          <p:nvPr/>
        </p:nvSpPr>
        <p:spPr>
          <a:xfrm>
            <a:off x="7178040" y="2084832"/>
            <a:ext cx="4206240" cy="594360"/>
          </a:xfrm>
          <a:prstGeom prst="rect">
            <a:avLst/>
          </a:prstGeom>
          <a:noFill/>
          <a:ln/>
        </p:spPr>
        <p:txBody>
          <a:bodyPr wrap="square" lIns="0" tIns="0" rIns="0" bIns="0" rtlCol="0" anchor="ctr"/>
          <a:lstStyle/>
          <a:p>
            <a:pPr indent="0" marL="0">
              <a:buNone/>
            </a:pPr>
            <a:r>
              <a:rPr lang="en-US" sz="1300" dirty="0">
                <a:solidFill>
                  <a:srgbClr val="6E6560"/>
                </a:solidFill>
                <a:latin typeface="Calibri" pitchFamily="34" charset="0"/>
                <a:ea typeface="Calibri" pitchFamily="34" charset="-122"/>
                <a:cs typeface="Calibri" pitchFamily="34" charset="-120"/>
              </a:rPr>
              <a:t>ex. bloc 2 :  64 × (3 × 3 × 32 + 1) = 18 496</a:t>
            </a:r>
            <a:endParaRPr lang="en-US" sz="1300" dirty="0"/>
          </a:p>
          <a:p>
            <a:pPr indent="0" marL="0">
              <a:buNone/>
            </a:pPr>
            <a:r>
              <a:rPr lang="en-US" sz="1300" dirty="0">
                <a:solidFill>
                  <a:srgbClr val="6E6560"/>
                </a:solidFill>
                <a:latin typeface="Calibri" pitchFamily="34" charset="0"/>
                <a:ea typeface="Calibri" pitchFamily="34" charset="-122"/>
                <a:cs typeface="Calibri" pitchFamily="34" charset="-120"/>
              </a:rPr>
              <a:t>M = nb de filtres, K = taille du noyau, +1 = le biais</a:t>
            </a:r>
            <a:endParaRPr lang="en-US" sz="1300" dirty="0"/>
          </a:p>
        </p:txBody>
      </p:sp>
      <p:sp>
        <p:nvSpPr>
          <p:cNvPr id="10" name="Shape 7"/>
          <p:cNvSpPr/>
          <p:nvPr/>
        </p:nvSpPr>
        <p:spPr>
          <a:xfrm>
            <a:off x="6903720" y="3063240"/>
            <a:ext cx="4754880" cy="1234440"/>
          </a:xfrm>
          <a:prstGeom prst="roundRect">
            <a:avLst>
              <a:gd name="adj" fmla="val 6667"/>
            </a:avLst>
          </a:prstGeom>
          <a:solidFill>
            <a:srgbClr val="3B2A26"/>
          </a:solidFill>
          <a:ln w="12700">
            <a:solidFill>
              <a:srgbClr val="3B2A26"/>
            </a:solidFill>
            <a:prstDash val="solid"/>
          </a:ln>
        </p:spPr>
      </p:sp>
      <p:sp>
        <p:nvSpPr>
          <p:cNvPr id="11" name="Text 8"/>
          <p:cNvSpPr txBox="1"/>
          <p:nvPr/>
        </p:nvSpPr>
        <p:spPr>
          <a:xfrm>
            <a:off x="7178040" y="3200400"/>
            <a:ext cx="4206240" cy="594360"/>
          </a:xfrm>
          <a:prstGeom prst="rect">
            <a:avLst/>
          </a:prstGeom>
          <a:noFill/>
          <a:ln/>
        </p:spPr>
        <p:txBody>
          <a:bodyPr wrap="square" lIns="0" tIns="0" rIns="0" bIns="0" rtlCol="0" anchor="ctr"/>
          <a:lstStyle/>
          <a:p>
            <a:pPr indent="0" marL="0">
              <a:buNone/>
            </a:pPr>
            <a:r>
              <a:rPr lang="en-US" sz="3800" b="1" dirty="0">
                <a:solidFill>
                  <a:srgbClr val="FFFFFF"/>
                </a:solidFill>
                <a:latin typeface="Century Schoolbook" pitchFamily="34" charset="0"/>
                <a:ea typeface="Century Schoolbook" pitchFamily="34" charset="-122"/>
                <a:cs typeface="Century Schoolbook" pitchFamily="34" charset="-120"/>
              </a:rPr>
              <a:t>1 043 905</a:t>
            </a:r>
            <a:endParaRPr lang="en-US" sz="3800" dirty="0"/>
          </a:p>
        </p:txBody>
      </p:sp>
      <p:sp>
        <p:nvSpPr>
          <p:cNvPr id="12" name="Text 9"/>
          <p:cNvSpPr txBox="1"/>
          <p:nvPr/>
        </p:nvSpPr>
        <p:spPr>
          <a:xfrm>
            <a:off x="7178040" y="3776472"/>
            <a:ext cx="4206240" cy="411480"/>
          </a:xfrm>
          <a:prstGeom prst="rect">
            <a:avLst/>
          </a:prstGeom>
          <a:noFill/>
          <a:ln/>
        </p:spPr>
        <p:txBody>
          <a:bodyPr wrap="square" lIns="0" tIns="0" rIns="0" bIns="0" rtlCol="0" anchor="ctr"/>
          <a:lstStyle/>
          <a:p>
            <a:pPr indent="0" marL="0">
              <a:buNone/>
            </a:pPr>
            <a:r>
              <a:rPr lang="en-US" sz="1250" dirty="0">
                <a:solidFill>
                  <a:srgbClr val="E7E8D1"/>
                </a:solidFill>
                <a:latin typeface="Calibri" pitchFamily="34" charset="0"/>
                <a:ea typeface="Calibri" pitchFamily="34" charset="-122"/>
                <a:cs typeface="Calibri" pitchFamily="34" charset="-120"/>
              </a:rPr>
              <a:t>paramètres au total — chiffre retrouvé à la main puis vérifié avec model.summary()</a:t>
            </a:r>
            <a:endParaRPr lang="en-US" sz="1250" dirty="0"/>
          </a:p>
        </p:txBody>
      </p:sp>
      <p:sp>
        <p:nvSpPr>
          <p:cNvPr id="13" name="Shape 10"/>
          <p:cNvSpPr/>
          <p:nvPr/>
        </p:nvSpPr>
        <p:spPr>
          <a:xfrm>
            <a:off x="6903720" y="4526280"/>
            <a:ext cx="4754880" cy="1554480"/>
          </a:xfrm>
          <a:prstGeom prst="roundRect">
            <a:avLst>
              <a:gd name="adj" fmla="val 5294"/>
            </a:avLst>
          </a:prstGeom>
          <a:solidFill>
            <a:srgbClr val="A7BEAE"/>
          </a:solidFill>
          <a:ln w="12700">
            <a:solidFill>
              <a:srgbClr val="A7BEAE"/>
            </a:solidFill>
            <a:prstDash val="solid"/>
          </a:ln>
        </p:spPr>
      </p:sp>
      <p:sp>
        <p:nvSpPr>
          <p:cNvPr id="14" name="Text 11"/>
          <p:cNvSpPr txBox="1"/>
          <p:nvPr/>
        </p:nvSpPr>
        <p:spPr>
          <a:xfrm>
            <a:off x="7178040" y="4709160"/>
            <a:ext cx="4206240" cy="274320"/>
          </a:xfrm>
          <a:prstGeom prst="rect">
            <a:avLst/>
          </a:prstGeom>
          <a:noFill/>
          <a:ln/>
        </p:spPr>
        <p:txBody>
          <a:bodyPr wrap="square" lIns="0" tIns="0" rIns="0" bIns="0" rtlCol="0" anchor="ctr"/>
          <a:lstStyle/>
          <a:p>
            <a:pPr indent="0" marL="0">
              <a:buNone/>
            </a:pPr>
            <a:r>
              <a:rPr lang="en-US" sz="1600" b="1" dirty="0">
                <a:solidFill>
                  <a:srgbClr val="3B2A26"/>
                </a:solidFill>
                <a:latin typeface="Century Schoolbook" pitchFamily="34" charset="0"/>
                <a:ea typeface="Century Schoolbook" pitchFamily="34" charset="-122"/>
                <a:cs typeface="Century Schoolbook" pitchFamily="34" charset="-120"/>
              </a:rPr>
              <a:t>Le point à retenir</a:t>
            </a:r>
            <a:endParaRPr lang="en-US" sz="1600" dirty="0"/>
          </a:p>
        </p:txBody>
      </p:sp>
      <p:sp>
        <p:nvSpPr>
          <p:cNvPr id="15" name="Text 12"/>
          <p:cNvSpPr txBox="1"/>
          <p:nvPr/>
        </p:nvSpPr>
        <p:spPr>
          <a:xfrm>
            <a:off x="7178040" y="5029200"/>
            <a:ext cx="4206240" cy="914400"/>
          </a:xfrm>
          <a:prstGeom prst="rect">
            <a:avLst/>
          </a:prstGeom>
          <a:noFill/>
          <a:ln/>
        </p:spPr>
        <p:txBody>
          <a:bodyPr wrap="square" lIns="0" tIns="0" rIns="0" bIns="0" rtlCol="0" anchor="ctr"/>
          <a:lstStyle/>
          <a:p>
            <a:pPr indent="0" marL="0">
              <a:buNone/>
            </a:pPr>
            <a:r>
              <a:rPr lang="en-US" sz="1300" dirty="0">
                <a:solidFill>
                  <a:srgbClr val="2E2A27"/>
                </a:solidFill>
                <a:latin typeface="Calibri" pitchFamily="34" charset="0"/>
                <a:ea typeface="Calibri" pitchFamily="34" charset="-122"/>
                <a:cs typeface="Calibri" pitchFamily="34" charset="-120"/>
              </a:rPr>
              <a:t>77 % des paramètres sont dans la seule couche dense (802 944).</a:t>
            </a:r>
            <a:endParaRPr lang="en-US" sz="1300" dirty="0"/>
          </a:p>
          <a:p>
            <a:pPr indent="0" marL="0">
              <a:buNone/>
            </a:pPr>
            <a:r>
              <a:rPr lang="en-US" sz="1300" dirty="0">
                <a:solidFill>
                  <a:srgbClr val="2E2A27"/>
                </a:solidFill>
                <a:latin typeface="Calibri" pitchFamily="34" charset="0"/>
                <a:ea typeface="Calibri" pitchFamily="34" charset="-122"/>
                <a:cs typeface="Calibri" pitchFamily="34" charset="-120"/>
              </a:rPr>
              <a:t>Les 4 blocs de convolution n'en utilisent que 240 832 : le partage des poids coûte très peu.</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411480"/>
            <a:ext cx="566928" cy="566928"/>
          </a:xfrm>
          <a:prstGeom prst="ellipse">
            <a:avLst/>
          </a:prstGeom>
          <a:solidFill>
            <a:srgbClr val="B85042"/>
          </a:solidFill>
          <a:ln/>
        </p:spPr>
      </p:sp>
      <p:sp>
        <p:nvSpPr>
          <p:cNvPr id="3" name="Text 1"/>
          <p:cNvSpPr txBox="1"/>
          <p:nvPr/>
        </p:nvSpPr>
        <p:spPr>
          <a:xfrm>
            <a:off x="548640" y="4114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entury Schoolbook" pitchFamily="34" charset="0"/>
                <a:ea typeface="Century Schoolbook" pitchFamily="34" charset="-122"/>
                <a:cs typeface="Century Schoolbook" pitchFamily="34" charset="-120"/>
              </a:rPr>
              <a:t>4</a:t>
            </a:r>
            <a:endParaRPr lang="en-US" sz="2000" dirty="0"/>
          </a:p>
        </p:txBody>
      </p:sp>
      <p:sp>
        <p:nvSpPr>
          <p:cNvPr id="4" name="Text 2"/>
          <p:cNvSpPr txBox="1"/>
          <p:nvPr/>
        </p:nvSpPr>
        <p:spPr>
          <a:xfrm>
            <a:off x="1298448" y="384048"/>
            <a:ext cx="10241280" cy="640080"/>
          </a:xfrm>
          <a:prstGeom prst="rect">
            <a:avLst/>
          </a:prstGeom>
          <a:noFill/>
          <a:ln/>
        </p:spPr>
        <p:txBody>
          <a:bodyPr wrap="square" lIns="0" tIns="0" rIns="0" bIns="0" rtlCol="0" anchor="ctr"/>
          <a:lstStyle/>
          <a:p>
            <a:pPr indent="0" marL="0">
              <a:buNone/>
            </a:pPr>
            <a:r>
              <a:rPr lang="en-US" sz="3000" b="1" dirty="0">
                <a:solidFill>
                  <a:srgbClr val="2E2A27"/>
                </a:solidFill>
                <a:latin typeface="Century Schoolbook" pitchFamily="34" charset="0"/>
                <a:ea typeface="Century Schoolbook" pitchFamily="34" charset="-122"/>
                <a:cs typeface="Century Schoolbook" pitchFamily="34" charset="-120"/>
              </a:rPr>
              <a:t>Entraînement : le modèle sur-apprend</a:t>
            </a:r>
            <a:endParaRPr lang="en-US" sz="3000" dirty="0"/>
          </a:p>
        </p:txBody>
      </p:sp>
      <p:pic>
        <p:nvPicPr>
          <p:cNvPr id="5" name="Image 0" descr="/home/claude/projet/figures/fig_24_3.png">    </p:cNvPr>
          <p:cNvPicPr>
            <a:picLocks noChangeAspect="1"/>
          </p:cNvPicPr>
          <p:nvPr/>
        </p:nvPicPr>
        <p:blipFill>
          <a:blip r:embed="rId1"/>
          <a:stretch>
            <a:fillRect/>
          </a:stretch>
        </p:blipFill>
        <p:spPr>
          <a:xfrm>
            <a:off x="548640" y="1188720"/>
            <a:ext cx="7772400" cy="2587752"/>
          </a:xfrm>
          <a:prstGeom prst="rect">
            <a:avLst/>
          </a:prstGeom>
        </p:spPr>
      </p:pic>
      <p:sp>
        <p:nvSpPr>
          <p:cNvPr id="6" name="Shape 3"/>
          <p:cNvSpPr/>
          <p:nvPr/>
        </p:nvSpPr>
        <p:spPr>
          <a:xfrm>
            <a:off x="8595360" y="1188720"/>
            <a:ext cx="3063240" cy="2587752"/>
          </a:xfrm>
          <a:prstGeom prst="roundRect">
            <a:avLst>
              <a:gd name="adj" fmla="val 3180"/>
            </a:avLst>
          </a:prstGeom>
          <a:solidFill>
            <a:srgbClr val="3B2A26"/>
          </a:solidFill>
          <a:ln w="12700">
            <a:solidFill>
              <a:srgbClr val="3B2A26"/>
            </a:solidFill>
            <a:prstDash val="solid"/>
          </a:ln>
        </p:spPr>
      </p:sp>
      <p:sp>
        <p:nvSpPr>
          <p:cNvPr id="7" name="Text 4"/>
          <p:cNvSpPr txBox="1"/>
          <p:nvPr/>
        </p:nvSpPr>
        <p:spPr>
          <a:xfrm>
            <a:off x="8869680" y="1371600"/>
            <a:ext cx="2560320" cy="274320"/>
          </a:xfrm>
          <a:prstGeom prst="rect">
            <a:avLst/>
          </a:prstGeom>
          <a:noFill/>
          <a:ln/>
        </p:spPr>
        <p:txBody>
          <a:bodyPr wrap="square" lIns="0" tIns="0" rIns="0" bIns="0" rtlCol="0" anchor="ctr"/>
          <a:lstStyle/>
          <a:p>
            <a:pPr indent="0" marL="0">
              <a:buNone/>
            </a:pPr>
            <a:r>
              <a:rPr lang="en-US" sz="1300" dirty="0">
                <a:solidFill>
                  <a:srgbClr val="E7E8D1"/>
                </a:solidFill>
                <a:latin typeface="Calibri" pitchFamily="34" charset="0"/>
                <a:ea typeface="Calibri" pitchFamily="34" charset="-122"/>
                <a:cs typeface="Calibri" pitchFamily="34" charset="-120"/>
              </a:rPr>
              <a:t>Après 15 epochs</a:t>
            </a:r>
            <a:endParaRPr lang="en-US" sz="1300" dirty="0"/>
          </a:p>
        </p:txBody>
      </p:sp>
      <p:sp>
        <p:nvSpPr>
          <p:cNvPr id="8" name="Text 5"/>
          <p:cNvSpPr txBox="1"/>
          <p:nvPr/>
        </p:nvSpPr>
        <p:spPr>
          <a:xfrm>
            <a:off x="8869680" y="1664208"/>
            <a:ext cx="2560320" cy="502920"/>
          </a:xfrm>
          <a:prstGeom prst="rect">
            <a:avLst/>
          </a:prstGeom>
          <a:noFill/>
          <a:ln/>
        </p:spPr>
        <p:txBody>
          <a:bodyPr wrap="square" lIns="0" tIns="0" rIns="0" bIns="0" rtlCol="0" anchor="ctr"/>
          <a:lstStyle/>
          <a:p>
            <a:pPr indent="0" marL="0">
              <a:buNone/>
            </a:pPr>
            <a:r>
              <a:rPr lang="en-US" sz="3200" b="1" dirty="0">
                <a:solidFill>
                  <a:srgbClr val="FFFFFF"/>
                </a:solidFill>
                <a:latin typeface="Century Schoolbook" pitchFamily="34" charset="0"/>
                <a:ea typeface="Century Schoolbook" pitchFamily="34" charset="-122"/>
                <a:cs typeface="Century Schoolbook" pitchFamily="34" charset="-120"/>
              </a:rPr>
              <a:t>0,875</a:t>
            </a:r>
            <a:endParaRPr lang="en-US" sz="3200" dirty="0"/>
          </a:p>
        </p:txBody>
      </p:sp>
      <p:sp>
        <p:nvSpPr>
          <p:cNvPr id="9" name="Text 6"/>
          <p:cNvSpPr txBox="1"/>
          <p:nvPr/>
        </p:nvSpPr>
        <p:spPr>
          <a:xfrm>
            <a:off x="8869680" y="2139696"/>
            <a:ext cx="2560320" cy="228600"/>
          </a:xfrm>
          <a:prstGeom prst="rect">
            <a:avLst/>
          </a:prstGeom>
          <a:noFill/>
          <a:ln/>
        </p:spPr>
        <p:txBody>
          <a:bodyPr wrap="square" lIns="0" tIns="0" rIns="0" bIns="0" rtlCol="0" anchor="ctr"/>
          <a:lstStyle/>
          <a:p>
            <a:pPr indent="0" marL="0">
              <a:buNone/>
            </a:pPr>
            <a:r>
              <a:rPr lang="en-US" sz="1200" dirty="0">
                <a:solidFill>
                  <a:srgbClr val="E7E8D1"/>
                </a:solidFill>
                <a:latin typeface="Calibri" pitchFamily="34" charset="0"/>
                <a:ea typeface="Calibri" pitchFamily="34" charset="-122"/>
                <a:cs typeface="Calibri" pitchFamily="34" charset="-120"/>
              </a:rPr>
              <a:t>accuracy entraînement</a:t>
            </a:r>
            <a:endParaRPr lang="en-US" sz="1200" dirty="0"/>
          </a:p>
        </p:txBody>
      </p:sp>
      <p:sp>
        <p:nvSpPr>
          <p:cNvPr id="10" name="Text 7"/>
          <p:cNvSpPr txBox="1"/>
          <p:nvPr/>
        </p:nvSpPr>
        <p:spPr>
          <a:xfrm>
            <a:off x="8869680" y="2432304"/>
            <a:ext cx="2560320" cy="502920"/>
          </a:xfrm>
          <a:prstGeom prst="rect">
            <a:avLst/>
          </a:prstGeom>
          <a:noFill/>
          <a:ln/>
        </p:spPr>
        <p:txBody>
          <a:bodyPr wrap="square" lIns="0" tIns="0" rIns="0" bIns="0" rtlCol="0" anchor="ctr"/>
          <a:lstStyle/>
          <a:p>
            <a:pPr indent="0" marL="0">
              <a:buNone/>
            </a:pPr>
            <a:r>
              <a:rPr lang="en-US" sz="3200" b="1" dirty="0">
                <a:solidFill>
                  <a:srgbClr val="A7BEAE"/>
                </a:solidFill>
                <a:latin typeface="Century Schoolbook" pitchFamily="34" charset="0"/>
                <a:ea typeface="Century Schoolbook" pitchFamily="34" charset="-122"/>
                <a:cs typeface="Century Schoolbook" pitchFamily="34" charset="-120"/>
              </a:rPr>
              <a:t>0,696</a:t>
            </a:r>
            <a:endParaRPr lang="en-US" sz="3200" dirty="0"/>
          </a:p>
        </p:txBody>
      </p:sp>
      <p:sp>
        <p:nvSpPr>
          <p:cNvPr id="11" name="Text 8"/>
          <p:cNvSpPr txBox="1"/>
          <p:nvPr/>
        </p:nvSpPr>
        <p:spPr>
          <a:xfrm>
            <a:off x="8869680" y="2907792"/>
            <a:ext cx="2560320" cy="228600"/>
          </a:xfrm>
          <a:prstGeom prst="rect">
            <a:avLst/>
          </a:prstGeom>
          <a:noFill/>
          <a:ln/>
        </p:spPr>
        <p:txBody>
          <a:bodyPr wrap="square" lIns="0" tIns="0" rIns="0" bIns="0" rtlCol="0" anchor="ctr"/>
          <a:lstStyle/>
          <a:p>
            <a:pPr indent="0" marL="0">
              <a:buNone/>
            </a:pPr>
            <a:r>
              <a:rPr lang="en-US" sz="1200" dirty="0">
                <a:solidFill>
                  <a:srgbClr val="E7E8D1"/>
                </a:solidFill>
                <a:latin typeface="Calibri" pitchFamily="34" charset="0"/>
                <a:ea typeface="Calibri" pitchFamily="34" charset="-122"/>
                <a:cs typeface="Calibri" pitchFamily="34" charset="-120"/>
              </a:rPr>
              <a:t>accuracy validation</a:t>
            </a:r>
            <a:endParaRPr lang="en-US" sz="1200" dirty="0"/>
          </a:p>
        </p:txBody>
      </p:sp>
      <p:sp>
        <p:nvSpPr>
          <p:cNvPr id="12" name="Text 9"/>
          <p:cNvSpPr txBox="1"/>
          <p:nvPr/>
        </p:nvSpPr>
        <p:spPr>
          <a:xfrm>
            <a:off x="8869680" y="3246120"/>
            <a:ext cx="2560320" cy="320040"/>
          </a:xfrm>
          <a:prstGeom prst="rect">
            <a:avLst/>
          </a:prstGeom>
          <a:noFill/>
          <a:ln/>
        </p:spPr>
        <p:txBody>
          <a:bodyPr wrap="square" lIns="0" tIns="0" rIns="0" bIns="0" rtlCol="0" anchor="ctr"/>
          <a:lstStyle/>
          <a:p>
            <a:pPr indent="0" marL="0">
              <a:buNone/>
            </a:pPr>
            <a:r>
              <a:rPr lang="en-US" sz="1600" b="1" dirty="0">
                <a:solidFill>
                  <a:srgbClr val="B85042"/>
                </a:solidFill>
                <a:latin typeface="Calibri" pitchFamily="34" charset="0"/>
                <a:ea typeface="Calibri" pitchFamily="34" charset="-122"/>
                <a:cs typeface="Calibri" pitchFamily="34" charset="-120"/>
              </a:rPr>
              <a:t>écart : 0,179</a:t>
            </a:r>
            <a:endParaRPr lang="en-US" sz="1600" dirty="0"/>
          </a:p>
        </p:txBody>
      </p:sp>
      <p:sp>
        <p:nvSpPr>
          <p:cNvPr id="13" name="Shape 10"/>
          <p:cNvSpPr/>
          <p:nvPr/>
        </p:nvSpPr>
        <p:spPr>
          <a:xfrm>
            <a:off x="548640" y="4023360"/>
            <a:ext cx="5486400" cy="2057400"/>
          </a:xfrm>
          <a:prstGeom prst="roundRect">
            <a:avLst>
              <a:gd name="adj" fmla="val 4000"/>
            </a:avLst>
          </a:prstGeom>
          <a:solidFill>
            <a:srgbClr val="E7E8D1"/>
          </a:solidFill>
          <a:ln w="12700">
            <a:solidFill>
              <a:srgbClr val="E7E8D1"/>
            </a:solidFill>
            <a:prstDash val="solid"/>
          </a:ln>
        </p:spPr>
      </p:sp>
      <p:sp>
        <p:nvSpPr>
          <p:cNvPr id="14" name="Text 11"/>
          <p:cNvSpPr txBox="1"/>
          <p:nvPr/>
        </p:nvSpPr>
        <p:spPr>
          <a:xfrm>
            <a:off x="868680" y="4206240"/>
            <a:ext cx="4846320" cy="274320"/>
          </a:xfrm>
          <a:prstGeom prst="rect">
            <a:avLst/>
          </a:prstGeom>
          <a:noFill/>
          <a:ln/>
        </p:spPr>
        <p:txBody>
          <a:bodyPr wrap="square" lIns="0" tIns="0" rIns="0" bIns="0" rtlCol="0" anchor="ctr"/>
          <a:lstStyle/>
          <a:p>
            <a:pPr indent="0" marL="0">
              <a:buNone/>
            </a:pPr>
            <a:r>
              <a:rPr lang="en-US" sz="1700" b="1" dirty="0">
                <a:solidFill>
                  <a:srgbClr val="B85042"/>
                </a:solidFill>
                <a:latin typeface="Century Schoolbook" pitchFamily="34" charset="0"/>
                <a:ea typeface="Century Schoolbook" pitchFamily="34" charset="-122"/>
                <a:cs typeface="Century Schoolbook" pitchFamily="34" charset="-120"/>
              </a:rPr>
              <a:t>Le diagnostic : sur-apprentissage</a:t>
            </a:r>
            <a:endParaRPr lang="en-US" sz="1700" dirty="0"/>
          </a:p>
        </p:txBody>
      </p:sp>
      <p:sp>
        <p:nvSpPr>
          <p:cNvPr id="15" name="Text 12"/>
          <p:cNvSpPr txBox="1"/>
          <p:nvPr/>
        </p:nvSpPr>
        <p:spPr>
          <a:xfrm>
            <a:off x="868680" y="4572000"/>
            <a:ext cx="4846320" cy="1280160"/>
          </a:xfrm>
          <a:prstGeom prst="rect">
            <a:avLst/>
          </a:prstGeom>
          <a:noFill/>
          <a:ln/>
        </p:spPr>
        <p:txBody>
          <a:bodyPr wrap="square" lIns="0" tIns="0" rIns="0" bIns="0" rtlCol="0" anchor="ctr"/>
          <a:lstStyle/>
          <a:p>
            <a:pPr indent="0" marL="0">
              <a:buNone/>
            </a:pPr>
            <a:r>
              <a:rPr lang="en-US" sz="1400" dirty="0">
                <a:solidFill>
                  <a:srgbClr val="2E2A27"/>
                </a:solidFill>
                <a:latin typeface="Calibri" pitchFamily="34" charset="0"/>
                <a:ea typeface="Calibri" pitchFamily="34" charset="-122"/>
                <a:cs typeface="Calibri" pitchFamily="34" charset="-120"/>
              </a:rPr>
              <a:t>La courbe d'entraînement monte toujours, la validation plafonne à 0,70 dès l'epoch 8 — et sa loss repart vers le haut. Le modèle apprend les 1600 images par cœur au lieu d'apprendre ce qui fait un chat.</a:t>
            </a:r>
            <a:endParaRPr lang="en-US" sz="1400" dirty="0"/>
          </a:p>
        </p:txBody>
      </p:sp>
      <p:sp>
        <p:nvSpPr>
          <p:cNvPr id="16" name="Shape 13"/>
          <p:cNvSpPr/>
          <p:nvPr/>
        </p:nvSpPr>
        <p:spPr>
          <a:xfrm>
            <a:off x="6309360" y="4023360"/>
            <a:ext cx="5349240" cy="2057400"/>
          </a:xfrm>
          <a:prstGeom prst="roundRect">
            <a:avLst>
              <a:gd name="adj" fmla="val 4000"/>
            </a:avLst>
          </a:prstGeom>
          <a:solidFill>
            <a:srgbClr val="A7BEAE"/>
          </a:solidFill>
          <a:ln w="12700">
            <a:solidFill>
              <a:srgbClr val="A7BEAE"/>
            </a:solidFill>
            <a:prstDash val="solid"/>
          </a:ln>
        </p:spPr>
      </p:sp>
      <p:sp>
        <p:nvSpPr>
          <p:cNvPr id="17" name="Text 14"/>
          <p:cNvSpPr txBox="1"/>
          <p:nvPr/>
        </p:nvSpPr>
        <p:spPr>
          <a:xfrm>
            <a:off x="6629400" y="4206240"/>
            <a:ext cx="4709160" cy="274320"/>
          </a:xfrm>
          <a:prstGeom prst="rect">
            <a:avLst/>
          </a:prstGeom>
          <a:noFill/>
          <a:ln/>
        </p:spPr>
        <p:txBody>
          <a:bodyPr wrap="square" lIns="0" tIns="0" rIns="0" bIns="0" rtlCol="0" anchor="ctr"/>
          <a:lstStyle/>
          <a:p>
            <a:pPr indent="0" marL="0">
              <a:buNone/>
            </a:pPr>
            <a:r>
              <a:rPr lang="en-US" sz="1700" b="1" dirty="0">
                <a:solidFill>
                  <a:srgbClr val="3B2A26"/>
                </a:solidFill>
                <a:latin typeface="Century Schoolbook" pitchFamily="34" charset="0"/>
                <a:ea typeface="Century Schoolbook" pitchFamily="34" charset="-122"/>
                <a:cs typeface="Century Schoolbook" pitchFamily="34" charset="-120"/>
              </a:rPr>
              <a:t>Pourquoi ?</a:t>
            </a:r>
            <a:endParaRPr lang="en-US" sz="1700" dirty="0"/>
          </a:p>
        </p:txBody>
      </p:sp>
      <p:sp>
        <p:nvSpPr>
          <p:cNvPr id="18" name="Text 15"/>
          <p:cNvSpPr txBox="1"/>
          <p:nvPr/>
        </p:nvSpPr>
        <p:spPr>
          <a:xfrm>
            <a:off x="6629400" y="4572000"/>
            <a:ext cx="4709160" cy="128016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rgbClr val="2E2A27"/>
                </a:solidFill>
                <a:latin typeface="Calibri" pitchFamily="34" charset="0"/>
                <a:ea typeface="Calibri" pitchFamily="34" charset="-122"/>
                <a:cs typeface="Calibri" pitchFamily="34" charset="-120"/>
              </a:rPr>
              <a:t>1600 images seulement, c'est très peu</a:t>
            </a:r>
            <a:endParaRPr lang="en-US" sz="1400" dirty="0"/>
          </a:p>
          <a:p>
            <a:pPr marL="342900" indent="-342900">
              <a:spcAft>
                <a:spcPts val="600"/>
              </a:spcAft>
              <a:buSzPct val="100000"/>
              <a:buChar char="•"/>
            </a:pPr>
            <a:r>
              <a:rPr lang="en-US" sz="1400" dirty="0">
                <a:solidFill>
                  <a:srgbClr val="2E2A27"/>
                </a:solidFill>
                <a:latin typeface="Calibri" pitchFamily="34" charset="0"/>
                <a:ea typeface="Calibri" pitchFamily="34" charset="-122"/>
                <a:cs typeface="Calibri" pitchFamily="34" charset="-120"/>
              </a:rPr>
              <a:t>1 million de paramètres pour 1600 exemples</a:t>
            </a:r>
            <a:endParaRPr lang="en-US" sz="1400" dirty="0"/>
          </a:p>
          <a:p>
            <a:pPr marL="342900" indent="-342900">
              <a:spcAft>
                <a:spcPts val="600"/>
              </a:spcAft>
              <a:buSzPct val="100000"/>
              <a:buChar char="•"/>
            </a:pPr>
            <a:r>
              <a:rPr lang="en-US" sz="1400" dirty="0">
                <a:solidFill>
                  <a:srgbClr val="2E2A27"/>
                </a:solidFill>
                <a:latin typeface="Calibri" pitchFamily="34" charset="0"/>
                <a:ea typeface="Calibri" pitchFamily="34" charset="-122"/>
                <a:cs typeface="Calibri" pitchFamily="34" charset="-120"/>
              </a:rPr>
              <a:t>aucune régularisation : rien ne l'empêche de mémoriser</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411480"/>
            <a:ext cx="566928" cy="566928"/>
          </a:xfrm>
          <a:prstGeom prst="ellipse">
            <a:avLst/>
          </a:prstGeom>
          <a:solidFill>
            <a:srgbClr val="B85042"/>
          </a:solidFill>
          <a:ln/>
        </p:spPr>
      </p:sp>
      <p:sp>
        <p:nvSpPr>
          <p:cNvPr id="3" name="Text 1"/>
          <p:cNvSpPr txBox="1"/>
          <p:nvPr/>
        </p:nvSpPr>
        <p:spPr>
          <a:xfrm>
            <a:off x="548640" y="4114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entury Schoolbook" pitchFamily="34" charset="0"/>
                <a:ea typeface="Century Schoolbook" pitchFamily="34" charset="-122"/>
                <a:cs typeface="Century Schoolbook" pitchFamily="34" charset="-120"/>
              </a:rPr>
              <a:t>5</a:t>
            </a:r>
            <a:endParaRPr lang="en-US" sz="2000" dirty="0"/>
          </a:p>
        </p:txBody>
      </p:sp>
      <p:sp>
        <p:nvSpPr>
          <p:cNvPr id="4" name="Text 2"/>
          <p:cNvSpPr txBox="1"/>
          <p:nvPr/>
        </p:nvSpPr>
        <p:spPr>
          <a:xfrm>
            <a:off x="1298448" y="384048"/>
            <a:ext cx="10241280" cy="640080"/>
          </a:xfrm>
          <a:prstGeom prst="rect">
            <a:avLst/>
          </a:prstGeom>
          <a:noFill/>
          <a:ln/>
        </p:spPr>
        <p:txBody>
          <a:bodyPr wrap="square" lIns="0" tIns="0" rIns="0" bIns="0" rtlCol="0" anchor="ctr"/>
          <a:lstStyle/>
          <a:p>
            <a:pPr indent="0" marL="0">
              <a:buNone/>
            </a:pPr>
            <a:r>
              <a:rPr lang="en-US" sz="3000" b="1" dirty="0">
                <a:solidFill>
                  <a:srgbClr val="2E2A27"/>
                </a:solidFill>
                <a:latin typeface="Century Schoolbook" pitchFamily="34" charset="0"/>
                <a:ea typeface="Century Schoolbook" pitchFamily="34" charset="-122"/>
                <a:cs typeface="Century Schoolbook" pitchFamily="34" charset="-120"/>
              </a:rPr>
              <a:t>Évaluation sur les 400 images de test</a:t>
            </a:r>
            <a:endParaRPr lang="en-US" sz="3000" dirty="0"/>
          </a:p>
        </p:txBody>
      </p:sp>
      <p:pic>
        <p:nvPicPr>
          <p:cNvPr id="5" name="Image 0" descr="/home/claude/projet/figures/fig_27_4.png">    </p:cNvPr>
          <p:cNvPicPr>
            <a:picLocks noChangeAspect="1"/>
          </p:cNvPicPr>
          <p:nvPr/>
        </p:nvPicPr>
        <p:blipFill>
          <a:blip r:embed="rId1"/>
          <a:stretch>
            <a:fillRect/>
          </a:stretch>
        </p:blipFill>
        <p:spPr>
          <a:xfrm>
            <a:off x="777240" y="1280160"/>
            <a:ext cx="4023360" cy="3995928"/>
          </a:xfrm>
          <a:prstGeom prst="rect">
            <a:avLst/>
          </a:prstGeom>
        </p:spPr>
      </p:pic>
      <p:sp>
        <p:nvSpPr>
          <p:cNvPr id="6" name="Shape 3"/>
          <p:cNvSpPr/>
          <p:nvPr/>
        </p:nvSpPr>
        <p:spPr>
          <a:xfrm>
            <a:off x="5257800" y="1325880"/>
            <a:ext cx="6400800" cy="749808"/>
          </a:xfrm>
          <a:prstGeom prst="roundRect">
            <a:avLst>
              <a:gd name="adj" fmla="val 10976"/>
            </a:avLst>
          </a:prstGeom>
          <a:solidFill>
            <a:srgbClr val="E7E8D1"/>
          </a:solidFill>
          <a:ln w="12700">
            <a:solidFill>
              <a:srgbClr val="E7E8D1"/>
            </a:solidFill>
            <a:prstDash val="solid"/>
          </a:ln>
        </p:spPr>
      </p:sp>
      <p:sp>
        <p:nvSpPr>
          <p:cNvPr id="7" name="Text 4"/>
          <p:cNvSpPr txBox="1"/>
          <p:nvPr/>
        </p:nvSpPr>
        <p:spPr>
          <a:xfrm>
            <a:off x="5532120" y="1399032"/>
            <a:ext cx="1371600" cy="603504"/>
          </a:xfrm>
          <a:prstGeom prst="rect">
            <a:avLst/>
          </a:prstGeom>
          <a:noFill/>
          <a:ln/>
        </p:spPr>
        <p:txBody>
          <a:bodyPr wrap="square" lIns="0" tIns="0" rIns="0" bIns="0" rtlCol="0" anchor="ctr"/>
          <a:lstStyle/>
          <a:p>
            <a:pPr indent="0" marL="0">
              <a:buNone/>
            </a:pPr>
            <a:r>
              <a:rPr lang="en-US" sz="2600" b="1" dirty="0">
                <a:solidFill>
                  <a:srgbClr val="B85042"/>
                </a:solidFill>
                <a:latin typeface="Century Schoolbook" pitchFamily="34" charset="0"/>
                <a:ea typeface="Century Schoolbook" pitchFamily="34" charset="-122"/>
                <a:cs typeface="Century Schoolbook" pitchFamily="34" charset="-120"/>
              </a:rPr>
              <a:t>0,728</a:t>
            </a:r>
            <a:endParaRPr lang="en-US" sz="2600" dirty="0"/>
          </a:p>
        </p:txBody>
      </p:sp>
      <p:sp>
        <p:nvSpPr>
          <p:cNvPr id="8" name="Text 5"/>
          <p:cNvSpPr txBox="1"/>
          <p:nvPr/>
        </p:nvSpPr>
        <p:spPr>
          <a:xfrm>
            <a:off x="6949440" y="1435608"/>
            <a:ext cx="4572000" cy="274320"/>
          </a:xfrm>
          <a:prstGeom prst="rect">
            <a:avLst/>
          </a:prstGeom>
          <a:noFill/>
          <a:ln/>
        </p:spPr>
        <p:txBody>
          <a:bodyPr wrap="square" lIns="0" tIns="0" rIns="0" bIns="0" rtlCol="0" anchor="ctr"/>
          <a:lstStyle/>
          <a:p>
            <a:pPr indent="0" marL="0">
              <a:buNone/>
            </a:pPr>
            <a:r>
              <a:rPr lang="en-US" sz="1600" b="1" dirty="0">
                <a:solidFill>
                  <a:srgbClr val="2E2A27"/>
                </a:solidFill>
                <a:latin typeface="Calibri" pitchFamily="34" charset="0"/>
                <a:ea typeface="Calibri" pitchFamily="34" charset="-122"/>
                <a:cs typeface="Calibri" pitchFamily="34" charset="-120"/>
              </a:rPr>
              <a:t>Accuracy</a:t>
            </a:r>
            <a:endParaRPr lang="en-US" sz="1600" dirty="0"/>
          </a:p>
        </p:txBody>
      </p:sp>
      <p:sp>
        <p:nvSpPr>
          <p:cNvPr id="9" name="Text 6"/>
          <p:cNvSpPr txBox="1"/>
          <p:nvPr/>
        </p:nvSpPr>
        <p:spPr>
          <a:xfrm>
            <a:off x="6949440" y="1728216"/>
            <a:ext cx="4572000" cy="256032"/>
          </a:xfrm>
          <a:prstGeom prst="rect">
            <a:avLst/>
          </a:prstGeom>
          <a:noFill/>
          <a:ln/>
        </p:spPr>
        <p:txBody>
          <a:bodyPr wrap="square" lIns="0" tIns="0" rIns="0" bIns="0" rtlCol="0" anchor="ctr"/>
          <a:lstStyle/>
          <a:p>
            <a:pPr indent="0" marL="0">
              <a:buNone/>
            </a:pPr>
            <a:r>
              <a:rPr lang="en-US" sz="1300" dirty="0">
                <a:solidFill>
                  <a:srgbClr val="6E6560"/>
                </a:solidFill>
                <a:latin typeface="Calibri" pitchFamily="34" charset="0"/>
                <a:ea typeface="Calibri" pitchFamily="34" charset="-122"/>
                <a:cs typeface="Calibri" pitchFamily="34" charset="-120"/>
              </a:rPr>
              <a:t>% de bonnes réponses</a:t>
            </a:r>
            <a:endParaRPr lang="en-US" sz="1300" dirty="0"/>
          </a:p>
        </p:txBody>
      </p:sp>
      <p:sp>
        <p:nvSpPr>
          <p:cNvPr id="10" name="Shape 7"/>
          <p:cNvSpPr/>
          <p:nvPr/>
        </p:nvSpPr>
        <p:spPr>
          <a:xfrm>
            <a:off x="5257800" y="2194560"/>
            <a:ext cx="6400800" cy="749808"/>
          </a:xfrm>
          <a:prstGeom prst="roundRect">
            <a:avLst>
              <a:gd name="adj" fmla="val 10976"/>
            </a:avLst>
          </a:prstGeom>
          <a:solidFill>
            <a:srgbClr val="E7E8D1"/>
          </a:solidFill>
          <a:ln w="12700">
            <a:solidFill>
              <a:srgbClr val="E7E8D1"/>
            </a:solidFill>
            <a:prstDash val="solid"/>
          </a:ln>
        </p:spPr>
      </p:sp>
      <p:sp>
        <p:nvSpPr>
          <p:cNvPr id="11" name="Text 8"/>
          <p:cNvSpPr txBox="1"/>
          <p:nvPr/>
        </p:nvSpPr>
        <p:spPr>
          <a:xfrm>
            <a:off x="5532120" y="2267712"/>
            <a:ext cx="1371600" cy="603504"/>
          </a:xfrm>
          <a:prstGeom prst="rect">
            <a:avLst/>
          </a:prstGeom>
          <a:noFill/>
          <a:ln/>
        </p:spPr>
        <p:txBody>
          <a:bodyPr wrap="square" lIns="0" tIns="0" rIns="0" bIns="0" rtlCol="0" anchor="ctr"/>
          <a:lstStyle/>
          <a:p>
            <a:pPr indent="0" marL="0">
              <a:buNone/>
            </a:pPr>
            <a:r>
              <a:rPr lang="en-US" sz="2600" b="1" dirty="0">
                <a:solidFill>
                  <a:srgbClr val="B85042"/>
                </a:solidFill>
                <a:latin typeface="Century Schoolbook" pitchFamily="34" charset="0"/>
                <a:ea typeface="Century Schoolbook" pitchFamily="34" charset="-122"/>
                <a:cs typeface="Century Schoolbook" pitchFamily="34" charset="-120"/>
              </a:rPr>
              <a:t>0,839</a:t>
            </a:r>
            <a:endParaRPr lang="en-US" sz="2600" dirty="0"/>
          </a:p>
        </p:txBody>
      </p:sp>
      <p:sp>
        <p:nvSpPr>
          <p:cNvPr id="12" name="Text 9"/>
          <p:cNvSpPr txBox="1"/>
          <p:nvPr/>
        </p:nvSpPr>
        <p:spPr>
          <a:xfrm>
            <a:off x="6949440" y="2304288"/>
            <a:ext cx="4572000" cy="274320"/>
          </a:xfrm>
          <a:prstGeom prst="rect">
            <a:avLst/>
          </a:prstGeom>
          <a:noFill/>
          <a:ln/>
        </p:spPr>
        <p:txBody>
          <a:bodyPr wrap="square" lIns="0" tIns="0" rIns="0" bIns="0" rtlCol="0" anchor="ctr"/>
          <a:lstStyle/>
          <a:p>
            <a:pPr indent="0" marL="0">
              <a:buNone/>
            </a:pPr>
            <a:r>
              <a:rPr lang="en-US" sz="1600" b="1" dirty="0">
                <a:solidFill>
                  <a:srgbClr val="2E2A27"/>
                </a:solidFill>
                <a:latin typeface="Calibri" pitchFamily="34" charset="0"/>
                <a:ea typeface="Calibri" pitchFamily="34" charset="-122"/>
                <a:cs typeface="Calibri" pitchFamily="34" charset="-120"/>
              </a:rPr>
              <a:t>Precision</a:t>
            </a:r>
            <a:endParaRPr lang="en-US" sz="1600" dirty="0"/>
          </a:p>
        </p:txBody>
      </p:sp>
      <p:sp>
        <p:nvSpPr>
          <p:cNvPr id="13" name="Text 10"/>
          <p:cNvSpPr txBox="1"/>
          <p:nvPr/>
        </p:nvSpPr>
        <p:spPr>
          <a:xfrm>
            <a:off x="6949440" y="2596896"/>
            <a:ext cx="4572000" cy="256032"/>
          </a:xfrm>
          <a:prstGeom prst="rect">
            <a:avLst/>
          </a:prstGeom>
          <a:noFill/>
          <a:ln/>
        </p:spPr>
        <p:txBody>
          <a:bodyPr wrap="square" lIns="0" tIns="0" rIns="0" bIns="0" rtlCol="0" anchor="ctr"/>
          <a:lstStyle/>
          <a:p>
            <a:pPr indent="0" marL="0">
              <a:buNone/>
            </a:pPr>
            <a:r>
              <a:rPr lang="en-US" sz="1300" dirty="0">
                <a:solidFill>
                  <a:srgbClr val="6E6560"/>
                </a:solidFill>
                <a:latin typeface="Calibri" pitchFamily="34" charset="0"/>
                <a:ea typeface="Calibri" pitchFamily="34" charset="-122"/>
                <a:cs typeface="Calibri" pitchFamily="34" charset="-120"/>
              </a:rPr>
              <a:t>quand il dit « chien », il a raison</a:t>
            </a:r>
            <a:endParaRPr lang="en-US" sz="1300" dirty="0"/>
          </a:p>
        </p:txBody>
      </p:sp>
      <p:sp>
        <p:nvSpPr>
          <p:cNvPr id="14" name="Shape 11"/>
          <p:cNvSpPr/>
          <p:nvPr/>
        </p:nvSpPr>
        <p:spPr>
          <a:xfrm>
            <a:off x="5257800" y="3063240"/>
            <a:ext cx="6400800" cy="749808"/>
          </a:xfrm>
          <a:prstGeom prst="roundRect">
            <a:avLst>
              <a:gd name="adj" fmla="val 10976"/>
            </a:avLst>
          </a:prstGeom>
          <a:solidFill>
            <a:srgbClr val="E7E8D1"/>
          </a:solidFill>
          <a:ln w="12700">
            <a:solidFill>
              <a:srgbClr val="E7E8D1"/>
            </a:solidFill>
            <a:prstDash val="solid"/>
          </a:ln>
        </p:spPr>
      </p:sp>
      <p:sp>
        <p:nvSpPr>
          <p:cNvPr id="15" name="Text 12"/>
          <p:cNvSpPr txBox="1"/>
          <p:nvPr/>
        </p:nvSpPr>
        <p:spPr>
          <a:xfrm>
            <a:off x="5532120" y="3136392"/>
            <a:ext cx="1371600" cy="603504"/>
          </a:xfrm>
          <a:prstGeom prst="rect">
            <a:avLst/>
          </a:prstGeom>
          <a:noFill/>
          <a:ln/>
        </p:spPr>
        <p:txBody>
          <a:bodyPr wrap="square" lIns="0" tIns="0" rIns="0" bIns="0" rtlCol="0" anchor="ctr"/>
          <a:lstStyle/>
          <a:p>
            <a:pPr indent="0" marL="0">
              <a:buNone/>
            </a:pPr>
            <a:r>
              <a:rPr lang="en-US" sz="2600" b="1" dirty="0">
                <a:solidFill>
                  <a:srgbClr val="B85042"/>
                </a:solidFill>
                <a:latin typeface="Century Schoolbook" pitchFamily="34" charset="0"/>
                <a:ea typeface="Century Schoolbook" pitchFamily="34" charset="-122"/>
                <a:cs typeface="Century Schoolbook" pitchFamily="34" charset="-120"/>
              </a:rPr>
              <a:t>0,619</a:t>
            </a:r>
            <a:endParaRPr lang="en-US" sz="2600" dirty="0"/>
          </a:p>
        </p:txBody>
      </p:sp>
      <p:sp>
        <p:nvSpPr>
          <p:cNvPr id="16" name="Text 13"/>
          <p:cNvSpPr txBox="1"/>
          <p:nvPr/>
        </p:nvSpPr>
        <p:spPr>
          <a:xfrm>
            <a:off x="6949440" y="3172968"/>
            <a:ext cx="4572000" cy="274320"/>
          </a:xfrm>
          <a:prstGeom prst="rect">
            <a:avLst/>
          </a:prstGeom>
          <a:noFill/>
          <a:ln/>
        </p:spPr>
        <p:txBody>
          <a:bodyPr wrap="square" lIns="0" tIns="0" rIns="0" bIns="0" rtlCol="0" anchor="ctr"/>
          <a:lstStyle/>
          <a:p>
            <a:pPr indent="0" marL="0">
              <a:buNone/>
            </a:pPr>
            <a:r>
              <a:rPr lang="en-US" sz="1600" b="1" dirty="0">
                <a:solidFill>
                  <a:srgbClr val="2E2A27"/>
                </a:solidFill>
                <a:latin typeface="Calibri" pitchFamily="34" charset="0"/>
                <a:ea typeface="Calibri" pitchFamily="34" charset="-122"/>
                <a:cs typeface="Calibri" pitchFamily="34" charset="-120"/>
              </a:rPr>
              <a:t>Recall</a:t>
            </a:r>
            <a:endParaRPr lang="en-US" sz="1600" dirty="0"/>
          </a:p>
        </p:txBody>
      </p:sp>
      <p:sp>
        <p:nvSpPr>
          <p:cNvPr id="17" name="Text 14"/>
          <p:cNvSpPr txBox="1"/>
          <p:nvPr/>
        </p:nvSpPr>
        <p:spPr>
          <a:xfrm>
            <a:off x="6949440" y="3465576"/>
            <a:ext cx="4572000" cy="256032"/>
          </a:xfrm>
          <a:prstGeom prst="rect">
            <a:avLst/>
          </a:prstGeom>
          <a:noFill/>
          <a:ln/>
        </p:spPr>
        <p:txBody>
          <a:bodyPr wrap="square" lIns="0" tIns="0" rIns="0" bIns="0" rtlCol="0" anchor="ctr"/>
          <a:lstStyle/>
          <a:p>
            <a:pPr indent="0" marL="0">
              <a:buNone/>
            </a:pPr>
            <a:r>
              <a:rPr lang="en-US" sz="1300" dirty="0">
                <a:solidFill>
                  <a:srgbClr val="6E6560"/>
                </a:solidFill>
                <a:latin typeface="Calibri" pitchFamily="34" charset="0"/>
                <a:ea typeface="Calibri" pitchFamily="34" charset="-122"/>
                <a:cs typeface="Calibri" pitchFamily="34" charset="-120"/>
              </a:rPr>
              <a:t>mais il rate 38 % des chiens</a:t>
            </a:r>
            <a:endParaRPr lang="en-US" sz="1300" dirty="0"/>
          </a:p>
        </p:txBody>
      </p:sp>
      <p:sp>
        <p:nvSpPr>
          <p:cNvPr id="18" name="Shape 15"/>
          <p:cNvSpPr/>
          <p:nvPr/>
        </p:nvSpPr>
        <p:spPr>
          <a:xfrm>
            <a:off x="5257800" y="3931920"/>
            <a:ext cx="6400800" cy="749808"/>
          </a:xfrm>
          <a:prstGeom prst="roundRect">
            <a:avLst>
              <a:gd name="adj" fmla="val 10976"/>
            </a:avLst>
          </a:prstGeom>
          <a:solidFill>
            <a:srgbClr val="E7E8D1"/>
          </a:solidFill>
          <a:ln w="12700">
            <a:solidFill>
              <a:srgbClr val="E7E8D1"/>
            </a:solidFill>
            <a:prstDash val="solid"/>
          </a:ln>
        </p:spPr>
      </p:sp>
      <p:sp>
        <p:nvSpPr>
          <p:cNvPr id="19" name="Text 16"/>
          <p:cNvSpPr txBox="1"/>
          <p:nvPr/>
        </p:nvSpPr>
        <p:spPr>
          <a:xfrm>
            <a:off x="5532120" y="4005072"/>
            <a:ext cx="1371600" cy="603504"/>
          </a:xfrm>
          <a:prstGeom prst="rect">
            <a:avLst/>
          </a:prstGeom>
          <a:noFill/>
          <a:ln/>
        </p:spPr>
        <p:txBody>
          <a:bodyPr wrap="square" lIns="0" tIns="0" rIns="0" bIns="0" rtlCol="0" anchor="ctr"/>
          <a:lstStyle/>
          <a:p>
            <a:pPr indent="0" marL="0">
              <a:buNone/>
            </a:pPr>
            <a:r>
              <a:rPr lang="en-US" sz="2600" b="1" dirty="0">
                <a:solidFill>
                  <a:srgbClr val="B85042"/>
                </a:solidFill>
                <a:latin typeface="Century Schoolbook" pitchFamily="34" charset="0"/>
                <a:ea typeface="Century Schoolbook" pitchFamily="34" charset="-122"/>
                <a:cs typeface="Century Schoolbook" pitchFamily="34" charset="-120"/>
              </a:rPr>
              <a:t>0,712</a:t>
            </a:r>
            <a:endParaRPr lang="en-US" sz="2600" dirty="0"/>
          </a:p>
        </p:txBody>
      </p:sp>
      <p:sp>
        <p:nvSpPr>
          <p:cNvPr id="20" name="Text 17"/>
          <p:cNvSpPr txBox="1"/>
          <p:nvPr/>
        </p:nvSpPr>
        <p:spPr>
          <a:xfrm>
            <a:off x="6949440" y="4041648"/>
            <a:ext cx="4572000" cy="274320"/>
          </a:xfrm>
          <a:prstGeom prst="rect">
            <a:avLst/>
          </a:prstGeom>
          <a:noFill/>
          <a:ln/>
        </p:spPr>
        <p:txBody>
          <a:bodyPr wrap="square" lIns="0" tIns="0" rIns="0" bIns="0" rtlCol="0" anchor="ctr"/>
          <a:lstStyle/>
          <a:p>
            <a:pPr indent="0" marL="0">
              <a:buNone/>
            </a:pPr>
            <a:r>
              <a:rPr lang="en-US" sz="1600" b="1" dirty="0">
                <a:solidFill>
                  <a:srgbClr val="2E2A27"/>
                </a:solidFill>
                <a:latin typeface="Calibri" pitchFamily="34" charset="0"/>
                <a:ea typeface="Calibri" pitchFamily="34" charset="-122"/>
                <a:cs typeface="Calibri" pitchFamily="34" charset="-120"/>
              </a:rPr>
              <a:t>F1-score</a:t>
            </a:r>
            <a:endParaRPr lang="en-US" sz="1600" dirty="0"/>
          </a:p>
        </p:txBody>
      </p:sp>
      <p:sp>
        <p:nvSpPr>
          <p:cNvPr id="21" name="Text 18"/>
          <p:cNvSpPr txBox="1"/>
          <p:nvPr/>
        </p:nvSpPr>
        <p:spPr>
          <a:xfrm>
            <a:off x="6949440" y="4334256"/>
            <a:ext cx="4572000" cy="256032"/>
          </a:xfrm>
          <a:prstGeom prst="rect">
            <a:avLst/>
          </a:prstGeom>
          <a:noFill/>
          <a:ln/>
        </p:spPr>
        <p:txBody>
          <a:bodyPr wrap="square" lIns="0" tIns="0" rIns="0" bIns="0" rtlCol="0" anchor="ctr"/>
          <a:lstStyle/>
          <a:p>
            <a:pPr indent="0" marL="0">
              <a:buNone/>
            </a:pPr>
            <a:r>
              <a:rPr lang="en-US" sz="1300" dirty="0">
                <a:solidFill>
                  <a:srgbClr val="6E6560"/>
                </a:solidFill>
                <a:latin typeface="Calibri" pitchFamily="34" charset="0"/>
                <a:ea typeface="Calibri" pitchFamily="34" charset="-122"/>
                <a:cs typeface="Calibri" pitchFamily="34" charset="-120"/>
              </a:rPr>
              <a:t>le compromis des deux</a:t>
            </a:r>
            <a:endParaRPr lang="en-US" sz="1300" dirty="0"/>
          </a:p>
        </p:txBody>
      </p:sp>
      <p:sp>
        <p:nvSpPr>
          <p:cNvPr id="22" name="Shape 19"/>
          <p:cNvSpPr/>
          <p:nvPr/>
        </p:nvSpPr>
        <p:spPr>
          <a:xfrm>
            <a:off x="5257800" y="4892040"/>
            <a:ext cx="6400800" cy="1188720"/>
          </a:xfrm>
          <a:prstGeom prst="roundRect">
            <a:avLst>
              <a:gd name="adj" fmla="val 6923"/>
            </a:avLst>
          </a:prstGeom>
          <a:solidFill>
            <a:srgbClr val="3B2A26"/>
          </a:solidFill>
          <a:ln w="12700">
            <a:solidFill>
              <a:srgbClr val="3B2A26"/>
            </a:solidFill>
            <a:prstDash val="solid"/>
          </a:ln>
        </p:spPr>
      </p:sp>
      <p:sp>
        <p:nvSpPr>
          <p:cNvPr id="23" name="Text 20"/>
          <p:cNvSpPr txBox="1"/>
          <p:nvPr/>
        </p:nvSpPr>
        <p:spPr>
          <a:xfrm>
            <a:off x="5532120" y="5047488"/>
            <a:ext cx="5852160" cy="274320"/>
          </a:xfrm>
          <a:prstGeom prst="rect">
            <a:avLst/>
          </a:prstGeom>
          <a:noFill/>
          <a:ln/>
        </p:spPr>
        <p:txBody>
          <a:bodyPr wrap="square" lIns="0" tIns="0" rIns="0" bIns="0" rtlCol="0" anchor="ctr"/>
          <a:lstStyle/>
          <a:p>
            <a:pPr indent="0" marL="0">
              <a:buNone/>
            </a:pPr>
            <a:r>
              <a:rPr lang="en-US" sz="1500" b="1" dirty="0">
                <a:solidFill>
                  <a:srgbClr val="A7BEAE"/>
                </a:solidFill>
                <a:latin typeface="Calibri" pitchFamily="34" charset="0"/>
                <a:ea typeface="Calibri" pitchFamily="34" charset="-122"/>
                <a:cs typeface="Calibri" pitchFamily="34" charset="-120"/>
              </a:rPr>
              <a:t>Ce que ça dit du modèle</a:t>
            </a:r>
            <a:endParaRPr lang="en-US" sz="1500" dirty="0"/>
          </a:p>
        </p:txBody>
      </p:sp>
      <p:sp>
        <p:nvSpPr>
          <p:cNvPr id="24" name="Text 21"/>
          <p:cNvSpPr txBox="1"/>
          <p:nvPr/>
        </p:nvSpPr>
        <p:spPr>
          <a:xfrm>
            <a:off x="5532120" y="5349240"/>
            <a:ext cx="5852160" cy="59436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Bien mieux que le hasard (50 %), mais trop prudent sur la classe « chien » : au moindre doute il répond « chat ». D'où une précision haute mais un rappel faible.</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411480"/>
            <a:ext cx="566928" cy="566928"/>
          </a:xfrm>
          <a:prstGeom prst="ellipse">
            <a:avLst/>
          </a:prstGeom>
          <a:solidFill>
            <a:srgbClr val="B85042"/>
          </a:solidFill>
          <a:ln/>
        </p:spPr>
      </p:sp>
      <p:sp>
        <p:nvSpPr>
          <p:cNvPr id="3" name="Text 1"/>
          <p:cNvSpPr txBox="1"/>
          <p:nvPr/>
        </p:nvSpPr>
        <p:spPr>
          <a:xfrm>
            <a:off x="548640" y="4114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entury Schoolbook" pitchFamily="34" charset="0"/>
                <a:ea typeface="Century Schoolbook" pitchFamily="34" charset="-122"/>
                <a:cs typeface="Century Schoolbook" pitchFamily="34" charset="-120"/>
              </a:rPr>
              <a:t>6</a:t>
            </a:r>
            <a:endParaRPr lang="en-US" sz="2000" dirty="0"/>
          </a:p>
        </p:txBody>
      </p:sp>
      <p:sp>
        <p:nvSpPr>
          <p:cNvPr id="4" name="Text 2"/>
          <p:cNvSpPr txBox="1"/>
          <p:nvPr/>
        </p:nvSpPr>
        <p:spPr>
          <a:xfrm>
            <a:off x="1298448" y="384048"/>
            <a:ext cx="10241280" cy="640080"/>
          </a:xfrm>
          <a:prstGeom prst="rect">
            <a:avLst/>
          </a:prstGeom>
          <a:noFill/>
          <a:ln/>
        </p:spPr>
        <p:txBody>
          <a:bodyPr wrap="square" lIns="0" tIns="0" rIns="0" bIns="0" rtlCol="0" anchor="ctr"/>
          <a:lstStyle/>
          <a:p>
            <a:pPr indent="0" marL="0">
              <a:buNone/>
            </a:pPr>
            <a:r>
              <a:rPr lang="en-US" sz="3000" b="1" dirty="0">
                <a:solidFill>
                  <a:srgbClr val="2E2A27"/>
                </a:solidFill>
                <a:latin typeface="Century Schoolbook" pitchFamily="34" charset="0"/>
                <a:ea typeface="Century Schoolbook" pitchFamily="34" charset="-122"/>
                <a:cs typeface="Century Schoolbook" pitchFamily="34" charset="-120"/>
              </a:rPr>
              <a:t>Amélioration 1 : data augmentation</a:t>
            </a:r>
            <a:endParaRPr lang="en-US" sz="3000" dirty="0"/>
          </a:p>
        </p:txBody>
      </p:sp>
      <p:pic>
        <p:nvPicPr>
          <p:cNvPr id="5" name="Image 0" descr="/home/claude/projet/figures/fig_30_5.png">    </p:cNvPr>
          <p:cNvPicPr>
            <a:picLocks noChangeAspect="1"/>
          </p:cNvPicPr>
          <p:nvPr/>
        </p:nvPicPr>
        <p:blipFill>
          <a:blip r:embed="rId1"/>
          <a:stretch>
            <a:fillRect/>
          </a:stretch>
        </p:blipFill>
        <p:spPr>
          <a:xfrm>
            <a:off x="548640" y="1188720"/>
            <a:ext cx="5577840" cy="2990088"/>
          </a:xfrm>
          <a:prstGeom prst="rect">
            <a:avLst/>
          </a:prstGeom>
        </p:spPr>
      </p:pic>
      <p:sp>
        <p:nvSpPr>
          <p:cNvPr id="6" name="Shape 3"/>
          <p:cNvSpPr/>
          <p:nvPr/>
        </p:nvSpPr>
        <p:spPr>
          <a:xfrm>
            <a:off x="6400800" y="1188720"/>
            <a:ext cx="5257800" cy="2990088"/>
          </a:xfrm>
          <a:prstGeom prst="roundRect">
            <a:avLst>
              <a:gd name="adj" fmla="val 2752"/>
            </a:avLst>
          </a:prstGeom>
          <a:solidFill>
            <a:srgbClr val="E7E8D1"/>
          </a:solidFill>
          <a:ln w="12700">
            <a:solidFill>
              <a:srgbClr val="E7E8D1"/>
            </a:solidFill>
            <a:prstDash val="solid"/>
          </a:ln>
        </p:spPr>
      </p:sp>
      <p:sp>
        <p:nvSpPr>
          <p:cNvPr id="7" name="Text 4"/>
          <p:cNvSpPr txBox="1"/>
          <p:nvPr/>
        </p:nvSpPr>
        <p:spPr>
          <a:xfrm>
            <a:off x="6720840" y="1371600"/>
            <a:ext cx="4617720" cy="274320"/>
          </a:xfrm>
          <a:prstGeom prst="rect">
            <a:avLst/>
          </a:prstGeom>
          <a:noFill/>
          <a:ln/>
        </p:spPr>
        <p:txBody>
          <a:bodyPr wrap="square" lIns="0" tIns="0" rIns="0" bIns="0" rtlCol="0" anchor="ctr"/>
          <a:lstStyle/>
          <a:p>
            <a:pPr indent="0" marL="0">
              <a:buNone/>
            </a:pPr>
            <a:r>
              <a:rPr lang="en-US" sz="1700" b="1" dirty="0">
                <a:solidFill>
                  <a:srgbClr val="B85042"/>
                </a:solidFill>
                <a:latin typeface="Century Schoolbook" pitchFamily="34" charset="0"/>
                <a:ea typeface="Century Schoolbook" pitchFamily="34" charset="-122"/>
                <a:cs typeface="Century Schoolbook" pitchFamily="34" charset="-120"/>
              </a:rPr>
              <a:t>L'idée</a:t>
            </a:r>
            <a:endParaRPr lang="en-US" sz="1700" dirty="0"/>
          </a:p>
        </p:txBody>
      </p:sp>
      <p:sp>
        <p:nvSpPr>
          <p:cNvPr id="8" name="Text 5"/>
          <p:cNvSpPr txBox="1"/>
          <p:nvPr/>
        </p:nvSpPr>
        <p:spPr>
          <a:xfrm>
            <a:off x="6720840" y="1737360"/>
            <a:ext cx="4617720" cy="1097280"/>
          </a:xfrm>
          <a:prstGeom prst="rect">
            <a:avLst/>
          </a:prstGeom>
          <a:noFill/>
          <a:ln/>
        </p:spPr>
        <p:txBody>
          <a:bodyPr wrap="square" lIns="0" tIns="0" rIns="0" bIns="0" rtlCol="0" anchor="ctr"/>
          <a:lstStyle/>
          <a:p>
            <a:pPr indent="0" marL="0">
              <a:buNone/>
            </a:pPr>
            <a:r>
              <a:rPr lang="en-US" sz="1400" dirty="0">
                <a:solidFill>
                  <a:srgbClr val="2E2A27"/>
                </a:solidFill>
                <a:latin typeface="Calibri" pitchFamily="34" charset="0"/>
                <a:ea typeface="Calibri" pitchFamily="34" charset="-122"/>
                <a:cs typeface="Calibri" pitchFamily="34" charset="-120"/>
              </a:rPr>
              <a:t>À chaque epoch, on montre une version légèrement modifiée de chaque image : miroir, rotation, zoom. Le modèle ne voit jamais deux fois la même photo, donc il ne peut plus mémoriser.</a:t>
            </a:r>
            <a:endParaRPr lang="en-US" sz="1400" dirty="0"/>
          </a:p>
        </p:txBody>
      </p:sp>
      <p:sp>
        <p:nvSpPr>
          <p:cNvPr id="9" name="Text 6"/>
          <p:cNvSpPr txBox="1"/>
          <p:nvPr/>
        </p:nvSpPr>
        <p:spPr>
          <a:xfrm>
            <a:off x="6720840" y="2880360"/>
            <a:ext cx="4617720" cy="274320"/>
          </a:xfrm>
          <a:prstGeom prst="rect">
            <a:avLst/>
          </a:prstGeom>
          <a:noFill/>
          <a:ln/>
        </p:spPr>
        <p:txBody>
          <a:bodyPr wrap="square" lIns="0" tIns="0" rIns="0" bIns="0" rtlCol="0" anchor="ctr"/>
          <a:lstStyle/>
          <a:p>
            <a:pPr indent="0" marL="0">
              <a:buNone/>
            </a:pPr>
            <a:r>
              <a:rPr lang="en-US" sz="1500" b="1" dirty="0">
                <a:solidFill>
                  <a:srgbClr val="2E2A27"/>
                </a:solidFill>
                <a:latin typeface="Calibri" pitchFamily="34" charset="0"/>
                <a:ea typeface="Calibri" pitchFamily="34" charset="-122"/>
                <a:cs typeface="Calibri" pitchFamily="34" charset="-120"/>
              </a:rPr>
              <a:t>Point important du sujet</a:t>
            </a:r>
            <a:endParaRPr lang="en-US" sz="1500" dirty="0"/>
          </a:p>
        </p:txBody>
      </p:sp>
      <p:sp>
        <p:nvSpPr>
          <p:cNvPr id="10" name="Text 7"/>
          <p:cNvSpPr txBox="1"/>
          <p:nvPr/>
        </p:nvSpPr>
        <p:spPr>
          <a:xfrm>
            <a:off x="6720840" y="3200400"/>
            <a:ext cx="4617720" cy="822960"/>
          </a:xfrm>
          <a:prstGeom prst="rect">
            <a:avLst/>
          </a:prstGeom>
          <a:noFill/>
          <a:ln/>
        </p:spPr>
        <p:txBody>
          <a:bodyPr wrap="square" lIns="0" tIns="0" rIns="0" bIns="0" rtlCol="0" anchor="ctr"/>
          <a:lstStyle/>
          <a:p>
            <a:pPr indent="0" marL="0">
              <a:buNone/>
            </a:pPr>
            <a:r>
              <a:rPr lang="en-US" sz="1350" dirty="0">
                <a:solidFill>
                  <a:srgbClr val="6E6560"/>
                </a:solidFill>
                <a:latin typeface="Calibri" pitchFamily="34" charset="0"/>
                <a:ea typeface="Calibri" pitchFamily="34" charset="-122"/>
                <a:cs typeface="Calibri" pitchFamily="34" charset="-120"/>
              </a:rPr>
              <a:t>Les couches d'augmentation de Keras sont actives pendant fit() et automatiquement désactivées au test. L'évaluation n'est donc jamais faussée.</a:t>
            </a:r>
            <a:endParaRPr lang="en-US" sz="1350" dirty="0"/>
          </a:p>
        </p:txBody>
      </p:sp>
      <p:sp>
        <p:nvSpPr>
          <p:cNvPr id="11" name="Shape 8"/>
          <p:cNvSpPr/>
          <p:nvPr/>
        </p:nvSpPr>
        <p:spPr>
          <a:xfrm>
            <a:off x="548640" y="4434840"/>
            <a:ext cx="3547872" cy="1645920"/>
          </a:xfrm>
          <a:prstGeom prst="roundRect">
            <a:avLst>
              <a:gd name="adj" fmla="val 5000"/>
            </a:avLst>
          </a:prstGeom>
          <a:solidFill>
            <a:srgbClr val="3B2A26"/>
          </a:solidFill>
          <a:ln w="12700">
            <a:solidFill>
              <a:srgbClr val="3B2A26"/>
            </a:solidFill>
            <a:prstDash val="solid"/>
          </a:ln>
        </p:spPr>
      </p:sp>
      <p:sp>
        <p:nvSpPr>
          <p:cNvPr id="12" name="Text 9"/>
          <p:cNvSpPr txBox="1"/>
          <p:nvPr/>
        </p:nvSpPr>
        <p:spPr>
          <a:xfrm>
            <a:off x="822960" y="4617720"/>
            <a:ext cx="3017520" cy="274320"/>
          </a:xfrm>
          <a:prstGeom prst="rect">
            <a:avLst/>
          </a:prstGeom>
          <a:noFill/>
          <a:ln/>
        </p:spPr>
        <p:txBody>
          <a:bodyPr wrap="square" lIns="0" tIns="0" rIns="0" bIns="0" rtlCol="0" anchor="ctr"/>
          <a:lstStyle/>
          <a:p>
            <a:pPr indent="0" marL="0">
              <a:buNone/>
            </a:pPr>
            <a:r>
              <a:rPr lang="en-US" sz="1400" b="1" dirty="0">
                <a:solidFill>
                  <a:srgbClr val="E7E8D1"/>
                </a:solidFill>
                <a:latin typeface="Calibri" pitchFamily="34" charset="0"/>
                <a:ea typeface="Calibri" pitchFamily="34" charset="-122"/>
                <a:cs typeface="Calibri" pitchFamily="34" charset="-120"/>
              </a:rPr>
              <a:t>Écart train / validation</a:t>
            </a:r>
            <a:endParaRPr lang="en-US" sz="1400" dirty="0"/>
          </a:p>
        </p:txBody>
      </p:sp>
      <p:sp>
        <p:nvSpPr>
          <p:cNvPr id="13" name="Text 10"/>
          <p:cNvSpPr txBox="1"/>
          <p:nvPr/>
        </p:nvSpPr>
        <p:spPr>
          <a:xfrm>
            <a:off x="822960" y="5029200"/>
            <a:ext cx="3017520" cy="731520"/>
          </a:xfrm>
          <a:prstGeom prst="rect">
            <a:avLst/>
          </a:prstGeom>
          <a:noFill/>
          <a:ln/>
        </p:spPr>
        <p:txBody>
          <a:bodyPr wrap="square" lIns="0" tIns="0" rIns="0" bIns="0" rtlCol="0" anchor="ctr"/>
          <a:lstStyle/>
          <a:p>
            <a:pPr indent="0" marL="0">
              <a:buNone/>
            </a:pPr>
            <a:r>
              <a:rPr lang="en-US" sz="2200" dirty="0">
                <a:solidFill>
                  <a:srgbClr val="9A8F88"/>
                </a:solidFill>
                <a:latin typeface="Century Schoolbook" pitchFamily="34" charset="0"/>
                <a:ea typeface="Century Schoolbook" pitchFamily="34" charset="-122"/>
                <a:cs typeface="Century Schoolbook" pitchFamily="34" charset="-120"/>
              </a:rPr>
              <a:t>0,179  </a:t>
            </a:r>
            <a:pPr indent="0" marL="0">
              <a:buNone/>
            </a:pPr>
            <a:r>
              <a:rPr lang="en-US" sz="1800" dirty="0">
                <a:solidFill>
                  <a:srgbClr val="A7BEAE"/>
                </a:solidFill>
                <a:latin typeface="Century Schoolbook" pitchFamily="34" charset="0"/>
                <a:ea typeface="Century Schoolbook" pitchFamily="34" charset="-122"/>
                <a:cs typeface="Century Schoolbook" pitchFamily="34" charset="-120"/>
              </a:rPr>
              <a:t>→  </a:t>
            </a:r>
            <a:pPr indent="0" marL="0">
              <a:buNone/>
            </a:pPr>
            <a:r>
              <a:rPr lang="en-US" sz="3000" b="1" dirty="0">
                <a:solidFill>
                  <a:srgbClr val="FFFFFF"/>
                </a:solidFill>
                <a:latin typeface="Century Schoolbook" pitchFamily="34" charset="0"/>
                <a:ea typeface="Century Schoolbook" pitchFamily="34" charset="-122"/>
                <a:cs typeface="Century Schoolbook" pitchFamily="34" charset="-120"/>
              </a:rPr>
              <a:t>0,009</a:t>
            </a:r>
            <a:endParaRPr lang="en-US" sz="1500" dirty="0"/>
          </a:p>
        </p:txBody>
      </p:sp>
      <p:sp>
        <p:nvSpPr>
          <p:cNvPr id="14" name="Shape 11"/>
          <p:cNvSpPr/>
          <p:nvPr/>
        </p:nvSpPr>
        <p:spPr>
          <a:xfrm>
            <a:off x="4325112" y="4434840"/>
            <a:ext cx="3547872" cy="1645920"/>
          </a:xfrm>
          <a:prstGeom prst="roundRect">
            <a:avLst>
              <a:gd name="adj" fmla="val 5000"/>
            </a:avLst>
          </a:prstGeom>
          <a:solidFill>
            <a:srgbClr val="3B2A26"/>
          </a:solidFill>
          <a:ln w="12700">
            <a:solidFill>
              <a:srgbClr val="3B2A26"/>
            </a:solidFill>
            <a:prstDash val="solid"/>
          </a:ln>
        </p:spPr>
      </p:sp>
      <p:sp>
        <p:nvSpPr>
          <p:cNvPr id="15" name="Text 12"/>
          <p:cNvSpPr txBox="1"/>
          <p:nvPr/>
        </p:nvSpPr>
        <p:spPr>
          <a:xfrm>
            <a:off x="4599432" y="4617720"/>
            <a:ext cx="3017520" cy="274320"/>
          </a:xfrm>
          <a:prstGeom prst="rect">
            <a:avLst/>
          </a:prstGeom>
          <a:noFill/>
          <a:ln/>
        </p:spPr>
        <p:txBody>
          <a:bodyPr wrap="square" lIns="0" tIns="0" rIns="0" bIns="0" rtlCol="0" anchor="ctr"/>
          <a:lstStyle/>
          <a:p>
            <a:pPr indent="0" marL="0">
              <a:buNone/>
            </a:pPr>
            <a:r>
              <a:rPr lang="en-US" sz="1400" b="1" dirty="0">
                <a:solidFill>
                  <a:srgbClr val="E7E8D1"/>
                </a:solidFill>
                <a:latin typeface="Calibri" pitchFamily="34" charset="0"/>
                <a:ea typeface="Calibri" pitchFamily="34" charset="-122"/>
                <a:cs typeface="Calibri" pitchFamily="34" charset="-120"/>
              </a:rPr>
              <a:t>Accuracy test</a:t>
            </a:r>
            <a:endParaRPr lang="en-US" sz="1400" dirty="0"/>
          </a:p>
        </p:txBody>
      </p:sp>
      <p:sp>
        <p:nvSpPr>
          <p:cNvPr id="16" name="Text 13"/>
          <p:cNvSpPr txBox="1"/>
          <p:nvPr/>
        </p:nvSpPr>
        <p:spPr>
          <a:xfrm>
            <a:off x="4599432" y="5029200"/>
            <a:ext cx="3017520" cy="731520"/>
          </a:xfrm>
          <a:prstGeom prst="rect">
            <a:avLst/>
          </a:prstGeom>
          <a:noFill/>
          <a:ln/>
        </p:spPr>
        <p:txBody>
          <a:bodyPr wrap="square" lIns="0" tIns="0" rIns="0" bIns="0" rtlCol="0" anchor="ctr"/>
          <a:lstStyle/>
          <a:p>
            <a:pPr indent="0" marL="0">
              <a:buNone/>
            </a:pPr>
            <a:r>
              <a:rPr lang="en-US" sz="2200" dirty="0">
                <a:solidFill>
                  <a:srgbClr val="9A8F88"/>
                </a:solidFill>
                <a:latin typeface="Century Schoolbook" pitchFamily="34" charset="0"/>
                <a:ea typeface="Century Schoolbook" pitchFamily="34" charset="-122"/>
                <a:cs typeface="Century Schoolbook" pitchFamily="34" charset="-120"/>
              </a:rPr>
              <a:t>0,728  </a:t>
            </a:r>
            <a:pPr indent="0" marL="0">
              <a:buNone/>
            </a:pPr>
            <a:r>
              <a:rPr lang="en-US" sz="1800" dirty="0">
                <a:solidFill>
                  <a:srgbClr val="A7BEAE"/>
                </a:solidFill>
                <a:latin typeface="Century Schoolbook" pitchFamily="34" charset="0"/>
                <a:ea typeface="Century Schoolbook" pitchFamily="34" charset="-122"/>
                <a:cs typeface="Century Schoolbook" pitchFamily="34" charset="-120"/>
              </a:rPr>
              <a:t>→  </a:t>
            </a:r>
            <a:pPr indent="0" marL="0">
              <a:buNone/>
            </a:pPr>
            <a:r>
              <a:rPr lang="en-US" sz="3000" b="1" dirty="0">
                <a:solidFill>
                  <a:srgbClr val="FFFFFF"/>
                </a:solidFill>
                <a:latin typeface="Century Schoolbook" pitchFamily="34" charset="0"/>
                <a:ea typeface="Century Schoolbook" pitchFamily="34" charset="-122"/>
                <a:cs typeface="Century Schoolbook" pitchFamily="34" charset="-120"/>
              </a:rPr>
              <a:t>0,750</a:t>
            </a:r>
            <a:endParaRPr lang="en-US" sz="1500" dirty="0"/>
          </a:p>
        </p:txBody>
      </p:sp>
      <p:sp>
        <p:nvSpPr>
          <p:cNvPr id="17" name="Shape 14"/>
          <p:cNvSpPr/>
          <p:nvPr/>
        </p:nvSpPr>
        <p:spPr>
          <a:xfrm>
            <a:off x="8101584" y="4434840"/>
            <a:ext cx="3547872" cy="1645920"/>
          </a:xfrm>
          <a:prstGeom prst="roundRect">
            <a:avLst>
              <a:gd name="adj" fmla="val 5000"/>
            </a:avLst>
          </a:prstGeom>
          <a:solidFill>
            <a:srgbClr val="3B2A26"/>
          </a:solidFill>
          <a:ln w="12700">
            <a:solidFill>
              <a:srgbClr val="3B2A26"/>
            </a:solidFill>
            <a:prstDash val="solid"/>
          </a:ln>
        </p:spPr>
      </p:sp>
      <p:sp>
        <p:nvSpPr>
          <p:cNvPr id="18" name="Text 15"/>
          <p:cNvSpPr txBox="1"/>
          <p:nvPr/>
        </p:nvSpPr>
        <p:spPr>
          <a:xfrm>
            <a:off x="8375904" y="4617720"/>
            <a:ext cx="3017520" cy="274320"/>
          </a:xfrm>
          <a:prstGeom prst="rect">
            <a:avLst/>
          </a:prstGeom>
          <a:noFill/>
          <a:ln/>
        </p:spPr>
        <p:txBody>
          <a:bodyPr wrap="square" lIns="0" tIns="0" rIns="0" bIns="0" rtlCol="0" anchor="ctr"/>
          <a:lstStyle/>
          <a:p>
            <a:pPr indent="0" marL="0">
              <a:buNone/>
            </a:pPr>
            <a:r>
              <a:rPr lang="en-US" sz="1400" b="1" dirty="0">
                <a:solidFill>
                  <a:srgbClr val="E7E8D1"/>
                </a:solidFill>
                <a:latin typeface="Calibri" pitchFamily="34" charset="0"/>
                <a:ea typeface="Calibri" pitchFamily="34" charset="-122"/>
                <a:cs typeface="Calibri" pitchFamily="34" charset="-120"/>
              </a:rPr>
              <a:t>Recall (chiens)</a:t>
            </a:r>
            <a:endParaRPr lang="en-US" sz="1400" dirty="0"/>
          </a:p>
        </p:txBody>
      </p:sp>
      <p:sp>
        <p:nvSpPr>
          <p:cNvPr id="19" name="Text 16"/>
          <p:cNvSpPr txBox="1"/>
          <p:nvPr/>
        </p:nvSpPr>
        <p:spPr>
          <a:xfrm>
            <a:off x="8375904" y="5029200"/>
            <a:ext cx="3017520" cy="731520"/>
          </a:xfrm>
          <a:prstGeom prst="rect">
            <a:avLst/>
          </a:prstGeom>
          <a:noFill/>
          <a:ln/>
        </p:spPr>
        <p:txBody>
          <a:bodyPr wrap="square" lIns="0" tIns="0" rIns="0" bIns="0" rtlCol="0" anchor="ctr"/>
          <a:lstStyle/>
          <a:p>
            <a:pPr indent="0" marL="0">
              <a:buNone/>
            </a:pPr>
            <a:r>
              <a:rPr lang="en-US" sz="2200" dirty="0">
                <a:solidFill>
                  <a:srgbClr val="9A8F88"/>
                </a:solidFill>
                <a:latin typeface="Century Schoolbook" pitchFamily="34" charset="0"/>
                <a:ea typeface="Century Schoolbook" pitchFamily="34" charset="-122"/>
                <a:cs typeface="Century Schoolbook" pitchFamily="34" charset="-120"/>
              </a:rPr>
              <a:t>0,619  </a:t>
            </a:r>
            <a:pPr indent="0" marL="0">
              <a:buNone/>
            </a:pPr>
            <a:r>
              <a:rPr lang="en-US" sz="1800" dirty="0">
                <a:solidFill>
                  <a:srgbClr val="A7BEAE"/>
                </a:solidFill>
                <a:latin typeface="Century Schoolbook" pitchFamily="34" charset="0"/>
                <a:ea typeface="Century Schoolbook" pitchFamily="34" charset="-122"/>
                <a:cs typeface="Century Schoolbook" pitchFamily="34" charset="-120"/>
              </a:rPr>
              <a:t>→  </a:t>
            </a:r>
            <a:pPr indent="0" marL="0">
              <a:buNone/>
            </a:pPr>
            <a:r>
              <a:rPr lang="en-US" sz="3000" b="1" dirty="0">
                <a:solidFill>
                  <a:srgbClr val="FFFFFF"/>
                </a:solidFill>
                <a:latin typeface="Century Schoolbook" pitchFamily="34" charset="0"/>
                <a:ea typeface="Century Schoolbook" pitchFamily="34" charset="-122"/>
                <a:cs typeface="Century Schoolbook" pitchFamily="34" charset="-120"/>
              </a:rPr>
              <a:t>0,858</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48640" y="411480"/>
            <a:ext cx="566928" cy="566928"/>
          </a:xfrm>
          <a:prstGeom prst="ellipse">
            <a:avLst/>
          </a:prstGeom>
          <a:solidFill>
            <a:srgbClr val="B85042"/>
          </a:solidFill>
          <a:ln/>
        </p:spPr>
      </p:sp>
      <p:sp>
        <p:nvSpPr>
          <p:cNvPr id="3" name="Text 1"/>
          <p:cNvSpPr txBox="1"/>
          <p:nvPr/>
        </p:nvSpPr>
        <p:spPr>
          <a:xfrm>
            <a:off x="548640" y="4114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entury Schoolbook" pitchFamily="34" charset="0"/>
                <a:ea typeface="Century Schoolbook" pitchFamily="34" charset="-122"/>
                <a:cs typeface="Century Schoolbook" pitchFamily="34" charset="-120"/>
              </a:rPr>
              <a:t>7</a:t>
            </a:r>
            <a:endParaRPr lang="en-US" sz="2000" dirty="0"/>
          </a:p>
        </p:txBody>
      </p:sp>
      <p:sp>
        <p:nvSpPr>
          <p:cNvPr id="4" name="Text 2"/>
          <p:cNvSpPr txBox="1"/>
          <p:nvPr/>
        </p:nvSpPr>
        <p:spPr>
          <a:xfrm>
            <a:off x="1298448" y="384048"/>
            <a:ext cx="10241280" cy="640080"/>
          </a:xfrm>
          <a:prstGeom prst="rect">
            <a:avLst/>
          </a:prstGeom>
          <a:noFill/>
          <a:ln/>
        </p:spPr>
        <p:txBody>
          <a:bodyPr wrap="square" lIns="0" tIns="0" rIns="0" bIns="0" rtlCol="0" anchor="ctr"/>
          <a:lstStyle/>
          <a:p>
            <a:pPr indent="0" marL="0">
              <a:buNone/>
            </a:pPr>
            <a:r>
              <a:rPr lang="en-US" sz="3000" b="1" dirty="0">
                <a:solidFill>
                  <a:srgbClr val="2E2A27"/>
                </a:solidFill>
                <a:latin typeface="Century Schoolbook" pitchFamily="34" charset="0"/>
                <a:ea typeface="Century Schoolbook" pitchFamily="34" charset="-122"/>
                <a:cs typeface="Century Schoolbook" pitchFamily="34" charset="-120"/>
              </a:rPr>
              <a:t>Amélioration 2 : dropout + batch normalization</a:t>
            </a:r>
            <a:endParaRPr lang="en-US" sz="3000" dirty="0"/>
          </a:p>
        </p:txBody>
      </p:sp>
      <p:pic>
        <p:nvPicPr>
          <p:cNvPr id="5" name="Image 0" descr="/home/claude/projet/figures/fig_37_8.png">    </p:cNvPr>
          <p:cNvPicPr>
            <a:picLocks noChangeAspect="1"/>
          </p:cNvPicPr>
          <p:nvPr/>
        </p:nvPicPr>
        <p:blipFill>
          <a:blip r:embed="rId1"/>
          <a:stretch>
            <a:fillRect/>
          </a:stretch>
        </p:blipFill>
        <p:spPr>
          <a:xfrm>
            <a:off x="548640" y="1234440"/>
            <a:ext cx="6949440" cy="2313432"/>
          </a:xfrm>
          <a:prstGeom prst="rect">
            <a:avLst/>
          </a:prstGeom>
        </p:spPr>
      </p:pic>
      <p:sp>
        <p:nvSpPr>
          <p:cNvPr id="6" name="Shape 3"/>
          <p:cNvSpPr/>
          <p:nvPr/>
        </p:nvSpPr>
        <p:spPr>
          <a:xfrm>
            <a:off x="7772400" y="1234440"/>
            <a:ext cx="3886200" cy="2313432"/>
          </a:xfrm>
          <a:prstGeom prst="roundRect">
            <a:avLst>
              <a:gd name="adj" fmla="val 3557"/>
            </a:avLst>
          </a:prstGeom>
          <a:solidFill>
            <a:srgbClr val="3B2A26"/>
          </a:solidFill>
          <a:ln w="12700">
            <a:solidFill>
              <a:srgbClr val="3B2A26"/>
            </a:solidFill>
            <a:prstDash val="solid"/>
          </a:ln>
        </p:spPr>
      </p:sp>
      <p:sp>
        <p:nvSpPr>
          <p:cNvPr id="7" name="Text 4"/>
          <p:cNvSpPr txBox="1"/>
          <p:nvPr/>
        </p:nvSpPr>
        <p:spPr>
          <a:xfrm>
            <a:off x="8046720" y="1417320"/>
            <a:ext cx="3337560" cy="274320"/>
          </a:xfrm>
          <a:prstGeom prst="rect">
            <a:avLst/>
          </a:prstGeom>
          <a:noFill/>
          <a:ln/>
        </p:spPr>
        <p:txBody>
          <a:bodyPr wrap="square" lIns="0" tIns="0" rIns="0" bIns="0" rtlCol="0" anchor="ctr"/>
          <a:lstStyle/>
          <a:p>
            <a:pPr indent="0" marL="0">
              <a:buNone/>
            </a:pPr>
            <a:r>
              <a:rPr lang="en-US" sz="1300" dirty="0">
                <a:solidFill>
                  <a:srgbClr val="E7E8D1"/>
                </a:solidFill>
                <a:latin typeface="Calibri" pitchFamily="34" charset="0"/>
                <a:ea typeface="Calibri" pitchFamily="34" charset="-122"/>
                <a:cs typeface="Calibri" pitchFamily="34" charset="-120"/>
              </a:rPr>
              <a:t>Accuracy test</a:t>
            </a:r>
            <a:endParaRPr lang="en-US" sz="1300" dirty="0"/>
          </a:p>
        </p:txBody>
      </p:sp>
      <p:sp>
        <p:nvSpPr>
          <p:cNvPr id="8" name="Text 5"/>
          <p:cNvSpPr txBox="1"/>
          <p:nvPr/>
        </p:nvSpPr>
        <p:spPr>
          <a:xfrm>
            <a:off x="8046720" y="1737360"/>
            <a:ext cx="3337560" cy="685800"/>
          </a:xfrm>
          <a:prstGeom prst="rect">
            <a:avLst/>
          </a:prstGeom>
          <a:noFill/>
          <a:ln/>
        </p:spPr>
        <p:txBody>
          <a:bodyPr wrap="square" lIns="0" tIns="0" rIns="0" bIns="0" rtlCol="0" anchor="ctr"/>
          <a:lstStyle/>
          <a:p>
            <a:pPr indent="0" marL="0">
              <a:buNone/>
            </a:pPr>
            <a:r>
              <a:rPr lang="en-US" sz="4400" b="1" dirty="0">
                <a:solidFill>
                  <a:srgbClr val="FFFFFF"/>
                </a:solidFill>
                <a:latin typeface="Century Schoolbook" pitchFamily="34" charset="0"/>
                <a:ea typeface="Century Schoolbook" pitchFamily="34" charset="-122"/>
                <a:cs typeface="Century Schoolbook" pitchFamily="34" charset="-120"/>
              </a:rPr>
              <a:t>0,780</a:t>
            </a:r>
            <a:endParaRPr lang="en-US" sz="4400" dirty="0"/>
          </a:p>
        </p:txBody>
      </p:sp>
      <p:sp>
        <p:nvSpPr>
          <p:cNvPr id="9" name="Text 6"/>
          <p:cNvSpPr txBox="1"/>
          <p:nvPr/>
        </p:nvSpPr>
        <p:spPr>
          <a:xfrm>
            <a:off x="8046720" y="2468880"/>
            <a:ext cx="3337560" cy="731520"/>
          </a:xfrm>
          <a:prstGeom prst="rect">
            <a:avLst/>
          </a:prstGeom>
          <a:noFill/>
          <a:ln/>
        </p:spPr>
        <p:txBody>
          <a:bodyPr wrap="square" lIns="0" tIns="0" rIns="0" bIns="0" rtlCol="0" anchor="ctr"/>
          <a:lstStyle/>
          <a:p>
            <a:pPr indent="0" marL="0">
              <a:buNone/>
            </a:pPr>
            <a:r>
              <a:rPr lang="en-US" sz="1300" dirty="0">
                <a:solidFill>
                  <a:srgbClr val="A7BEAE"/>
                </a:solidFill>
                <a:latin typeface="Calibri" pitchFamily="34" charset="0"/>
                <a:ea typeface="Calibri" pitchFamily="34" charset="-122"/>
                <a:cs typeface="Calibri" pitchFamily="34" charset="-120"/>
              </a:rPr>
              <a:t>le meilleur des trois modèles</a:t>
            </a:r>
            <a:endParaRPr lang="en-US" sz="1300" dirty="0"/>
          </a:p>
          <a:p>
            <a:pPr indent="0" marL="0">
              <a:buNone/>
            </a:pPr>
            <a:r>
              <a:rPr lang="en-US" sz="1300" dirty="0">
                <a:solidFill>
                  <a:srgbClr val="A7BEAE"/>
                </a:solidFill>
                <a:latin typeface="Calibri" pitchFamily="34" charset="0"/>
                <a:ea typeface="Calibri" pitchFamily="34" charset="-122"/>
                <a:cs typeface="Calibri" pitchFamily="34" charset="-120"/>
              </a:rPr>
              <a:t>(contre 0,728 pour le modèle de base)</a:t>
            </a:r>
            <a:endParaRPr lang="en-US" sz="1300" dirty="0"/>
          </a:p>
        </p:txBody>
      </p:sp>
      <p:sp>
        <p:nvSpPr>
          <p:cNvPr id="10" name="Shape 7"/>
          <p:cNvSpPr/>
          <p:nvPr/>
        </p:nvSpPr>
        <p:spPr>
          <a:xfrm>
            <a:off x="548640" y="3794760"/>
            <a:ext cx="5486400" cy="2286000"/>
          </a:xfrm>
          <a:prstGeom prst="roundRect">
            <a:avLst>
              <a:gd name="adj" fmla="val 3600"/>
            </a:avLst>
          </a:prstGeom>
          <a:solidFill>
            <a:srgbClr val="E7E8D1"/>
          </a:solidFill>
          <a:ln w="12700">
            <a:solidFill>
              <a:srgbClr val="E7E8D1"/>
            </a:solidFill>
            <a:prstDash val="solid"/>
          </a:ln>
        </p:spPr>
      </p:sp>
      <p:sp>
        <p:nvSpPr>
          <p:cNvPr id="11" name="Text 8"/>
          <p:cNvSpPr txBox="1"/>
          <p:nvPr/>
        </p:nvSpPr>
        <p:spPr>
          <a:xfrm>
            <a:off x="868680" y="3977640"/>
            <a:ext cx="4846320" cy="274320"/>
          </a:xfrm>
          <a:prstGeom prst="rect">
            <a:avLst/>
          </a:prstGeom>
          <a:noFill/>
          <a:ln/>
        </p:spPr>
        <p:txBody>
          <a:bodyPr wrap="square" lIns="0" tIns="0" rIns="0" bIns="0" rtlCol="0" anchor="ctr"/>
          <a:lstStyle/>
          <a:p>
            <a:pPr indent="0" marL="0">
              <a:buNone/>
            </a:pPr>
            <a:r>
              <a:rPr lang="en-US" sz="1700" b="1" dirty="0">
                <a:solidFill>
                  <a:srgbClr val="B85042"/>
                </a:solidFill>
                <a:latin typeface="Century Schoolbook" pitchFamily="34" charset="0"/>
                <a:ea typeface="Century Schoolbook" pitchFamily="34" charset="-122"/>
                <a:cs typeface="Century Schoolbook" pitchFamily="34" charset="-120"/>
              </a:rPr>
              <a:t>Dropout (0,5)</a:t>
            </a:r>
            <a:endParaRPr lang="en-US" sz="1700" dirty="0"/>
          </a:p>
        </p:txBody>
      </p:sp>
      <p:sp>
        <p:nvSpPr>
          <p:cNvPr id="12" name="Text 9"/>
          <p:cNvSpPr txBox="1"/>
          <p:nvPr/>
        </p:nvSpPr>
        <p:spPr>
          <a:xfrm>
            <a:off x="868680" y="4343400"/>
            <a:ext cx="4846320" cy="1554480"/>
          </a:xfrm>
          <a:prstGeom prst="rect">
            <a:avLst/>
          </a:prstGeom>
          <a:noFill/>
          <a:ln/>
        </p:spPr>
        <p:txBody>
          <a:bodyPr wrap="square" lIns="0" tIns="0" rIns="0" bIns="0" rtlCol="0" anchor="ctr"/>
          <a:lstStyle/>
          <a:p>
            <a:pPr indent="0" marL="0">
              <a:buNone/>
            </a:pPr>
            <a:r>
              <a:rPr lang="en-US" sz="1400" dirty="0">
                <a:solidFill>
                  <a:srgbClr val="2E2A27"/>
                </a:solidFill>
                <a:latin typeface="Calibri" pitchFamily="34" charset="0"/>
                <a:ea typeface="Calibri" pitchFamily="34" charset="-122"/>
                <a:cs typeface="Calibri" pitchFamily="34" charset="-120"/>
              </a:rPr>
              <a:t>À chaque étape, on éteint au hasard la moitié des neurones de la couche dense. Le réseau ne peut plus dépendre d'un neurone en particulier : il est obligé de répartir l'information. Comme l'augmentation, c'est désactivé au moment du test.</a:t>
            </a:r>
            <a:endParaRPr lang="en-US" sz="1400" dirty="0"/>
          </a:p>
        </p:txBody>
      </p:sp>
      <p:sp>
        <p:nvSpPr>
          <p:cNvPr id="13" name="Shape 10"/>
          <p:cNvSpPr/>
          <p:nvPr/>
        </p:nvSpPr>
        <p:spPr>
          <a:xfrm>
            <a:off x="6309360" y="3794760"/>
            <a:ext cx="5349240" cy="2286000"/>
          </a:xfrm>
          <a:prstGeom prst="roundRect">
            <a:avLst>
              <a:gd name="adj" fmla="val 3600"/>
            </a:avLst>
          </a:prstGeom>
          <a:solidFill>
            <a:srgbClr val="A7BEAE"/>
          </a:solidFill>
          <a:ln w="12700">
            <a:solidFill>
              <a:srgbClr val="A7BEAE"/>
            </a:solidFill>
            <a:prstDash val="solid"/>
          </a:ln>
        </p:spPr>
      </p:sp>
      <p:sp>
        <p:nvSpPr>
          <p:cNvPr id="14" name="Text 11"/>
          <p:cNvSpPr txBox="1"/>
          <p:nvPr/>
        </p:nvSpPr>
        <p:spPr>
          <a:xfrm>
            <a:off x="6629400" y="3977640"/>
            <a:ext cx="4709160" cy="274320"/>
          </a:xfrm>
          <a:prstGeom prst="rect">
            <a:avLst/>
          </a:prstGeom>
          <a:noFill/>
          <a:ln/>
        </p:spPr>
        <p:txBody>
          <a:bodyPr wrap="square" lIns="0" tIns="0" rIns="0" bIns="0" rtlCol="0" anchor="ctr"/>
          <a:lstStyle/>
          <a:p>
            <a:pPr indent="0" marL="0">
              <a:buNone/>
            </a:pPr>
            <a:r>
              <a:rPr lang="en-US" sz="1700" b="1" dirty="0">
                <a:solidFill>
                  <a:srgbClr val="3B2A26"/>
                </a:solidFill>
                <a:latin typeface="Century Schoolbook" pitchFamily="34" charset="0"/>
                <a:ea typeface="Century Schoolbook" pitchFamily="34" charset="-122"/>
                <a:cs typeface="Century Schoolbook" pitchFamily="34" charset="-120"/>
              </a:rPr>
              <a:t>Batch normalization</a:t>
            </a:r>
            <a:endParaRPr lang="en-US" sz="1700" dirty="0"/>
          </a:p>
        </p:txBody>
      </p:sp>
      <p:sp>
        <p:nvSpPr>
          <p:cNvPr id="15" name="Text 12"/>
          <p:cNvSpPr txBox="1"/>
          <p:nvPr/>
        </p:nvSpPr>
        <p:spPr>
          <a:xfrm>
            <a:off x="6629400" y="4343400"/>
            <a:ext cx="4709160" cy="914400"/>
          </a:xfrm>
          <a:prstGeom prst="rect">
            <a:avLst/>
          </a:prstGeom>
          <a:noFill/>
          <a:ln/>
        </p:spPr>
        <p:txBody>
          <a:bodyPr wrap="square" lIns="0" tIns="0" rIns="0" bIns="0" rtlCol="0" anchor="ctr"/>
          <a:lstStyle/>
          <a:p>
            <a:pPr indent="0" marL="0">
              <a:buNone/>
            </a:pPr>
            <a:r>
              <a:rPr lang="en-US" sz="1400" dirty="0">
                <a:solidFill>
                  <a:srgbClr val="2E2A27"/>
                </a:solidFill>
                <a:latin typeface="Calibri" pitchFamily="34" charset="0"/>
                <a:ea typeface="Calibri" pitchFamily="34" charset="-122"/>
                <a:cs typeface="Calibri" pitchFamily="34" charset="-120"/>
              </a:rPr>
              <a:t>Après chaque convolution, on normalise les sorties sur le batch. L'entraînement est plus stable et plus rapide, avec un léger effet régularisant en bonus.</a:t>
            </a:r>
            <a:endParaRPr lang="en-US" sz="1400" dirty="0"/>
          </a:p>
        </p:txBody>
      </p:sp>
      <p:sp>
        <p:nvSpPr>
          <p:cNvPr id="16" name="Text 13"/>
          <p:cNvSpPr txBox="1"/>
          <p:nvPr/>
        </p:nvSpPr>
        <p:spPr>
          <a:xfrm>
            <a:off x="6629400" y="5257800"/>
            <a:ext cx="4709160" cy="731520"/>
          </a:xfrm>
          <a:prstGeom prst="rect">
            <a:avLst/>
          </a:prstGeom>
          <a:noFill/>
          <a:ln/>
        </p:spPr>
        <p:txBody>
          <a:bodyPr wrap="square" lIns="0" tIns="0" rIns="0" bIns="0" rtlCol="0" anchor="ctr"/>
          <a:lstStyle/>
          <a:p>
            <a:pPr indent="0" marL="0">
              <a:buNone/>
            </a:pPr>
            <a:r>
              <a:rPr lang="en-US" sz="1200" i="1" dirty="0">
                <a:solidFill>
                  <a:srgbClr val="3F4B44"/>
                </a:solidFill>
                <a:latin typeface="Calibri" pitchFamily="34" charset="0"/>
                <a:ea typeface="Calibri" pitchFamily="34" charset="-122"/>
                <a:cs typeface="Calibri" pitchFamily="34" charset="-120"/>
              </a:rPr>
              <a:t>Piège rencontré : avec le momentum par défaut (0,99) et seulement 16 batchs par epoch, les statistiques de test n'ont pas le temps de converger — la validation reste bloquée à 50 %. Corrigé avec momentum = 0,9.</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411480"/>
            <a:ext cx="566928" cy="566928"/>
          </a:xfrm>
          <a:prstGeom prst="ellipse">
            <a:avLst/>
          </a:prstGeom>
          <a:solidFill>
            <a:srgbClr val="B85042"/>
          </a:solidFill>
          <a:ln/>
        </p:spPr>
      </p:sp>
      <p:sp>
        <p:nvSpPr>
          <p:cNvPr id="3" name="Text 1"/>
          <p:cNvSpPr txBox="1"/>
          <p:nvPr/>
        </p:nvSpPr>
        <p:spPr>
          <a:xfrm>
            <a:off x="548640" y="4114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entury Schoolbook" pitchFamily="34" charset="0"/>
                <a:ea typeface="Century Schoolbook" pitchFamily="34" charset="-122"/>
                <a:cs typeface="Century Schoolbook" pitchFamily="34" charset="-120"/>
              </a:rPr>
              <a:t>8</a:t>
            </a:r>
            <a:endParaRPr lang="en-US" sz="2000" dirty="0"/>
          </a:p>
        </p:txBody>
      </p:sp>
      <p:sp>
        <p:nvSpPr>
          <p:cNvPr id="4" name="Text 2"/>
          <p:cNvSpPr txBox="1"/>
          <p:nvPr/>
        </p:nvSpPr>
        <p:spPr>
          <a:xfrm>
            <a:off x="1298448" y="384048"/>
            <a:ext cx="10241280" cy="640080"/>
          </a:xfrm>
          <a:prstGeom prst="rect">
            <a:avLst/>
          </a:prstGeom>
          <a:noFill/>
          <a:ln/>
        </p:spPr>
        <p:txBody>
          <a:bodyPr wrap="square" lIns="0" tIns="0" rIns="0" bIns="0" rtlCol="0" anchor="ctr"/>
          <a:lstStyle/>
          <a:p>
            <a:pPr indent="0" marL="0">
              <a:buNone/>
            </a:pPr>
            <a:r>
              <a:rPr lang="en-US" sz="3000" b="1" dirty="0">
                <a:solidFill>
                  <a:srgbClr val="2E2A27"/>
                </a:solidFill>
                <a:latin typeface="Century Schoolbook" pitchFamily="34" charset="0"/>
                <a:ea typeface="Century Schoolbook" pitchFamily="34" charset="-122"/>
                <a:cs typeface="Century Schoolbook" pitchFamily="34" charset="-120"/>
              </a:rPr>
              <a:t>Comparaison des trois modèles</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109960" cy="914400"/>
        </p:xfrm>
        <a:graphic>
          <a:graphicData uri="http://schemas.openxmlformats.org/drawingml/2006/table">
            <a:tbl>
              <a:tblPr/>
              <a:tblGrid>
                <a:gridCol w="2743200"/>
                <a:gridCol w="1600200"/>
                <a:gridCol w="1371600"/>
                <a:gridCol w="1645920"/>
                <a:gridCol w="3749040"/>
              </a:tblGrid>
              <a:tr h="41148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Modèle</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solidFill>
                      <a:srgbClr val="3B2A26"/>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Accuracy test</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solidFill>
                      <a:srgbClr val="3B2A26"/>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F1-score</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solidFill>
                      <a:srgbClr val="3B2A26"/>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Écart train / val</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solidFill>
                      <a:srgbClr val="3B2A26"/>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Ce qu'il apporte</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solidFill>
                      <a:srgbClr val="3B2A26"/>
                    </a:solidFill>
                  </a:tcPr>
                </a:tc>
              </a:tr>
              <a:tr h="411480">
                <a:tc>
                  <a:txBody>
                    <a:bodyPr/>
                    <a:lstStyle/>
                    <a:p>
                      <a:pPr indent="0" marL="0">
                        <a:buNone/>
                      </a:pPr>
                      <a:r>
                        <a:rPr lang="en-US" sz="1400" dirty="0">
                          <a:solidFill>
                            <a:srgbClr val="2E2A27"/>
                          </a:solidFill>
                          <a:latin typeface="Calibri" pitchFamily="34" charset="0"/>
                          <a:ea typeface="Calibri" pitchFamily="34" charset="-122"/>
                          <a:cs typeface="Calibri" pitchFamily="34" charset="-120"/>
                        </a:rPr>
                        <a:t>A — CNN simple</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solidFill>
                      <a:srgbClr val="FFFFFF"/>
                    </a:solidFill>
                  </a:tcPr>
                </a:tc>
                <a:tc>
                  <a:txBody>
                    <a:bodyPr/>
                    <a:lstStyle/>
                    <a:p>
                      <a:pPr indent="0" marL="0">
                        <a:buNone/>
                      </a:pPr>
                      <a:r>
                        <a:rPr lang="en-US" sz="1400" dirty="0">
                          <a:solidFill>
                            <a:srgbClr val="2E2A27"/>
                          </a:solidFill>
                          <a:latin typeface="Calibri" pitchFamily="34" charset="0"/>
                          <a:ea typeface="Calibri" pitchFamily="34" charset="-122"/>
                          <a:cs typeface="Calibri" pitchFamily="34" charset="-120"/>
                        </a:rPr>
                        <a:t>0,728</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solidFill>
                      <a:srgbClr val="FFFFFF"/>
                    </a:solidFill>
                  </a:tcPr>
                </a:tc>
                <a:tc>
                  <a:txBody>
                    <a:bodyPr/>
                    <a:lstStyle/>
                    <a:p>
                      <a:pPr indent="0" marL="0">
                        <a:buNone/>
                      </a:pPr>
                      <a:r>
                        <a:rPr lang="en-US" sz="1400" dirty="0">
                          <a:solidFill>
                            <a:srgbClr val="2E2A27"/>
                          </a:solidFill>
                          <a:latin typeface="Calibri" pitchFamily="34" charset="0"/>
                          <a:ea typeface="Calibri" pitchFamily="34" charset="-122"/>
                          <a:cs typeface="Calibri" pitchFamily="34" charset="-120"/>
                        </a:rPr>
                        <a:t>0,712</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solidFill>
                      <a:srgbClr val="FFFFFF"/>
                    </a:solidFill>
                  </a:tcPr>
                </a:tc>
                <a:tc>
                  <a:txBody>
                    <a:bodyPr/>
                    <a:lstStyle/>
                    <a:p>
                      <a:pPr indent="0" marL="0">
                        <a:buNone/>
                      </a:pPr>
                      <a:r>
                        <a:rPr lang="en-US" sz="1400" dirty="0">
                          <a:solidFill>
                            <a:srgbClr val="2E2A27"/>
                          </a:solidFill>
                          <a:latin typeface="Calibri" pitchFamily="34" charset="0"/>
                          <a:ea typeface="Calibri" pitchFamily="34" charset="-122"/>
                          <a:cs typeface="Calibri" pitchFamily="34" charset="-120"/>
                        </a:rPr>
                        <a:t>0,179</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solidFill>
                      <a:srgbClr val="FFFFFF"/>
                    </a:solidFill>
                  </a:tcPr>
                </a:tc>
                <a:tc>
                  <a:txBody>
                    <a:bodyPr/>
                    <a:lstStyle/>
                    <a:p>
                      <a:pPr indent="0" marL="0">
                        <a:buNone/>
                      </a:pPr>
                      <a:r>
                        <a:rPr lang="en-US" sz="1400" dirty="0">
                          <a:solidFill>
                            <a:srgbClr val="2E2A27"/>
                          </a:solidFill>
                          <a:latin typeface="Calibri" pitchFamily="34" charset="0"/>
                          <a:ea typeface="Calibri" pitchFamily="34" charset="-122"/>
                          <a:cs typeface="Calibri" pitchFamily="34" charset="-120"/>
                        </a:rPr>
                        <a:t>la base, mais il sur-apprend</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solidFill>
                      <a:srgbClr val="FFFFFF"/>
                    </a:solidFill>
                  </a:tcPr>
                </a:tc>
              </a:tr>
              <a:tr h="411480">
                <a:tc>
                  <a:txBody>
                    <a:bodyPr/>
                    <a:lstStyle/>
                    <a:p>
                      <a:pPr indent="0" marL="0">
                        <a:buNone/>
                      </a:pPr>
                      <a:r>
                        <a:rPr lang="en-US" sz="1400" dirty="0">
                          <a:solidFill>
                            <a:srgbClr val="2E2A27"/>
                          </a:solidFill>
                          <a:latin typeface="Calibri" pitchFamily="34" charset="0"/>
                          <a:ea typeface="Calibri" pitchFamily="34" charset="-122"/>
                          <a:cs typeface="Calibri" pitchFamily="34" charset="-120"/>
                        </a:rPr>
                        <a:t>B — data augmentation</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solidFill>
                      <a:srgbClr val="FFFFFF"/>
                    </a:solidFill>
                  </a:tcPr>
                </a:tc>
                <a:tc>
                  <a:txBody>
                    <a:bodyPr/>
                    <a:lstStyle/>
                    <a:p>
                      <a:pPr indent="0" marL="0">
                        <a:buNone/>
                      </a:pPr>
                      <a:r>
                        <a:rPr lang="en-US" sz="1400" dirty="0">
                          <a:solidFill>
                            <a:srgbClr val="2E2A27"/>
                          </a:solidFill>
                          <a:latin typeface="Calibri" pitchFamily="34" charset="0"/>
                          <a:ea typeface="Calibri" pitchFamily="34" charset="-122"/>
                          <a:cs typeface="Calibri" pitchFamily="34" charset="-120"/>
                        </a:rPr>
                        <a:t>0,750</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solidFill>
                      <a:srgbClr val="FFFFFF"/>
                    </a:solidFill>
                  </a:tcPr>
                </a:tc>
                <a:tc>
                  <a:txBody>
                    <a:bodyPr/>
                    <a:lstStyle/>
                    <a:p>
                      <a:pPr indent="0" marL="0">
                        <a:buNone/>
                      </a:pPr>
                      <a:r>
                        <a:rPr lang="en-US" sz="1400" dirty="0">
                          <a:solidFill>
                            <a:srgbClr val="2E2A27"/>
                          </a:solidFill>
                          <a:latin typeface="Calibri" pitchFamily="34" charset="0"/>
                          <a:ea typeface="Calibri" pitchFamily="34" charset="-122"/>
                          <a:cs typeface="Calibri" pitchFamily="34" charset="-120"/>
                        </a:rPr>
                        <a:t>0,789</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solidFill>
                      <a:srgbClr val="FFFFFF"/>
                    </a:solidFill>
                  </a:tcPr>
                </a:tc>
                <a:tc>
                  <a:txBody>
                    <a:bodyPr/>
                    <a:lstStyle/>
                    <a:p>
                      <a:pPr indent="0" marL="0">
                        <a:buNone/>
                      </a:pPr>
                      <a:r>
                        <a:rPr lang="en-US" sz="1400" dirty="0">
                          <a:solidFill>
                            <a:srgbClr val="2E2A27"/>
                          </a:solidFill>
                          <a:latin typeface="Calibri" pitchFamily="34" charset="0"/>
                          <a:ea typeface="Calibri" pitchFamily="34" charset="-122"/>
                          <a:cs typeface="Calibri" pitchFamily="34" charset="-120"/>
                        </a:rPr>
                        <a:t>0,009</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solidFill>
                      <a:srgbClr val="FFFFFF"/>
                    </a:solidFill>
                  </a:tcPr>
                </a:tc>
                <a:tc>
                  <a:txBody>
                    <a:bodyPr/>
                    <a:lstStyle/>
                    <a:p>
                      <a:pPr indent="0" marL="0">
                        <a:buNone/>
                      </a:pPr>
                      <a:r>
                        <a:rPr lang="en-US" sz="1400" dirty="0">
                          <a:solidFill>
                            <a:srgbClr val="2E2A27"/>
                          </a:solidFill>
                          <a:latin typeface="Calibri" pitchFamily="34" charset="0"/>
                          <a:ea typeface="Calibri" pitchFamily="34" charset="-122"/>
                          <a:cs typeface="Calibri" pitchFamily="34" charset="-120"/>
                        </a:rPr>
                        <a:t>supprime presque tout l'overfitting</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solidFill>
                      <a:srgbClr val="FFFFFF"/>
                    </a:solidFill>
                  </a:tcPr>
                </a:tc>
              </a:tr>
              <a:tr h="411480">
                <a:tc>
                  <a:txBody>
                    <a:bodyPr/>
                    <a:lstStyle/>
                    <a:p>
                      <a:pPr indent="0" marL="0">
                        <a:buNone/>
                      </a:pPr>
                      <a:r>
                        <a:rPr lang="en-US" sz="1400" b="1" dirty="0">
                          <a:solidFill>
                            <a:srgbClr val="B85042"/>
                          </a:solidFill>
                          <a:latin typeface="Calibri" pitchFamily="34" charset="0"/>
                          <a:ea typeface="Calibri" pitchFamily="34" charset="-122"/>
                          <a:cs typeface="Calibri" pitchFamily="34" charset="-120"/>
                        </a:rPr>
                        <a:t>C — dropout + batch norm</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solidFill>
                      <a:srgbClr val="E7E8D1"/>
                    </a:solidFill>
                  </a:tcPr>
                </a:tc>
                <a:tc>
                  <a:txBody>
                    <a:bodyPr/>
                    <a:lstStyle/>
                    <a:p>
                      <a:pPr indent="0" marL="0">
                        <a:buNone/>
                      </a:pPr>
                      <a:r>
                        <a:rPr lang="en-US" sz="1400" b="1" dirty="0">
                          <a:solidFill>
                            <a:srgbClr val="B85042"/>
                          </a:solidFill>
                          <a:latin typeface="Calibri" pitchFamily="34" charset="0"/>
                          <a:ea typeface="Calibri" pitchFamily="34" charset="-122"/>
                          <a:cs typeface="Calibri" pitchFamily="34" charset="-120"/>
                        </a:rPr>
                        <a:t>0,780</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solidFill>
                      <a:srgbClr val="E7E8D1"/>
                    </a:solidFill>
                  </a:tcPr>
                </a:tc>
                <a:tc>
                  <a:txBody>
                    <a:bodyPr/>
                    <a:lstStyle/>
                    <a:p>
                      <a:pPr indent="0" marL="0">
                        <a:buNone/>
                      </a:pPr>
                      <a:r>
                        <a:rPr lang="en-US" sz="1400" dirty="0">
                          <a:solidFill>
                            <a:srgbClr val="B85042"/>
                          </a:solidFill>
                          <a:latin typeface="Calibri" pitchFamily="34" charset="0"/>
                          <a:ea typeface="Calibri" pitchFamily="34" charset="-122"/>
                          <a:cs typeface="Calibri" pitchFamily="34" charset="-120"/>
                        </a:rPr>
                        <a:t>0,810</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solidFill>
                      <a:srgbClr val="E7E8D1"/>
                    </a:solidFill>
                  </a:tcPr>
                </a:tc>
                <a:tc>
                  <a:txBody>
                    <a:bodyPr/>
                    <a:lstStyle/>
                    <a:p>
                      <a:pPr indent="0" marL="0">
                        <a:buNone/>
                      </a:pPr>
                      <a:r>
                        <a:rPr lang="en-US" sz="1400" dirty="0">
                          <a:solidFill>
                            <a:srgbClr val="2E2A27"/>
                          </a:solidFill>
                          <a:latin typeface="Calibri" pitchFamily="34" charset="0"/>
                          <a:ea typeface="Calibri" pitchFamily="34" charset="-122"/>
                          <a:cs typeface="Calibri" pitchFamily="34" charset="-120"/>
                        </a:rPr>
                        <a:t>0,085</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solidFill>
                      <a:srgbClr val="E7E8D1"/>
                    </a:solidFill>
                  </a:tcPr>
                </a:tc>
                <a:tc>
                  <a:txBody>
                    <a:bodyPr/>
                    <a:lstStyle/>
                    <a:p>
                      <a:pPr indent="0" marL="0">
                        <a:buNone/>
                      </a:pPr>
                      <a:r>
                        <a:rPr lang="en-US" sz="1400" dirty="0">
                          <a:solidFill>
                            <a:srgbClr val="2E2A27"/>
                          </a:solidFill>
                          <a:latin typeface="Calibri" pitchFamily="34" charset="0"/>
                          <a:ea typeface="Calibri" pitchFamily="34" charset="-122"/>
                          <a:cs typeface="Calibri" pitchFamily="34" charset="-120"/>
                        </a:rPr>
                        <a:t>le meilleur compromis</a:t>
                      </a:r>
                      <a:endParaRPr lang="en-US" sz="1400" dirty="0">
                        <a:latin typeface="Calibri" charset="0"/>
                        <a:ea typeface="Calibri" charset="0"/>
                        <a:cs typeface="Calibri" charset="0"/>
                      </a:endParaRPr>
                    </a:p>
                  </a:txBody>
                  <a:tcPr marL="91440" marR="91440" marT="45720" marB="45720" anchor="ctr">
                    <a:lnL w="12700" cap="flat" cmpd="sng" algn="ctr">
                      <a:solidFill>
                        <a:srgbClr val="E2DDD6"/>
                      </a:solidFill>
                      <a:prstDash val="solid"/>
                      <a:round/>
                      <a:headEnd type="none" w="med" len="med"/>
                      <a:tailEnd type="none" w="med" len="med"/>
                    </a:lnL>
                    <a:lnR w="12700" cap="flat" cmpd="sng" algn="ctr">
                      <a:solidFill>
                        <a:srgbClr val="E2DDD6"/>
                      </a:solidFill>
                      <a:prstDash val="solid"/>
                      <a:round/>
                      <a:headEnd type="none" w="med" len="med"/>
                      <a:tailEnd type="none" w="med" len="med"/>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solidFill>
                      <a:srgbClr val="E7E8D1"/>
                    </a:solidFill>
                  </a:tcPr>
                </a:tc>
              </a:tr>
            </a:tbl>
          </a:graphicData>
        </a:graphic>
      </p:graphicFrame>
      <p:pic>
        <p:nvPicPr>
          <p:cNvPr id="6" name="Image 0" descr="/home/claude/projet/figures/fig_46_10.png">    </p:cNvPr>
          <p:cNvPicPr>
            <a:picLocks noChangeAspect="1"/>
          </p:cNvPicPr>
          <p:nvPr/>
        </p:nvPicPr>
        <p:blipFill>
          <a:blip r:embed="rId1"/>
          <a:stretch>
            <a:fillRect/>
          </a:stretch>
        </p:blipFill>
        <p:spPr>
          <a:xfrm>
            <a:off x="548640" y="3246120"/>
            <a:ext cx="6035040" cy="2596896"/>
          </a:xfrm>
          <a:prstGeom prst="rect">
            <a:avLst/>
          </a:prstGeom>
        </p:spPr>
      </p:pic>
      <p:sp>
        <p:nvSpPr>
          <p:cNvPr id="7" name="Shape 3"/>
          <p:cNvSpPr/>
          <p:nvPr/>
        </p:nvSpPr>
        <p:spPr>
          <a:xfrm>
            <a:off x="6858000" y="3246120"/>
            <a:ext cx="4800600" cy="2596896"/>
          </a:xfrm>
          <a:prstGeom prst="roundRect">
            <a:avLst>
              <a:gd name="adj" fmla="val 3169"/>
            </a:avLst>
          </a:prstGeom>
          <a:solidFill>
            <a:srgbClr val="3B2A26"/>
          </a:solidFill>
          <a:ln w="12700">
            <a:solidFill>
              <a:srgbClr val="3B2A26"/>
            </a:solidFill>
            <a:prstDash val="solid"/>
          </a:ln>
        </p:spPr>
      </p:sp>
      <p:sp>
        <p:nvSpPr>
          <p:cNvPr id="8" name="Text 4"/>
          <p:cNvSpPr txBox="1"/>
          <p:nvPr/>
        </p:nvSpPr>
        <p:spPr>
          <a:xfrm>
            <a:off x="7178040" y="3474720"/>
            <a:ext cx="4206240" cy="320040"/>
          </a:xfrm>
          <a:prstGeom prst="rect">
            <a:avLst/>
          </a:prstGeom>
          <a:noFill/>
          <a:ln/>
        </p:spPr>
        <p:txBody>
          <a:bodyPr wrap="square" lIns="0" tIns="0" rIns="0" bIns="0" rtlCol="0" anchor="ctr"/>
          <a:lstStyle/>
          <a:p>
            <a:pPr indent="0" marL="0">
              <a:buNone/>
            </a:pPr>
            <a:r>
              <a:rPr lang="en-US" sz="1900" b="1" dirty="0">
                <a:solidFill>
                  <a:srgbClr val="FFFFFF"/>
                </a:solidFill>
                <a:latin typeface="Century Schoolbook" pitchFamily="34" charset="0"/>
                <a:ea typeface="Century Schoolbook" pitchFamily="34" charset="-122"/>
                <a:cs typeface="Century Schoolbook" pitchFamily="34" charset="-120"/>
              </a:rPr>
              <a:t>Bonus : transfer learning</a:t>
            </a:r>
            <a:endParaRPr lang="en-US" sz="1900" dirty="0"/>
          </a:p>
        </p:txBody>
      </p:sp>
      <p:sp>
        <p:nvSpPr>
          <p:cNvPr id="9" name="Text 5"/>
          <p:cNvSpPr txBox="1"/>
          <p:nvPr/>
        </p:nvSpPr>
        <p:spPr>
          <a:xfrm>
            <a:off x="7178040" y="3931920"/>
            <a:ext cx="4206240" cy="1188720"/>
          </a:xfrm>
          <a:prstGeom prst="rect">
            <a:avLst/>
          </a:prstGeom>
          <a:noFill/>
          <a:ln/>
        </p:spPr>
        <p:txBody>
          <a:bodyPr wrap="square" lIns="0" tIns="0" rIns="0" bIns="0" rtlCol="0" anchor="ctr"/>
          <a:lstStyle/>
          <a:p>
            <a:pPr indent="0" marL="0">
              <a:buNone/>
            </a:pPr>
            <a:r>
              <a:rPr lang="en-US" sz="1400" dirty="0">
                <a:solidFill>
                  <a:srgbClr val="E7E8D1"/>
                </a:solidFill>
                <a:latin typeface="Calibri" pitchFamily="34" charset="0"/>
                <a:ea typeface="Calibri" pitchFamily="34" charset="-122"/>
                <a:cs typeface="Calibri" pitchFamily="34" charset="-120"/>
              </a:rPr>
              <a:t>On réutilise MobileNetV2, déjà entraîné sur 1,4 million d'images ImageNet. On gèle tout le réseau, on remplace juste la dernière couche, et on n'entraîne que celle-là.</a:t>
            </a:r>
            <a:endParaRPr lang="en-US" sz="1400" dirty="0"/>
          </a:p>
        </p:txBody>
      </p:sp>
      <p:sp>
        <p:nvSpPr>
          <p:cNvPr id="10" name="Text 6"/>
          <p:cNvSpPr txBox="1"/>
          <p:nvPr/>
        </p:nvSpPr>
        <p:spPr>
          <a:xfrm>
            <a:off x="7178040" y="5120640"/>
            <a:ext cx="4206240" cy="640080"/>
          </a:xfrm>
          <a:prstGeom prst="rect">
            <a:avLst/>
          </a:prstGeom>
          <a:noFill/>
          <a:ln/>
        </p:spPr>
        <p:txBody>
          <a:bodyPr wrap="square" lIns="0" tIns="0" rIns="0" bIns="0" rtlCol="0" anchor="ctr"/>
          <a:lstStyle/>
          <a:p>
            <a:pPr indent="0" marL="0">
              <a:buNone/>
            </a:pPr>
            <a:r>
              <a:rPr lang="en-US" sz="1500" b="1" dirty="0">
                <a:solidFill>
                  <a:srgbClr val="A7BEAE"/>
                </a:solidFill>
                <a:latin typeface="Calibri" pitchFamily="34" charset="0"/>
                <a:ea typeface="Calibri" pitchFamily="34" charset="-122"/>
                <a:cs typeface="Calibri" pitchFamily="34" charset="-120"/>
              </a:rPr>
              <a:t>~1300 paramètres à entraîner</a:t>
            </a:r>
            <a:endParaRPr lang="en-US" sz="1500" dirty="0"/>
          </a:p>
          <a:p>
            <a:pPr indent="0" marL="0">
              <a:buNone/>
            </a:pPr>
            <a:r>
              <a:rPr lang="en-US" sz="1500" b="1" dirty="0">
                <a:solidFill>
                  <a:srgbClr val="A7BEAE"/>
                </a:solidFill>
                <a:latin typeface="Calibri" pitchFamily="34" charset="0"/>
                <a:ea typeface="Calibri" pitchFamily="34" charset="-122"/>
                <a:cs typeface="Calibri" pitchFamily="34" charset="-120"/>
              </a:rPr>
              <a:t>au lieu d'un million.</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3B2A26"/>
        </a:solidFill>
      </p:bgPr>
    </p:bg>
    <p:spTree>
      <p:nvGrpSpPr>
        <p:cNvPr id="1" name=""/>
        <p:cNvGrpSpPr/>
        <p:nvPr/>
      </p:nvGrpSpPr>
      <p:grpSpPr>
        <a:xfrm>
          <a:off x="0" y="0"/>
          <a:ext cx="0" cy="0"/>
          <a:chOff x="0" y="0"/>
          <a:chExt cx="0" cy="0"/>
        </a:xfrm>
      </p:grpSpPr>
      <p:sp>
        <p:nvSpPr>
          <p:cNvPr id="2" name="Shape 0"/>
          <p:cNvSpPr/>
          <p:nvPr/>
        </p:nvSpPr>
        <p:spPr>
          <a:xfrm>
            <a:off x="10058400" y="4480560"/>
            <a:ext cx="3474720" cy="3474720"/>
          </a:xfrm>
          <a:prstGeom prst="ellipse">
            <a:avLst/>
          </a:prstGeom>
          <a:solidFill>
            <a:srgbClr val="B85042">
              <a:alpha val="40000"/>
            </a:srgbClr>
          </a:solidFill>
          <a:ln/>
        </p:spPr>
      </p:sp>
      <p:sp>
        <p:nvSpPr>
          <p:cNvPr id="3" name="Text 1"/>
          <p:cNvSpPr txBox="1"/>
          <p:nvPr/>
        </p:nvSpPr>
        <p:spPr>
          <a:xfrm>
            <a:off x="822960" y="685800"/>
            <a:ext cx="10515600" cy="731520"/>
          </a:xfrm>
          <a:prstGeom prst="rect">
            <a:avLst/>
          </a:prstGeom>
          <a:noFill/>
          <a:ln/>
        </p:spPr>
        <p:txBody>
          <a:bodyPr wrap="square" lIns="0" tIns="0" rIns="0" bIns="0" rtlCol="0" anchor="ctr"/>
          <a:lstStyle/>
          <a:p>
            <a:pPr indent="0" marL="0">
              <a:buNone/>
            </a:pPr>
            <a:r>
              <a:rPr lang="en-US" sz="3600" b="1" dirty="0">
                <a:solidFill>
                  <a:srgbClr val="FFFFFF"/>
                </a:solidFill>
                <a:latin typeface="Century Schoolbook" pitchFamily="34" charset="0"/>
                <a:ea typeface="Century Schoolbook" pitchFamily="34" charset="-122"/>
                <a:cs typeface="Century Schoolbook" pitchFamily="34" charset="-120"/>
              </a:rPr>
              <a:t>Ce que je retiens</a:t>
            </a:r>
            <a:endParaRPr lang="en-US" sz="3600" dirty="0"/>
          </a:p>
        </p:txBody>
      </p:sp>
      <p:sp>
        <p:nvSpPr>
          <p:cNvPr id="4" name="Shape 2"/>
          <p:cNvSpPr/>
          <p:nvPr/>
        </p:nvSpPr>
        <p:spPr>
          <a:xfrm>
            <a:off x="822960" y="1691640"/>
            <a:ext cx="566928" cy="566928"/>
          </a:xfrm>
          <a:prstGeom prst="ellipse">
            <a:avLst/>
          </a:prstGeom>
          <a:solidFill>
            <a:srgbClr val="B85042"/>
          </a:solidFill>
          <a:ln/>
        </p:spPr>
      </p:sp>
      <p:sp>
        <p:nvSpPr>
          <p:cNvPr id="5" name="Text 3"/>
          <p:cNvSpPr txBox="1"/>
          <p:nvPr/>
        </p:nvSpPr>
        <p:spPr>
          <a:xfrm>
            <a:off x="822960" y="1691640"/>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Century Schoolbook" pitchFamily="34" charset="0"/>
                <a:ea typeface="Century Schoolbook" pitchFamily="34" charset="-122"/>
                <a:cs typeface="Century Schoolbook" pitchFamily="34" charset="-120"/>
              </a:rPr>
              <a:t>1</a:t>
            </a:r>
            <a:endParaRPr lang="en-US" sz="1900" dirty="0"/>
          </a:p>
        </p:txBody>
      </p:sp>
      <p:sp>
        <p:nvSpPr>
          <p:cNvPr id="6" name="Text 4"/>
          <p:cNvSpPr txBox="1"/>
          <p:nvPr/>
        </p:nvSpPr>
        <p:spPr>
          <a:xfrm>
            <a:off x="1600200" y="1709928"/>
            <a:ext cx="9692640" cy="320040"/>
          </a:xfrm>
          <a:prstGeom prst="rect">
            <a:avLst/>
          </a:prstGeom>
          <a:noFill/>
          <a:ln/>
        </p:spPr>
        <p:txBody>
          <a:bodyPr wrap="square" lIns="0" tIns="0" rIns="0" bIns="0" rtlCol="0" anchor="ctr"/>
          <a:lstStyle/>
          <a:p>
            <a:pPr indent="0" marL="0">
              <a:buNone/>
            </a:pPr>
            <a:r>
              <a:rPr lang="en-US" sz="1900" b="1" dirty="0">
                <a:solidFill>
                  <a:srgbClr val="FFFFFF"/>
                </a:solidFill>
                <a:latin typeface="Century Schoolbook" pitchFamily="34" charset="0"/>
                <a:ea typeface="Century Schoolbook" pitchFamily="34" charset="-122"/>
                <a:cs typeface="Century Schoolbook" pitchFamily="34" charset="-120"/>
              </a:rPr>
              <a:t>Le vrai problème, c'est le manque de données</a:t>
            </a:r>
            <a:endParaRPr lang="en-US" sz="1900" dirty="0"/>
          </a:p>
        </p:txBody>
      </p:sp>
      <p:sp>
        <p:nvSpPr>
          <p:cNvPr id="7" name="Text 5"/>
          <p:cNvSpPr txBox="1"/>
          <p:nvPr/>
        </p:nvSpPr>
        <p:spPr>
          <a:xfrm>
            <a:off x="1600200" y="2075688"/>
            <a:ext cx="9692640" cy="640080"/>
          </a:xfrm>
          <a:prstGeom prst="rect">
            <a:avLst/>
          </a:prstGeom>
          <a:noFill/>
          <a:ln/>
        </p:spPr>
        <p:txBody>
          <a:bodyPr wrap="square" lIns="0" tIns="0" rIns="0" bIns="0" rtlCol="0" anchor="ctr"/>
          <a:lstStyle/>
          <a:p>
            <a:pPr indent="0" marL="0">
              <a:buNone/>
            </a:pPr>
            <a:r>
              <a:rPr lang="en-US" sz="1450" dirty="0">
                <a:solidFill>
                  <a:srgbClr val="E7E8D1"/>
                </a:solidFill>
                <a:latin typeface="Calibri" pitchFamily="34" charset="0"/>
                <a:ea typeface="Calibri" pitchFamily="34" charset="-122"/>
                <a:cs typeface="Calibri" pitchFamily="34" charset="-120"/>
              </a:rPr>
              <a:t>1600 images pour des photos naturelles aussi variées, c'est très peu. L'architecture n'était pas le facteur limitant.</a:t>
            </a:r>
            <a:endParaRPr lang="en-US" sz="1450" dirty="0"/>
          </a:p>
        </p:txBody>
      </p:sp>
      <p:sp>
        <p:nvSpPr>
          <p:cNvPr id="8" name="Shape 6"/>
          <p:cNvSpPr/>
          <p:nvPr/>
        </p:nvSpPr>
        <p:spPr>
          <a:xfrm>
            <a:off x="822960" y="2926080"/>
            <a:ext cx="566928" cy="566928"/>
          </a:xfrm>
          <a:prstGeom prst="ellipse">
            <a:avLst/>
          </a:prstGeom>
          <a:solidFill>
            <a:srgbClr val="B85042"/>
          </a:solidFill>
          <a:ln/>
        </p:spPr>
      </p:sp>
      <p:sp>
        <p:nvSpPr>
          <p:cNvPr id="9" name="Text 7"/>
          <p:cNvSpPr txBox="1"/>
          <p:nvPr/>
        </p:nvSpPr>
        <p:spPr>
          <a:xfrm>
            <a:off x="822960" y="2926080"/>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Century Schoolbook" pitchFamily="34" charset="0"/>
                <a:ea typeface="Century Schoolbook" pitchFamily="34" charset="-122"/>
                <a:cs typeface="Century Schoolbook" pitchFamily="34" charset="-120"/>
              </a:rPr>
              <a:t>2</a:t>
            </a:r>
            <a:endParaRPr lang="en-US" sz="1900" dirty="0"/>
          </a:p>
        </p:txBody>
      </p:sp>
      <p:sp>
        <p:nvSpPr>
          <p:cNvPr id="10" name="Text 8"/>
          <p:cNvSpPr txBox="1"/>
          <p:nvPr/>
        </p:nvSpPr>
        <p:spPr>
          <a:xfrm>
            <a:off x="1600200" y="2944368"/>
            <a:ext cx="9692640" cy="320040"/>
          </a:xfrm>
          <a:prstGeom prst="rect">
            <a:avLst/>
          </a:prstGeom>
          <a:noFill/>
          <a:ln/>
        </p:spPr>
        <p:txBody>
          <a:bodyPr wrap="square" lIns="0" tIns="0" rIns="0" bIns="0" rtlCol="0" anchor="ctr"/>
          <a:lstStyle/>
          <a:p>
            <a:pPr indent="0" marL="0">
              <a:buNone/>
            </a:pPr>
            <a:r>
              <a:rPr lang="en-US" sz="1900" b="1" dirty="0">
                <a:solidFill>
                  <a:srgbClr val="FFFFFF"/>
                </a:solidFill>
                <a:latin typeface="Century Schoolbook" pitchFamily="34" charset="0"/>
                <a:ea typeface="Century Schoolbook" pitchFamily="34" charset="-122"/>
                <a:cs typeface="Century Schoolbook" pitchFamily="34" charset="-120"/>
              </a:rPr>
              <a:t>La régularisation ne rend pas le modèle plus intelligent</a:t>
            </a:r>
            <a:endParaRPr lang="en-US" sz="1900" dirty="0"/>
          </a:p>
        </p:txBody>
      </p:sp>
      <p:sp>
        <p:nvSpPr>
          <p:cNvPr id="11" name="Text 9"/>
          <p:cNvSpPr txBox="1"/>
          <p:nvPr/>
        </p:nvSpPr>
        <p:spPr>
          <a:xfrm>
            <a:off x="1600200" y="3310128"/>
            <a:ext cx="9692640" cy="640080"/>
          </a:xfrm>
          <a:prstGeom prst="rect">
            <a:avLst/>
          </a:prstGeom>
          <a:noFill/>
          <a:ln/>
        </p:spPr>
        <p:txBody>
          <a:bodyPr wrap="square" lIns="0" tIns="0" rIns="0" bIns="0" rtlCol="0" anchor="ctr"/>
          <a:lstStyle/>
          <a:p>
            <a:pPr indent="0" marL="0">
              <a:buNone/>
            </a:pPr>
            <a:r>
              <a:rPr lang="en-US" sz="1450" dirty="0">
                <a:solidFill>
                  <a:srgbClr val="E7E8D1"/>
                </a:solidFill>
                <a:latin typeface="Calibri" pitchFamily="34" charset="0"/>
                <a:ea typeface="Calibri" pitchFamily="34" charset="-122"/>
                <a:cs typeface="Calibri" pitchFamily="34" charset="-120"/>
              </a:rPr>
              <a:t>elle l'empêche simplement de tricher en mémorisant. C'est ce qui fait passer l'écart de 0,18 à 0,01.</a:t>
            </a:r>
            <a:endParaRPr lang="en-US" sz="1450" dirty="0"/>
          </a:p>
        </p:txBody>
      </p:sp>
      <p:sp>
        <p:nvSpPr>
          <p:cNvPr id="12" name="Shape 10"/>
          <p:cNvSpPr/>
          <p:nvPr/>
        </p:nvSpPr>
        <p:spPr>
          <a:xfrm>
            <a:off x="822960" y="4160520"/>
            <a:ext cx="566928" cy="566928"/>
          </a:xfrm>
          <a:prstGeom prst="ellipse">
            <a:avLst/>
          </a:prstGeom>
          <a:solidFill>
            <a:srgbClr val="B85042"/>
          </a:solidFill>
          <a:ln/>
        </p:spPr>
      </p:sp>
      <p:sp>
        <p:nvSpPr>
          <p:cNvPr id="13" name="Text 11"/>
          <p:cNvSpPr txBox="1"/>
          <p:nvPr/>
        </p:nvSpPr>
        <p:spPr>
          <a:xfrm>
            <a:off x="822960" y="4160520"/>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Century Schoolbook" pitchFamily="34" charset="0"/>
                <a:ea typeface="Century Schoolbook" pitchFamily="34" charset="-122"/>
                <a:cs typeface="Century Schoolbook" pitchFamily="34" charset="-120"/>
              </a:rPr>
              <a:t>3</a:t>
            </a:r>
            <a:endParaRPr lang="en-US" sz="1900" dirty="0"/>
          </a:p>
        </p:txBody>
      </p:sp>
      <p:sp>
        <p:nvSpPr>
          <p:cNvPr id="14" name="Text 12"/>
          <p:cNvSpPr txBox="1"/>
          <p:nvPr/>
        </p:nvSpPr>
        <p:spPr>
          <a:xfrm>
            <a:off x="1600200" y="4178808"/>
            <a:ext cx="9692640" cy="320040"/>
          </a:xfrm>
          <a:prstGeom prst="rect">
            <a:avLst/>
          </a:prstGeom>
          <a:noFill/>
          <a:ln/>
        </p:spPr>
        <p:txBody>
          <a:bodyPr wrap="square" lIns="0" tIns="0" rIns="0" bIns="0" rtlCol="0" anchor="ctr"/>
          <a:lstStyle/>
          <a:p>
            <a:pPr indent="0" marL="0">
              <a:buNone/>
            </a:pPr>
            <a:r>
              <a:rPr lang="en-US" sz="1900" b="1" dirty="0">
                <a:solidFill>
                  <a:srgbClr val="FFFFFF"/>
                </a:solidFill>
                <a:latin typeface="Century Schoolbook" pitchFamily="34" charset="0"/>
                <a:ea typeface="Century Schoolbook" pitchFamily="34" charset="-122"/>
                <a:cs typeface="Century Schoolbook" pitchFamily="34" charset="-120"/>
              </a:rPr>
              <a:t>Il faut regarder les courbes, pas juste le chiffre final</a:t>
            </a:r>
            <a:endParaRPr lang="en-US" sz="1900" dirty="0"/>
          </a:p>
        </p:txBody>
      </p:sp>
      <p:sp>
        <p:nvSpPr>
          <p:cNvPr id="15" name="Text 13"/>
          <p:cNvSpPr txBox="1"/>
          <p:nvPr/>
        </p:nvSpPr>
        <p:spPr>
          <a:xfrm>
            <a:off x="1600200" y="4544568"/>
            <a:ext cx="9692640" cy="640080"/>
          </a:xfrm>
          <a:prstGeom prst="rect">
            <a:avLst/>
          </a:prstGeom>
          <a:noFill/>
          <a:ln/>
        </p:spPr>
        <p:txBody>
          <a:bodyPr wrap="square" lIns="0" tIns="0" rIns="0" bIns="0" rtlCol="0" anchor="ctr"/>
          <a:lstStyle/>
          <a:p>
            <a:pPr indent="0" marL="0">
              <a:buNone/>
            </a:pPr>
            <a:r>
              <a:rPr lang="en-US" sz="1450" dirty="0">
                <a:solidFill>
                  <a:srgbClr val="E7E8D1"/>
                </a:solidFill>
                <a:latin typeface="Calibri" pitchFamily="34" charset="0"/>
                <a:ea typeface="Calibri" pitchFamily="34" charset="-122"/>
                <a:cs typeface="Calibri" pitchFamily="34" charset="-120"/>
              </a:rPr>
              <a:t>un détail comme le momentum de la batch norm bloquait la validation à 50 % sans rien casser d'autre.</a:t>
            </a:r>
            <a:endParaRPr lang="en-US" sz="1450" dirty="0"/>
          </a:p>
        </p:txBody>
      </p:sp>
      <p:sp>
        <p:nvSpPr>
          <p:cNvPr id="16" name="Text 14"/>
          <p:cNvSpPr txBox="1"/>
          <p:nvPr/>
        </p:nvSpPr>
        <p:spPr>
          <a:xfrm>
            <a:off x="822960" y="5623560"/>
            <a:ext cx="10515600" cy="457200"/>
          </a:xfrm>
          <a:prstGeom prst="rect">
            <a:avLst/>
          </a:prstGeom>
          <a:noFill/>
          <a:ln/>
        </p:spPr>
        <p:txBody>
          <a:bodyPr wrap="square" lIns="0" tIns="0" rIns="0" bIns="0" rtlCol="0" anchor="ctr"/>
          <a:lstStyle/>
          <a:p>
            <a:pPr indent="0" marL="0">
              <a:buNone/>
            </a:pPr>
            <a:r>
              <a:rPr lang="en-US" sz="1400" i="1" dirty="0">
                <a:solidFill>
                  <a:srgbClr val="A7BEAE"/>
                </a:solidFill>
                <a:latin typeface="Calibri" pitchFamily="34" charset="0"/>
                <a:ea typeface="Calibri" pitchFamily="34" charset="-122"/>
                <a:cs typeface="Calibri" pitchFamily="34" charset="-120"/>
              </a:rPr>
              <a:t>Pistes suivantes : combiner les deux techniques  ·  fine-tuner MobileNetV2  ·  EarlyStopping  ·  passer aux 25 000 images du dataset complet</a:t>
            </a:r>
            <a:endParaRPr lang="en-US" sz="1400" dirty="0"/>
          </a:p>
        </p:txBody>
      </p:sp>
      <p:sp>
        <p:nvSpPr>
          <p:cNvPr id="17" name="Text 15"/>
          <p:cNvSpPr txBox="1"/>
          <p:nvPr/>
        </p:nvSpPr>
        <p:spPr>
          <a:xfrm>
            <a:off x="822960" y="6172200"/>
            <a:ext cx="10515600" cy="411480"/>
          </a:xfrm>
          <a:prstGeom prst="rect">
            <a:avLst/>
          </a:prstGeom>
          <a:noFill/>
          <a:ln/>
        </p:spPr>
        <p:txBody>
          <a:bodyPr wrap="square" lIns="0" tIns="0" rIns="0" bIns="0" rtlCol="0" anchor="ctr"/>
          <a:lstStyle/>
          <a:p>
            <a:pPr indent="0" marL="0">
              <a:buNone/>
            </a:pPr>
            <a:r>
              <a:rPr lang="en-US" sz="1700" b="1" dirty="0">
                <a:solidFill>
                  <a:srgbClr val="FFFFFF"/>
                </a:solidFill>
                <a:latin typeface="Century Schoolbook" pitchFamily="34" charset="0"/>
                <a:ea typeface="Century Schoolbook" pitchFamily="34" charset="-122"/>
                <a:cs typeface="Century Schoolbook" pitchFamily="34" charset="-120"/>
              </a:rPr>
              <a:t>Merci — des questions ?</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2026-09-08T13:06:50Z</dcterms:created>
  <dcterms:modified xsi:type="dcterms:W3CDTF">2026-09-08T13:06:50Z</dcterms:modified>
</cp:coreProperties>
</file>